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 Slab"/>
      <p:regular r:id="rId15"/>
      <p:bold r:id="rId16"/>
    </p:embeddedFont>
    <p:embeddedFont>
      <p:font typeface="Roboto"/>
      <p:regular r:id="rId17"/>
      <p:bold r:id="rId18"/>
      <p:italic r:id="rId19"/>
      <p:boldItalic r:id="rId20"/>
    </p:embeddedFont>
    <p:embeddedFont>
      <p:font typeface="Bungee Shade"/>
      <p:regular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2" roundtripDataSignature="AMtx7mh7s6OFWUiqHXgxaieogC+lKysN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BungeeShade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Slab-regular.fntdata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font" Target="fonts/RobotoSlab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italic.fntdata"/><Relationship Id="rId6" Type="http://schemas.openxmlformats.org/officeDocument/2006/relationships/slide" Target="slides/slide1.xml"/><Relationship Id="rId18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3e9bf8925e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33e9bf8925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3e9bf8925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3e9bf8925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5200"/>
              <a:buNone/>
              <a:defRPr sz="5200">
                <a:solidFill>
                  <a:srgbClr val="0B539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800"/>
              <a:buNone/>
              <a:defRPr sz="2800">
                <a:solidFill>
                  <a:srgbClr val="1C4587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85138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title"/>
          </p:nvPr>
        </p:nvSpPr>
        <p:spPr>
          <a:xfrm>
            <a:off x="683900" y="445025"/>
            <a:ext cx="8148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p11"/>
          <p:cNvSpPr txBox="1"/>
          <p:nvPr>
            <p:ph idx="12" type="sldNum"/>
          </p:nvPr>
        </p:nvSpPr>
        <p:spPr>
          <a:xfrm>
            <a:off x="85138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9" name="Google Shape;19;p11"/>
          <p:cNvSpPr/>
          <p:nvPr/>
        </p:nvSpPr>
        <p:spPr>
          <a:xfrm>
            <a:off x="85500" y="534575"/>
            <a:ext cx="548700" cy="393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" name="Google Shape;22;p12"/>
          <p:cNvSpPr txBox="1"/>
          <p:nvPr>
            <p:ph idx="12" type="sldNum"/>
          </p:nvPr>
        </p:nvSpPr>
        <p:spPr>
          <a:xfrm>
            <a:off x="85138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1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13"/>
          <p:cNvSpPr txBox="1"/>
          <p:nvPr>
            <p:ph idx="12" type="sldNum"/>
          </p:nvPr>
        </p:nvSpPr>
        <p:spPr>
          <a:xfrm>
            <a:off x="85138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14"/>
          <p:cNvSpPr txBox="1"/>
          <p:nvPr>
            <p:ph idx="12" type="sldNum"/>
          </p:nvPr>
        </p:nvSpPr>
        <p:spPr>
          <a:xfrm>
            <a:off x="85138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1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15"/>
          <p:cNvSpPr txBox="1"/>
          <p:nvPr>
            <p:ph idx="12" type="sldNum"/>
          </p:nvPr>
        </p:nvSpPr>
        <p:spPr>
          <a:xfrm>
            <a:off x="85138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16"/>
          <p:cNvSpPr txBox="1"/>
          <p:nvPr>
            <p:ph idx="12" type="sldNum"/>
          </p:nvPr>
        </p:nvSpPr>
        <p:spPr>
          <a:xfrm>
            <a:off x="85138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" name="Google Shape;41;p1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1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2" type="sldNum"/>
          </p:nvPr>
        </p:nvSpPr>
        <p:spPr>
          <a:xfrm>
            <a:off x="85138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6" name="Google Shape;46;p18"/>
          <p:cNvSpPr txBox="1"/>
          <p:nvPr>
            <p:ph idx="12" type="sldNum"/>
          </p:nvPr>
        </p:nvSpPr>
        <p:spPr>
          <a:xfrm>
            <a:off x="85138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1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p19"/>
          <p:cNvSpPr txBox="1"/>
          <p:nvPr>
            <p:ph idx="12" type="sldNum"/>
          </p:nvPr>
        </p:nvSpPr>
        <p:spPr>
          <a:xfrm>
            <a:off x="85138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0"/>
          <p:cNvSpPr txBox="1"/>
          <p:nvPr>
            <p:ph idx="12" type="sldNum"/>
          </p:nvPr>
        </p:nvSpPr>
        <p:spPr>
          <a:xfrm>
            <a:off x="85138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b="0" i="0" sz="28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b="0" i="0" sz="28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b="0" i="0" sz="28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b="0" i="0" sz="28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b="0" i="0" sz="28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b="0" i="0" sz="28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b="0" i="0" sz="28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b="0" i="0" sz="28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b="0" i="0" sz="28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Slab"/>
              <a:buChar char="●"/>
              <a:defRPr b="0" i="0" sz="1800" u="none" cap="none" strike="noStrik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indent="-31750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○"/>
              <a:defRPr b="0" i="0" sz="1400" u="none" cap="none" strike="noStrik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indent="-317500" lvl="2" marL="13716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■"/>
              <a:defRPr b="0" i="0" sz="1400" u="none" cap="none" strike="noStrik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indent="-317500" lvl="3" marL="18288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●"/>
              <a:defRPr b="0" i="0" sz="1400" u="none" cap="none" strike="noStrik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indent="-317500" lvl="4" marL="22860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○"/>
              <a:defRPr b="0" i="0" sz="1400" u="none" cap="none" strike="noStrik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indent="-317500" lvl="5" marL="2743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■"/>
              <a:defRPr b="0" i="0" sz="1400" u="none" cap="none" strike="noStrik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indent="-317500" lvl="6" marL="3200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●"/>
              <a:defRPr b="0" i="0" sz="1400" u="none" cap="none" strike="noStrik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indent="-317500" lvl="7" marL="36576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○"/>
              <a:defRPr b="0" i="0" sz="1400" u="none" cap="none" strike="noStrik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indent="-317500" lvl="8" marL="41148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■"/>
              <a:defRPr b="0" i="0" sz="1400" u="none" cap="none" strike="noStrik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pic>
        <p:nvPicPr>
          <p:cNvPr id="8" name="Google Shape;8;p9"/>
          <p:cNvPicPr preferRelativeResize="0"/>
          <p:nvPr/>
        </p:nvPicPr>
        <p:blipFill rotWithShape="1">
          <a:blip r:embed="rId1">
            <a:alphaModFix amt="63000"/>
          </a:blip>
          <a:srcRect b="0" l="0" r="0" t="0"/>
          <a:stretch/>
        </p:blipFill>
        <p:spPr>
          <a:xfrm>
            <a:off x="0" y="-47075"/>
            <a:ext cx="151148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9"/>
          <p:cNvPicPr preferRelativeResize="0"/>
          <p:nvPr/>
        </p:nvPicPr>
        <p:blipFill rotWithShape="1">
          <a:blip r:embed="rId2">
            <a:alphaModFix amt="63000"/>
          </a:blip>
          <a:srcRect b="0" l="0" r="0" t="0"/>
          <a:stretch/>
        </p:blipFill>
        <p:spPr>
          <a:xfrm>
            <a:off x="8432337" y="-12"/>
            <a:ext cx="711675" cy="71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5138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"/>
          <p:cNvSpPr txBox="1"/>
          <p:nvPr>
            <p:ph type="ctrTitle"/>
          </p:nvPr>
        </p:nvSpPr>
        <p:spPr>
          <a:xfrm>
            <a:off x="311704" y="744575"/>
            <a:ext cx="40167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s"/>
              <a:t>Mecatrónica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08000"/>
              <a:buNone/>
            </a:pPr>
            <a:r>
              <a:rPr lang="es" sz="2500"/>
              <a:t>ME-4250</a:t>
            </a:r>
            <a:endParaRPr sz="2500"/>
          </a:p>
        </p:txBody>
      </p:sp>
      <p:sp>
        <p:nvSpPr>
          <p:cNvPr id="58" name="Google Shape;58;p1"/>
          <p:cNvSpPr txBox="1"/>
          <p:nvPr>
            <p:ph idx="12" type="sldNum"/>
          </p:nvPr>
        </p:nvSpPr>
        <p:spPr>
          <a:xfrm>
            <a:off x="85138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59" name="Google Shape;59;p1"/>
          <p:cNvSpPr txBox="1"/>
          <p:nvPr/>
        </p:nvSpPr>
        <p:spPr>
          <a:xfrm>
            <a:off x="864300" y="4415625"/>
            <a:ext cx="2466300" cy="6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Harold Valenzuela Coloma</a:t>
            </a:r>
            <a:endParaRPr b="0" i="0" sz="1400" u="none" cap="none" strike="noStrike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60" name="Google Shape;60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979" y="372325"/>
            <a:ext cx="4398826" cy="43988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Contenido del curso </a:t>
            </a:r>
            <a:endParaRPr/>
          </a:p>
          <a:p>
            <a:pPr indent="-3175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Calendario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Grupos 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Evaluaciones </a:t>
            </a:r>
            <a:endParaRPr/>
          </a:p>
          <a:p>
            <a:pPr indent="-3175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Desafios Presentaciones y Proyecto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Proyecto </a:t>
            </a:r>
            <a:endParaRPr/>
          </a:p>
          <a:p>
            <a:pPr indent="-3175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Posters y Presentación </a:t>
            </a:r>
            <a:endParaRPr/>
          </a:p>
          <a:p>
            <a:pPr indent="0" lvl="0" marL="9144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 txBox="1"/>
          <p:nvPr>
            <p:ph type="title"/>
          </p:nvPr>
        </p:nvSpPr>
        <p:spPr>
          <a:xfrm>
            <a:off x="683900" y="445025"/>
            <a:ext cx="8148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Índice</a:t>
            </a:r>
            <a:endParaRPr/>
          </a:p>
        </p:txBody>
      </p:sp>
      <p:sp>
        <p:nvSpPr>
          <p:cNvPr id="67" name="Google Shape;67;p2"/>
          <p:cNvSpPr txBox="1"/>
          <p:nvPr>
            <p:ph idx="12" type="sldNum"/>
          </p:nvPr>
        </p:nvSpPr>
        <p:spPr>
          <a:xfrm>
            <a:off x="85138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68" name="Google Shape;68;p2"/>
          <p:cNvPicPr preferRelativeResize="0"/>
          <p:nvPr/>
        </p:nvPicPr>
        <p:blipFill rotWithShape="1">
          <a:blip r:embed="rId3">
            <a:alphaModFix/>
          </a:blip>
          <a:srcRect b="32700" l="0" r="29152" t="0"/>
          <a:stretch/>
        </p:blipFill>
        <p:spPr>
          <a:xfrm>
            <a:off x="4572000" y="1059357"/>
            <a:ext cx="4611825" cy="40841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"/>
          <p:cNvSpPr txBox="1"/>
          <p:nvPr>
            <p:ph idx="12" type="sldNum"/>
          </p:nvPr>
        </p:nvSpPr>
        <p:spPr>
          <a:xfrm>
            <a:off x="85138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4" name="Google Shape;74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8900" y="120650"/>
            <a:ext cx="6286200" cy="4902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"/>
          <p:cNvSpPr txBox="1"/>
          <p:nvPr>
            <p:ph type="title"/>
          </p:nvPr>
        </p:nvSpPr>
        <p:spPr>
          <a:xfrm>
            <a:off x="683900" y="445025"/>
            <a:ext cx="8148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Calificaciones</a:t>
            </a:r>
            <a:endParaRPr/>
          </a:p>
        </p:txBody>
      </p:sp>
      <p:sp>
        <p:nvSpPr>
          <p:cNvPr id="80" name="Google Shape;8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Char char="●"/>
            </a:pPr>
            <a:r>
              <a:rPr lang="es">
                <a:solidFill>
                  <a:srgbClr val="0000FF"/>
                </a:solidFill>
              </a:rPr>
              <a:t>Desafios</a:t>
            </a:r>
            <a:endParaRPr>
              <a:solidFill>
                <a:srgbClr val="0000FF"/>
              </a:solidFill>
            </a:endParaRPr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s">
                <a:solidFill>
                  <a:schemeClr val="accent1"/>
                </a:solidFill>
              </a:rPr>
              <a:t>Co-evaluación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s">
                <a:solidFill>
                  <a:schemeClr val="accent1"/>
                </a:solidFill>
              </a:rPr>
              <a:t>Entregables</a:t>
            </a:r>
            <a:endParaRPr>
              <a:solidFill>
                <a:schemeClr val="accent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Char char="●"/>
            </a:pPr>
            <a:r>
              <a:rPr lang="es">
                <a:solidFill>
                  <a:srgbClr val="6AA84F"/>
                </a:solidFill>
              </a:rPr>
              <a:t>Presentaciones</a:t>
            </a:r>
            <a:endParaRPr>
              <a:solidFill>
                <a:srgbClr val="6AA84F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●"/>
            </a:pPr>
            <a:r>
              <a:rPr lang="es">
                <a:solidFill>
                  <a:srgbClr val="FF0000"/>
                </a:solidFill>
              </a:rPr>
              <a:t>Proyecto Final 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Char char="○"/>
            </a:pPr>
            <a:r>
              <a:rPr lang="es">
                <a:solidFill>
                  <a:srgbClr val="CC0000"/>
                </a:solidFill>
              </a:rPr>
              <a:t>Entregables</a:t>
            </a:r>
            <a:endParaRPr>
              <a:solidFill>
                <a:srgbClr val="CC0000"/>
              </a:solidFill>
            </a:endParaRPr>
          </a:p>
          <a:p>
            <a:pPr indent="-3175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400"/>
              <a:buChar char="○"/>
            </a:pPr>
            <a:r>
              <a:rPr lang="es">
                <a:solidFill>
                  <a:srgbClr val="38761D"/>
                </a:solidFill>
              </a:rPr>
              <a:t>Co-evaluación</a:t>
            </a:r>
            <a:endParaRPr>
              <a:solidFill>
                <a:srgbClr val="38761D"/>
              </a:solidFill>
            </a:endParaRPr>
          </a:p>
          <a:p>
            <a:pPr indent="-3175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Char char="○"/>
            </a:pPr>
            <a:r>
              <a:rPr lang="es">
                <a:solidFill>
                  <a:srgbClr val="CC0000"/>
                </a:solidFill>
              </a:rPr>
              <a:t>Presentación</a:t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81" name="Google Shape;81;p4"/>
          <p:cNvSpPr txBox="1"/>
          <p:nvPr>
            <p:ph idx="12" type="sldNum"/>
          </p:nvPr>
        </p:nvSpPr>
        <p:spPr>
          <a:xfrm>
            <a:off x="85138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82" name="Google Shape;82;p4"/>
          <p:cNvSpPr txBox="1"/>
          <p:nvPr/>
        </p:nvSpPr>
        <p:spPr>
          <a:xfrm>
            <a:off x="4553250" y="2346900"/>
            <a:ext cx="4096500" cy="17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29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NF = </a:t>
            </a:r>
            <a:r>
              <a:rPr b="1" lang="es" sz="13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NPF</a:t>
            </a:r>
            <a:r>
              <a:rPr b="1" lang="es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*0.3 + </a:t>
            </a:r>
            <a:r>
              <a:rPr b="1" lang="es" sz="13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NDe</a:t>
            </a:r>
            <a:r>
              <a:rPr b="1" lang="es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*0.4 + </a:t>
            </a:r>
            <a:r>
              <a:rPr b="1" lang="es" sz="13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NPr</a:t>
            </a:r>
            <a:r>
              <a:rPr b="1" lang="es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*0.3</a:t>
            </a:r>
            <a:endParaRPr b="0" i="0" sz="1600" u="none" cap="none" strike="noStrike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Cátedra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s"/>
              <a:t>Lunes de 12:00 a 13:30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/>
              <a:t>Auxiliar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/>
              <a:t>Martes de 14:30 a 16:00</a:t>
            </a:r>
            <a:endParaRPr/>
          </a:p>
        </p:txBody>
      </p:sp>
      <p:sp>
        <p:nvSpPr>
          <p:cNvPr id="88" name="Google Shape;88;p5"/>
          <p:cNvSpPr txBox="1"/>
          <p:nvPr>
            <p:ph type="title"/>
          </p:nvPr>
        </p:nvSpPr>
        <p:spPr>
          <a:xfrm>
            <a:off x="683900" y="445025"/>
            <a:ext cx="8148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Horario </a:t>
            </a:r>
            <a:endParaRPr/>
          </a:p>
        </p:txBody>
      </p:sp>
      <p:sp>
        <p:nvSpPr>
          <p:cNvPr id="89" name="Google Shape;89;p5"/>
          <p:cNvSpPr txBox="1"/>
          <p:nvPr>
            <p:ph idx="12" type="sldNum"/>
          </p:nvPr>
        </p:nvSpPr>
        <p:spPr>
          <a:xfrm>
            <a:off x="85138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90" name="Google Shape;90;p5"/>
          <p:cNvPicPr preferRelativeResize="0"/>
          <p:nvPr/>
        </p:nvPicPr>
        <p:blipFill rotWithShape="1">
          <a:blip r:embed="rId3">
            <a:alphaModFix/>
          </a:blip>
          <a:srcRect b="40740" l="0" r="0" t="40740"/>
          <a:stretch/>
        </p:blipFill>
        <p:spPr>
          <a:xfrm>
            <a:off x="5630900" y="3680275"/>
            <a:ext cx="2698749" cy="66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 txBox="1"/>
          <p:nvPr>
            <p:ph type="title"/>
          </p:nvPr>
        </p:nvSpPr>
        <p:spPr>
          <a:xfrm>
            <a:off x="683900" y="445025"/>
            <a:ext cx="8148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Programa</a:t>
            </a:r>
            <a:endParaRPr/>
          </a:p>
        </p:txBody>
      </p:sp>
      <p:sp>
        <p:nvSpPr>
          <p:cNvPr id="96" name="Google Shape;96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Conceptos generales </a:t>
            </a:r>
            <a:endParaRPr/>
          </a:p>
          <a:p>
            <a:pPr indent="-3175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Microcontroladores</a:t>
            </a:r>
            <a:endParaRPr/>
          </a:p>
          <a:p>
            <a:pPr indent="-3175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PWM, openloop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Actuadores Electromecánicos </a:t>
            </a:r>
            <a:endParaRPr/>
          </a:p>
          <a:p>
            <a:pPr indent="-3175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Motores, Servomotores, Steppers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Sensores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Control de sistemas</a:t>
            </a:r>
            <a:endParaRPr/>
          </a:p>
          <a:p>
            <a:pPr indent="-3175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PID</a:t>
            </a:r>
            <a:endParaRPr/>
          </a:p>
        </p:txBody>
      </p:sp>
      <p:sp>
        <p:nvSpPr>
          <p:cNvPr id="97" name="Google Shape;97;p6"/>
          <p:cNvSpPr txBox="1"/>
          <p:nvPr>
            <p:ph idx="12" type="sldNum"/>
          </p:nvPr>
        </p:nvSpPr>
        <p:spPr>
          <a:xfrm>
            <a:off x="85138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3e9bf8925e_0_4"/>
          <p:cNvSpPr txBox="1"/>
          <p:nvPr>
            <p:ph type="title"/>
          </p:nvPr>
        </p:nvSpPr>
        <p:spPr>
          <a:xfrm>
            <a:off x="683900" y="445025"/>
            <a:ext cx="8148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Posters</a:t>
            </a:r>
            <a:endParaRPr/>
          </a:p>
        </p:txBody>
      </p:sp>
      <p:sp>
        <p:nvSpPr>
          <p:cNvPr id="103" name="Google Shape;103;g33e9bf8925e_0_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Evento en semana de examenes</a:t>
            </a:r>
            <a:endParaRPr/>
          </a:p>
          <a:p>
            <a:pPr indent="-3175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Presentacion y demostracion del proyecto</a:t>
            </a:r>
            <a:endParaRPr/>
          </a:p>
        </p:txBody>
      </p:sp>
      <p:sp>
        <p:nvSpPr>
          <p:cNvPr id="104" name="Google Shape;104;g33e9bf8925e_0_4"/>
          <p:cNvSpPr txBox="1"/>
          <p:nvPr>
            <p:ph idx="12" type="sldNum"/>
          </p:nvPr>
        </p:nvSpPr>
        <p:spPr>
          <a:xfrm>
            <a:off x="85138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05" name="Google Shape;105;g33e9bf8925e_0_4"/>
          <p:cNvPicPr preferRelativeResize="0"/>
          <p:nvPr/>
        </p:nvPicPr>
        <p:blipFill rotWithShape="1">
          <a:blip r:embed="rId3">
            <a:alphaModFix/>
          </a:blip>
          <a:srcRect b="13746" l="0" r="0" t="6654"/>
          <a:stretch/>
        </p:blipFill>
        <p:spPr>
          <a:xfrm>
            <a:off x="5498450" y="1463950"/>
            <a:ext cx="3334050" cy="310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"/>
          <p:cNvSpPr txBox="1"/>
          <p:nvPr>
            <p:ph type="title"/>
          </p:nvPr>
        </p:nvSpPr>
        <p:spPr>
          <a:xfrm>
            <a:off x="683900" y="445025"/>
            <a:ext cx="8148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Para la próxima Clase</a:t>
            </a:r>
            <a:endParaRPr/>
          </a:p>
        </p:txBody>
      </p:sp>
      <p:sp>
        <p:nvSpPr>
          <p:cNvPr id="111" name="Google Shape;111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/>
              <a:t>Visitas !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s"/>
              <a:t>Fablab 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12" name="Google Shape;112;p7"/>
          <p:cNvSpPr txBox="1"/>
          <p:nvPr>
            <p:ph idx="12" type="sldNum"/>
          </p:nvPr>
        </p:nvSpPr>
        <p:spPr>
          <a:xfrm>
            <a:off x="85138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3e9bf8925e_0_11"/>
          <p:cNvSpPr txBox="1"/>
          <p:nvPr>
            <p:ph type="title"/>
          </p:nvPr>
        </p:nvSpPr>
        <p:spPr>
          <a:xfrm>
            <a:off x="683900" y="445025"/>
            <a:ext cx="8148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3e9bf8925e_0_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3e9bf8925e_0_11"/>
          <p:cNvSpPr txBox="1"/>
          <p:nvPr>
            <p:ph idx="12" type="sldNum"/>
          </p:nvPr>
        </p:nvSpPr>
        <p:spPr>
          <a:xfrm>
            <a:off x="8513809" y="47036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