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5" r:id="rId4"/>
    <p:sldId id="266" r:id="rId5"/>
    <p:sldId id="257" r:id="rId6"/>
    <p:sldId id="259" r:id="rId7"/>
    <p:sldId id="258" r:id="rId8"/>
    <p:sldId id="260" r:id="rId9"/>
    <p:sldId id="263" r:id="rId10"/>
    <p:sldId id="261" r:id="rId11"/>
    <p:sldId id="262" r:id="rId12"/>
    <p:sldId id="267" r:id="rId13"/>
  </p:sldIdLst>
  <p:sldSz cx="9144000" cy="5143500" type="screen16x9"/>
  <p:notesSz cx="6858000" cy="9144000"/>
  <p:embeddedFontLst>
    <p:embeddedFont>
      <p:font typeface="Bungee Shade" panose="020B0604020202020204" charset="0"/>
      <p:regular r:id="rId15"/>
    </p:embeddedFont>
    <p:embeddedFont>
      <p:font typeface="Roboto Slab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7s6OFWUiqHXgxaieogC+lKysN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customschemas.google.com/relationships/presentationmetadata" Target="meta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6.png"/><Relationship Id="rId6" Type="http://schemas.openxmlformats.org/officeDocument/2006/relationships/image" Target="../media/image10.svg"/><Relationship Id="rId5" Type="http://schemas.openxmlformats.org/officeDocument/2006/relationships/image" Target="../media/image8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6.png"/><Relationship Id="rId6" Type="http://schemas.openxmlformats.org/officeDocument/2006/relationships/image" Target="../media/image10.svg"/><Relationship Id="rId5" Type="http://schemas.openxmlformats.org/officeDocument/2006/relationships/image" Target="../media/image8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4784C0-D2B0-46DC-B823-B9BD93B7BDC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7329E35-F811-4542-8DA5-FB90F46E3A4B}">
      <dgm:prSet/>
      <dgm:spPr/>
      <dgm:t>
        <a:bodyPr/>
        <a:lstStyle/>
        <a:p>
          <a:r>
            <a:rPr lang="es-CL" b="0" i="0"/>
            <a:t>Es un circuito integrado, que puede ejecutar tareas programadas en su memoria. </a:t>
          </a:r>
          <a:endParaRPr lang="en-US"/>
        </a:p>
      </dgm:t>
    </dgm:pt>
    <dgm:pt modelId="{E0AA29F6-7141-4757-B029-240F24CE2CC3}" type="parTrans" cxnId="{839DAF01-CE38-4206-84CF-33B8E6B99E40}">
      <dgm:prSet/>
      <dgm:spPr/>
      <dgm:t>
        <a:bodyPr/>
        <a:lstStyle/>
        <a:p>
          <a:endParaRPr lang="en-US"/>
        </a:p>
      </dgm:t>
    </dgm:pt>
    <dgm:pt modelId="{13AC6650-FE78-4631-80CA-55C132797C25}" type="sibTrans" cxnId="{839DAF01-CE38-4206-84CF-33B8E6B99E40}">
      <dgm:prSet/>
      <dgm:spPr/>
      <dgm:t>
        <a:bodyPr/>
        <a:lstStyle/>
        <a:p>
          <a:endParaRPr lang="en-US"/>
        </a:p>
      </dgm:t>
    </dgm:pt>
    <dgm:pt modelId="{0C2C33C5-4403-406A-94ED-489365E29A9A}">
      <dgm:prSet/>
      <dgm:spPr/>
      <dgm:t>
        <a:bodyPr/>
        <a:lstStyle/>
        <a:p>
          <a:r>
            <a:rPr lang="es-CL" b="0" i="0"/>
            <a:t>Están conformados por microprocesador, memoria, entradas y salidas.</a:t>
          </a:r>
          <a:endParaRPr lang="en-US"/>
        </a:p>
      </dgm:t>
    </dgm:pt>
    <dgm:pt modelId="{177C7256-EAAA-4EC0-AEEB-4CFFBC1529B2}" type="parTrans" cxnId="{D91FFE12-4BE9-46A8-9CBA-B3829F32B2BD}">
      <dgm:prSet/>
      <dgm:spPr/>
      <dgm:t>
        <a:bodyPr/>
        <a:lstStyle/>
        <a:p>
          <a:endParaRPr lang="en-US"/>
        </a:p>
      </dgm:t>
    </dgm:pt>
    <dgm:pt modelId="{C49BEF73-8064-4E1C-8C9A-6501CD0EF12A}" type="sibTrans" cxnId="{D91FFE12-4BE9-46A8-9CBA-B3829F32B2BD}">
      <dgm:prSet/>
      <dgm:spPr/>
      <dgm:t>
        <a:bodyPr/>
        <a:lstStyle/>
        <a:p>
          <a:endParaRPr lang="en-US"/>
        </a:p>
      </dgm:t>
    </dgm:pt>
    <dgm:pt modelId="{AD6F432A-307C-47F7-BE21-6A8169FA6598}">
      <dgm:prSet/>
      <dgm:spPr/>
      <dgm:t>
        <a:bodyPr/>
        <a:lstStyle/>
        <a:p>
          <a:r>
            <a:rPr lang="es-CL" b="0" i="0"/>
            <a:t>Bajo costo, versátiles, fácil de programar y pequeño.</a:t>
          </a:r>
          <a:endParaRPr lang="en-US"/>
        </a:p>
      </dgm:t>
    </dgm:pt>
    <dgm:pt modelId="{88110AF7-79FD-44C4-B7A6-332C8498299D}" type="parTrans" cxnId="{6EB09979-77D8-4443-8119-6E178790F9FF}">
      <dgm:prSet/>
      <dgm:spPr/>
      <dgm:t>
        <a:bodyPr/>
        <a:lstStyle/>
        <a:p>
          <a:endParaRPr lang="en-US"/>
        </a:p>
      </dgm:t>
    </dgm:pt>
    <dgm:pt modelId="{1B1F8C0C-9FD9-43F0-98AD-3001CFF3B6F7}" type="sibTrans" cxnId="{6EB09979-77D8-4443-8119-6E178790F9FF}">
      <dgm:prSet/>
      <dgm:spPr/>
      <dgm:t>
        <a:bodyPr/>
        <a:lstStyle/>
        <a:p>
          <a:endParaRPr lang="en-US"/>
        </a:p>
      </dgm:t>
    </dgm:pt>
    <dgm:pt modelId="{C045017E-9BDE-4B6E-9D1E-A23100153183}" type="pres">
      <dgm:prSet presAssocID="{474784C0-D2B0-46DC-B823-B9BD93B7BDC2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3FAD7AC-7842-430B-B61D-A0751032804D}" type="pres">
      <dgm:prSet presAssocID="{C7329E35-F811-4542-8DA5-FB90F46E3A4B}" presName="compNode" presStyleCnt="0"/>
      <dgm:spPr/>
    </dgm:pt>
    <dgm:pt modelId="{FA6ED5DC-1C88-4DD1-AB1E-952280C036F4}" type="pres">
      <dgm:prSet presAssocID="{C7329E35-F811-4542-8DA5-FB90F46E3A4B}" presName="bgRect" presStyleLbl="bgShp" presStyleIdx="0" presStyleCnt="3"/>
      <dgm:spPr/>
    </dgm:pt>
    <dgm:pt modelId="{039776B3-13A9-45C6-9CD8-F1BDF11B9EDD}" type="pres">
      <dgm:prSet presAssocID="{C7329E35-F811-4542-8DA5-FB90F46E3A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530015F5-3F71-4CB9-B625-A9D188835004}" type="pres">
      <dgm:prSet presAssocID="{C7329E35-F811-4542-8DA5-FB90F46E3A4B}" presName="spaceRect" presStyleCnt="0"/>
      <dgm:spPr/>
    </dgm:pt>
    <dgm:pt modelId="{F64E2728-1D11-4D9D-9269-493092E15CC4}" type="pres">
      <dgm:prSet presAssocID="{C7329E35-F811-4542-8DA5-FB90F46E3A4B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s-ES"/>
        </a:p>
      </dgm:t>
    </dgm:pt>
    <dgm:pt modelId="{229258FD-F934-4074-95A0-BECE513A8B52}" type="pres">
      <dgm:prSet presAssocID="{13AC6650-FE78-4631-80CA-55C132797C25}" presName="sibTrans" presStyleCnt="0"/>
      <dgm:spPr/>
    </dgm:pt>
    <dgm:pt modelId="{34C3336D-5AC7-4111-92EE-4184AB2EB2DD}" type="pres">
      <dgm:prSet presAssocID="{0C2C33C5-4403-406A-94ED-489365E29A9A}" presName="compNode" presStyleCnt="0"/>
      <dgm:spPr/>
    </dgm:pt>
    <dgm:pt modelId="{49445D35-AEA6-4285-9BEE-C43EF7AFFE0D}" type="pres">
      <dgm:prSet presAssocID="{0C2C33C5-4403-406A-94ED-489365E29A9A}" presName="bgRect" presStyleLbl="bgShp" presStyleIdx="1" presStyleCnt="3"/>
      <dgm:spPr/>
    </dgm:pt>
    <dgm:pt modelId="{8FEFEC55-99C7-4191-AF4F-D06B0A943DD2}" type="pres">
      <dgm:prSet presAssocID="{0C2C33C5-4403-406A-94ED-489365E29A9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131831C9-30B2-4FEE-8562-F11E05A57785}" type="pres">
      <dgm:prSet presAssocID="{0C2C33C5-4403-406A-94ED-489365E29A9A}" presName="spaceRect" presStyleCnt="0"/>
      <dgm:spPr/>
    </dgm:pt>
    <dgm:pt modelId="{DCA09611-45C9-4444-B745-224646CEF0D7}" type="pres">
      <dgm:prSet presAssocID="{0C2C33C5-4403-406A-94ED-489365E29A9A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s-ES"/>
        </a:p>
      </dgm:t>
    </dgm:pt>
    <dgm:pt modelId="{691EFD43-F339-4907-84D1-FAB92CAAB1AD}" type="pres">
      <dgm:prSet presAssocID="{C49BEF73-8064-4E1C-8C9A-6501CD0EF12A}" presName="sibTrans" presStyleCnt="0"/>
      <dgm:spPr/>
    </dgm:pt>
    <dgm:pt modelId="{F49807AD-D86A-467F-829A-D55058898B97}" type="pres">
      <dgm:prSet presAssocID="{AD6F432A-307C-47F7-BE21-6A8169FA6598}" presName="compNode" presStyleCnt="0"/>
      <dgm:spPr/>
    </dgm:pt>
    <dgm:pt modelId="{F2EBE191-7FFF-4DED-8456-5447F20D7DDD}" type="pres">
      <dgm:prSet presAssocID="{AD6F432A-307C-47F7-BE21-6A8169FA6598}" presName="bgRect" presStyleLbl="bgShp" presStyleIdx="2" presStyleCnt="3"/>
      <dgm:spPr/>
    </dgm:pt>
    <dgm:pt modelId="{BC94F36E-11B4-423F-9E5F-942495270AE4}" type="pres">
      <dgm:prSet presAssocID="{AD6F432A-307C-47F7-BE21-6A8169FA659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s clef"/>
        </a:ext>
      </dgm:extLst>
    </dgm:pt>
    <dgm:pt modelId="{AC729F93-4DE9-4C45-9257-751ADE4BC817}" type="pres">
      <dgm:prSet presAssocID="{AD6F432A-307C-47F7-BE21-6A8169FA6598}" presName="spaceRect" presStyleCnt="0"/>
      <dgm:spPr/>
    </dgm:pt>
    <dgm:pt modelId="{123D88E4-B160-4B15-9233-AE15AB0FFF79}" type="pres">
      <dgm:prSet presAssocID="{AD6F432A-307C-47F7-BE21-6A8169FA6598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s-ES"/>
        </a:p>
      </dgm:t>
    </dgm:pt>
  </dgm:ptLst>
  <dgm:cxnLst>
    <dgm:cxn modelId="{A0FD6BE1-622F-4768-B4B1-5D91D11797F8}" type="presOf" srcId="{474784C0-D2B0-46DC-B823-B9BD93B7BDC2}" destId="{C045017E-9BDE-4B6E-9D1E-A23100153183}" srcOrd="0" destOrd="0" presId="urn:microsoft.com/office/officeart/2018/2/layout/IconVerticalSolidList"/>
    <dgm:cxn modelId="{D91FFE12-4BE9-46A8-9CBA-B3829F32B2BD}" srcId="{474784C0-D2B0-46DC-B823-B9BD93B7BDC2}" destId="{0C2C33C5-4403-406A-94ED-489365E29A9A}" srcOrd="1" destOrd="0" parTransId="{177C7256-EAAA-4EC0-AEEB-4CFFBC1529B2}" sibTransId="{C49BEF73-8064-4E1C-8C9A-6501CD0EF12A}"/>
    <dgm:cxn modelId="{734EAF11-FAC9-46A7-97DA-40D4F5216E7C}" type="presOf" srcId="{C7329E35-F811-4542-8DA5-FB90F46E3A4B}" destId="{F64E2728-1D11-4D9D-9269-493092E15CC4}" srcOrd="0" destOrd="0" presId="urn:microsoft.com/office/officeart/2018/2/layout/IconVerticalSolidList"/>
    <dgm:cxn modelId="{839DAF01-CE38-4206-84CF-33B8E6B99E40}" srcId="{474784C0-D2B0-46DC-B823-B9BD93B7BDC2}" destId="{C7329E35-F811-4542-8DA5-FB90F46E3A4B}" srcOrd="0" destOrd="0" parTransId="{E0AA29F6-7141-4757-B029-240F24CE2CC3}" sibTransId="{13AC6650-FE78-4631-80CA-55C132797C25}"/>
    <dgm:cxn modelId="{F05CA6B5-731F-4827-9A8A-6F9F8881019C}" type="presOf" srcId="{0C2C33C5-4403-406A-94ED-489365E29A9A}" destId="{DCA09611-45C9-4444-B745-224646CEF0D7}" srcOrd="0" destOrd="0" presId="urn:microsoft.com/office/officeart/2018/2/layout/IconVerticalSolidList"/>
    <dgm:cxn modelId="{6EB09979-77D8-4443-8119-6E178790F9FF}" srcId="{474784C0-D2B0-46DC-B823-B9BD93B7BDC2}" destId="{AD6F432A-307C-47F7-BE21-6A8169FA6598}" srcOrd="2" destOrd="0" parTransId="{88110AF7-79FD-44C4-B7A6-332C8498299D}" sibTransId="{1B1F8C0C-9FD9-43F0-98AD-3001CFF3B6F7}"/>
    <dgm:cxn modelId="{2853F04A-3E10-4C17-A11B-23078010FABF}" type="presOf" srcId="{AD6F432A-307C-47F7-BE21-6A8169FA6598}" destId="{123D88E4-B160-4B15-9233-AE15AB0FFF79}" srcOrd="0" destOrd="0" presId="urn:microsoft.com/office/officeart/2018/2/layout/IconVerticalSolidList"/>
    <dgm:cxn modelId="{5B342227-CF42-40DF-9D62-79AB05D57580}" type="presParOf" srcId="{C045017E-9BDE-4B6E-9D1E-A23100153183}" destId="{C3FAD7AC-7842-430B-B61D-A0751032804D}" srcOrd="0" destOrd="0" presId="urn:microsoft.com/office/officeart/2018/2/layout/IconVerticalSolidList"/>
    <dgm:cxn modelId="{E49E4939-A364-4D78-95D2-C3586838552F}" type="presParOf" srcId="{C3FAD7AC-7842-430B-B61D-A0751032804D}" destId="{FA6ED5DC-1C88-4DD1-AB1E-952280C036F4}" srcOrd="0" destOrd="0" presId="urn:microsoft.com/office/officeart/2018/2/layout/IconVerticalSolidList"/>
    <dgm:cxn modelId="{6B07F255-DF0B-476C-96B1-9A41AECE3633}" type="presParOf" srcId="{C3FAD7AC-7842-430B-B61D-A0751032804D}" destId="{039776B3-13A9-45C6-9CD8-F1BDF11B9EDD}" srcOrd="1" destOrd="0" presId="urn:microsoft.com/office/officeart/2018/2/layout/IconVerticalSolidList"/>
    <dgm:cxn modelId="{853B99B8-00E6-46C6-95B3-56C98D3FEE16}" type="presParOf" srcId="{C3FAD7AC-7842-430B-B61D-A0751032804D}" destId="{530015F5-3F71-4CB9-B625-A9D188835004}" srcOrd="2" destOrd="0" presId="urn:microsoft.com/office/officeart/2018/2/layout/IconVerticalSolidList"/>
    <dgm:cxn modelId="{8677C10A-540B-4237-A2FE-2B6CAEA3CD97}" type="presParOf" srcId="{C3FAD7AC-7842-430B-B61D-A0751032804D}" destId="{F64E2728-1D11-4D9D-9269-493092E15CC4}" srcOrd="3" destOrd="0" presId="urn:microsoft.com/office/officeart/2018/2/layout/IconVerticalSolidList"/>
    <dgm:cxn modelId="{310FC9AD-026B-40BC-B464-CC2A2344972F}" type="presParOf" srcId="{C045017E-9BDE-4B6E-9D1E-A23100153183}" destId="{229258FD-F934-4074-95A0-BECE513A8B52}" srcOrd="1" destOrd="0" presId="urn:microsoft.com/office/officeart/2018/2/layout/IconVerticalSolidList"/>
    <dgm:cxn modelId="{09AB136F-EA5F-4C5E-91E5-38F6F9C63205}" type="presParOf" srcId="{C045017E-9BDE-4B6E-9D1E-A23100153183}" destId="{34C3336D-5AC7-4111-92EE-4184AB2EB2DD}" srcOrd="2" destOrd="0" presId="urn:microsoft.com/office/officeart/2018/2/layout/IconVerticalSolidList"/>
    <dgm:cxn modelId="{EF177A14-C54E-454E-BDEE-16306A2B561B}" type="presParOf" srcId="{34C3336D-5AC7-4111-92EE-4184AB2EB2DD}" destId="{49445D35-AEA6-4285-9BEE-C43EF7AFFE0D}" srcOrd="0" destOrd="0" presId="urn:microsoft.com/office/officeart/2018/2/layout/IconVerticalSolidList"/>
    <dgm:cxn modelId="{8C3678C8-731D-4388-8DB4-BD23E8F1BEE2}" type="presParOf" srcId="{34C3336D-5AC7-4111-92EE-4184AB2EB2DD}" destId="{8FEFEC55-99C7-4191-AF4F-D06B0A943DD2}" srcOrd="1" destOrd="0" presId="urn:microsoft.com/office/officeart/2018/2/layout/IconVerticalSolidList"/>
    <dgm:cxn modelId="{2F60E927-9DDD-4528-BF2D-BFEC9E969081}" type="presParOf" srcId="{34C3336D-5AC7-4111-92EE-4184AB2EB2DD}" destId="{131831C9-30B2-4FEE-8562-F11E05A57785}" srcOrd="2" destOrd="0" presId="urn:microsoft.com/office/officeart/2018/2/layout/IconVerticalSolidList"/>
    <dgm:cxn modelId="{1C5E6403-4434-498F-A18A-716BA6D51DA2}" type="presParOf" srcId="{34C3336D-5AC7-4111-92EE-4184AB2EB2DD}" destId="{DCA09611-45C9-4444-B745-224646CEF0D7}" srcOrd="3" destOrd="0" presId="urn:microsoft.com/office/officeart/2018/2/layout/IconVerticalSolidList"/>
    <dgm:cxn modelId="{6290734B-BFF7-4BC6-A2E2-03AE7B170A9E}" type="presParOf" srcId="{C045017E-9BDE-4B6E-9D1E-A23100153183}" destId="{691EFD43-F339-4907-84D1-FAB92CAAB1AD}" srcOrd="3" destOrd="0" presId="urn:microsoft.com/office/officeart/2018/2/layout/IconVerticalSolidList"/>
    <dgm:cxn modelId="{F82B150F-7E64-4FBB-8EF6-23CD0AE7AF42}" type="presParOf" srcId="{C045017E-9BDE-4B6E-9D1E-A23100153183}" destId="{F49807AD-D86A-467F-829A-D55058898B97}" srcOrd="4" destOrd="0" presId="urn:microsoft.com/office/officeart/2018/2/layout/IconVerticalSolidList"/>
    <dgm:cxn modelId="{9C2984FD-2BC8-4117-8D94-C8492DCD889B}" type="presParOf" srcId="{F49807AD-D86A-467F-829A-D55058898B97}" destId="{F2EBE191-7FFF-4DED-8456-5447F20D7DDD}" srcOrd="0" destOrd="0" presId="urn:microsoft.com/office/officeart/2018/2/layout/IconVerticalSolidList"/>
    <dgm:cxn modelId="{9CC70484-1F06-42A5-B916-3B4E93F57563}" type="presParOf" srcId="{F49807AD-D86A-467F-829A-D55058898B97}" destId="{BC94F36E-11B4-423F-9E5F-942495270AE4}" srcOrd="1" destOrd="0" presId="urn:microsoft.com/office/officeart/2018/2/layout/IconVerticalSolidList"/>
    <dgm:cxn modelId="{81239E44-FAF0-4B4E-962A-CC814B832FD3}" type="presParOf" srcId="{F49807AD-D86A-467F-829A-D55058898B97}" destId="{AC729F93-4DE9-4C45-9257-751ADE4BC817}" srcOrd="2" destOrd="0" presId="urn:microsoft.com/office/officeart/2018/2/layout/IconVerticalSolidList"/>
    <dgm:cxn modelId="{EC3D134A-5175-4631-AD01-71191F6A9D51}" type="presParOf" srcId="{F49807AD-D86A-467F-829A-D55058898B97}" destId="{123D88E4-B160-4B15-9233-AE15AB0FFF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6ED5DC-1C88-4DD1-AB1E-952280C036F4}">
      <dsp:nvSpPr>
        <dsp:cNvPr id="0" name=""/>
        <dsp:cNvSpPr/>
      </dsp:nvSpPr>
      <dsp:spPr>
        <a:xfrm>
          <a:off x="0" y="417"/>
          <a:ext cx="8520600" cy="97587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9776B3-13A9-45C6-9CD8-F1BDF11B9EDD}">
      <dsp:nvSpPr>
        <dsp:cNvPr id="0" name=""/>
        <dsp:cNvSpPr/>
      </dsp:nvSpPr>
      <dsp:spPr>
        <a:xfrm>
          <a:off x="295202" y="219989"/>
          <a:ext cx="536731" cy="5367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E2728-1D11-4D9D-9269-493092E15CC4}">
      <dsp:nvSpPr>
        <dsp:cNvPr id="0" name=""/>
        <dsp:cNvSpPr/>
      </dsp:nvSpPr>
      <dsp:spPr>
        <a:xfrm>
          <a:off x="1127136" y="417"/>
          <a:ext cx="7393463" cy="97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80" tIns="103280" rIns="103280" bIns="10328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2500" b="0" i="0" kern="1200"/>
            <a:t>Es un circuito integrado, que puede ejecutar tareas programadas en su memoria. </a:t>
          </a:r>
          <a:endParaRPr lang="en-US" sz="2500" kern="1200"/>
        </a:p>
      </dsp:txBody>
      <dsp:txXfrm>
        <a:off x="1127136" y="417"/>
        <a:ext cx="7393463" cy="975875"/>
      </dsp:txXfrm>
    </dsp:sp>
    <dsp:sp modelId="{49445D35-AEA6-4285-9BEE-C43EF7AFFE0D}">
      <dsp:nvSpPr>
        <dsp:cNvPr id="0" name=""/>
        <dsp:cNvSpPr/>
      </dsp:nvSpPr>
      <dsp:spPr>
        <a:xfrm>
          <a:off x="0" y="1220262"/>
          <a:ext cx="8520600" cy="97587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FEC55-99C7-4191-AF4F-D06B0A943DD2}">
      <dsp:nvSpPr>
        <dsp:cNvPr id="0" name=""/>
        <dsp:cNvSpPr/>
      </dsp:nvSpPr>
      <dsp:spPr>
        <a:xfrm>
          <a:off x="295202" y="1439834"/>
          <a:ext cx="536731" cy="5367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09611-45C9-4444-B745-224646CEF0D7}">
      <dsp:nvSpPr>
        <dsp:cNvPr id="0" name=""/>
        <dsp:cNvSpPr/>
      </dsp:nvSpPr>
      <dsp:spPr>
        <a:xfrm>
          <a:off x="1127136" y="1220262"/>
          <a:ext cx="7393463" cy="97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80" tIns="103280" rIns="103280" bIns="10328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2500" b="0" i="0" kern="1200"/>
            <a:t>Están conformados por microprocesador, memoria, entradas y salidas.</a:t>
          </a:r>
          <a:endParaRPr lang="en-US" sz="2500" kern="1200"/>
        </a:p>
      </dsp:txBody>
      <dsp:txXfrm>
        <a:off x="1127136" y="1220262"/>
        <a:ext cx="7393463" cy="975875"/>
      </dsp:txXfrm>
    </dsp:sp>
    <dsp:sp modelId="{F2EBE191-7FFF-4DED-8456-5447F20D7DDD}">
      <dsp:nvSpPr>
        <dsp:cNvPr id="0" name=""/>
        <dsp:cNvSpPr/>
      </dsp:nvSpPr>
      <dsp:spPr>
        <a:xfrm>
          <a:off x="0" y="2440106"/>
          <a:ext cx="8520600" cy="97587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94F36E-11B4-423F-9E5F-942495270AE4}">
      <dsp:nvSpPr>
        <dsp:cNvPr id="0" name=""/>
        <dsp:cNvSpPr/>
      </dsp:nvSpPr>
      <dsp:spPr>
        <a:xfrm>
          <a:off x="295202" y="2659679"/>
          <a:ext cx="536731" cy="5367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D88E4-B160-4B15-9233-AE15AB0FFF79}">
      <dsp:nvSpPr>
        <dsp:cNvPr id="0" name=""/>
        <dsp:cNvSpPr/>
      </dsp:nvSpPr>
      <dsp:spPr>
        <a:xfrm>
          <a:off x="1127136" y="2440106"/>
          <a:ext cx="7393463" cy="97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80" tIns="103280" rIns="103280" bIns="10328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2500" b="0" i="0" kern="1200"/>
            <a:t>Bajo costo, versátiles, fácil de programar y pequeño.</a:t>
          </a:r>
          <a:endParaRPr lang="en-US" sz="2500" kern="1200"/>
        </a:p>
      </dsp:txBody>
      <dsp:txXfrm>
        <a:off x="1127136" y="2440106"/>
        <a:ext cx="7393463" cy="975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5200">
                <a:solidFill>
                  <a:srgbClr val="0B539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2800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17-03-2025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490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marR="0" lvl="1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4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marR="0" lvl="2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4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marR="0" lvl="3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4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marR="0" lvl="4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4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marR="0" lvl="5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4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marR="0" lvl="6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4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marR="0" lvl="7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4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marR="0" lvl="8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4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pic>
        <p:nvPicPr>
          <p:cNvPr id="8" name="Google Shape;8;p9"/>
          <p:cNvPicPr preferRelativeResize="0"/>
          <p:nvPr/>
        </p:nvPicPr>
        <p:blipFill rotWithShape="1">
          <a:blip r:embed="rId11">
            <a:alphaModFix amt="63000"/>
          </a:blip>
          <a:srcRect/>
          <a:stretch/>
        </p:blipFill>
        <p:spPr>
          <a:xfrm>
            <a:off x="0" y="-47075"/>
            <a:ext cx="15114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9"/>
          <p:cNvPicPr preferRelativeResize="0"/>
          <p:nvPr/>
        </p:nvPicPr>
        <p:blipFill rotWithShape="1">
          <a:blip r:embed="rId12">
            <a:alphaModFix amt="63000"/>
          </a:blip>
          <a:srcRect/>
          <a:stretch/>
        </p:blipFill>
        <p:spPr>
          <a:xfrm>
            <a:off x="8432337" y="-12"/>
            <a:ext cx="711675" cy="71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311704" y="744575"/>
            <a:ext cx="40167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/>
              <a:t>Mecatrónica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08000"/>
              <a:buNone/>
            </a:pPr>
            <a:r>
              <a:rPr lang="es" sz="2500"/>
              <a:t>ME-4250</a:t>
            </a:r>
            <a:endParaRPr sz="2500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s"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864300" y="4415625"/>
            <a:ext cx="24663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400" b="0" i="0" u="none" strike="noStrike" cap="non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979" y="372325"/>
            <a:ext cx="4398826" cy="4398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D9EED-C7FB-7BD6-D053-17EC864A7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Que es Mecatrónica?</a:t>
            </a:r>
          </a:p>
          <a:p>
            <a:r>
              <a:rPr lang="es-CL" dirty="0"/>
              <a:t>Conceptos Básicos</a:t>
            </a:r>
          </a:p>
          <a:p>
            <a:r>
              <a:rPr lang="es-CL" dirty="0"/>
              <a:t>Microcontrolador</a:t>
            </a:r>
          </a:p>
          <a:p>
            <a:r>
              <a:rPr lang="es-CL" dirty="0"/>
              <a:t>Arquitectura de un microcontrolador</a:t>
            </a:r>
          </a:p>
          <a:p>
            <a:r>
              <a:rPr lang="es-CL" dirty="0"/>
              <a:t>ATMEGA328</a:t>
            </a:r>
          </a:p>
          <a:p>
            <a:r>
              <a:rPr lang="es-CL" dirty="0" err="1"/>
              <a:t>Arduino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07440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622" y="676583"/>
            <a:ext cx="4045200" cy="1482300"/>
          </a:xfrm>
        </p:spPr>
        <p:txBody>
          <a:bodyPr wrap="square" anchor="b">
            <a:normAutofit/>
          </a:bodyPr>
          <a:lstStyle/>
          <a:p>
            <a:r>
              <a:rPr lang="es-CL" dirty="0"/>
              <a:t>Mecatrónica? Que es 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</p:spPr>
        <p:txBody>
          <a:bodyPr wrap="square" anchor="ctr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i="1" dirty="0"/>
              <a:t>A mechatronic system is not just a marriage of electrical and mechanical systems and is more than just a control system; it is a complete integration of all of them.</a:t>
            </a:r>
            <a:endParaRPr lang="es-CL" i="1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0EBA660A-CEEB-CE6A-C054-E056298B748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s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78" y="2378340"/>
            <a:ext cx="2485208" cy="248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73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610" y="277080"/>
            <a:ext cx="5540399" cy="4709339"/>
          </a:xfrm>
        </p:spPr>
      </p:pic>
    </p:spTree>
    <p:extLst>
      <p:ext uri="{BB962C8B-B14F-4D97-AF65-F5344CB8AC3E}">
        <p14:creationId xmlns:p14="http://schemas.microsoft.com/office/powerpoint/2010/main" val="3371320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CL" dirty="0"/>
              <a:t>Microcontroladores</a:t>
            </a:r>
            <a:endParaRPr lang="es-CL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99182E4-2936-7DAD-E39D-E884D61C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13809" y="4703626"/>
            <a:ext cx="548700" cy="393600"/>
          </a:xfrm>
        </p:spPr>
        <p:txBody>
          <a:bodyPr/>
          <a:lstStyle/>
          <a:p>
            <a:pPr>
              <a:spcAft>
                <a:spcPts val="600"/>
              </a:spcAft>
            </a:pPr>
            <a:fld id="{6C0AEB4C-1C2C-4B44-BB64-30797415D254}" type="slidenum">
              <a:rPr lang="es-CL" smtClean="0"/>
              <a:pPr>
                <a:spcAft>
                  <a:spcPts val="600"/>
                </a:spcAft>
              </a:pPr>
              <a:t>5</a:t>
            </a:fld>
            <a:endParaRPr lang="es-CL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71B8EB6-A119-9835-397A-42DB270768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392658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762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1A202-9C1C-FDA8-1366-0DEB6B66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Conceptos básicos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00C163-102D-63A0-A4F4-23A4D2927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CPU	</a:t>
            </a:r>
            <a:r>
              <a:rPr lang="en-US" dirty="0">
                <a:sym typeface="Wingdings" panose="05000000000000000000" pitchFamily="2" charset="2"/>
              </a:rPr>
              <a:t> 	</a:t>
            </a:r>
            <a:r>
              <a:rPr lang="en-US" dirty="0"/>
              <a:t>Central Processing Unit </a:t>
            </a:r>
          </a:p>
          <a:p>
            <a:r>
              <a:rPr lang="en-US" dirty="0"/>
              <a:t>RAM	</a:t>
            </a:r>
            <a:r>
              <a:rPr lang="en-US" dirty="0">
                <a:sym typeface="Wingdings" panose="05000000000000000000" pitchFamily="2" charset="2"/>
              </a:rPr>
              <a:t> 	</a:t>
            </a:r>
            <a:r>
              <a:rPr lang="en-US" dirty="0"/>
              <a:t>Random Access Memory </a:t>
            </a:r>
          </a:p>
          <a:p>
            <a:r>
              <a:rPr lang="en-US" dirty="0"/>
              <a:t>ROM 	</a:t>
            </a:r>
            <a:r>
              <a:rPr lang="en-US" dirty="0">
                <a:sym typeface="Wingdings" panose="05000000000000000000" pitchFamily="2" charset="2"/>
              </a:rPr>
              <a:t> 	</a:t>
            </a:r>
            <a:r>
              <a:rPr lang="en-US" dirty="0"/>
              <a:t>Read-only Memory </a:t>
            </a:r>
          </a:p>
          <a:p>
            <a:r>
              <a:rPr lang="en-US" dirty="0"/>
              <a:t>EPROM 	</a:t>
            </a:r>
            <a:r>
              <a:rPr lang="en-US" dirty="0">
                <a:sym typeface="Wingdings" panose="05000000000000000000" pitchFamily="2" charset="2"/>
              </a:rPr>
              <a:t> 	</a:t>
            </a:r>
            <a:r>
              <a:rPr lang="en-US" dirty="0"/>
              <a:t>Erasable-programmable ROM</a:t>
            </a:r>
          </a:p>
          <a:p>
            <a:r>
              <a:rPr lang="en-US" dirty="0"/>
              <a:t>EEPROM 	</a:t>
            </a:r>
            <a:r>
              <a:rPr lang="en-US" dirty="0">
                <a:sym typeface="Wingdings" panose="05000000000000000000" pitchFamily="2" charset="2"/>
              </a:rPr>
              <a:t> 	</a:t>
            </a:r>
            <a:r>
              <a:rPr lang="en-US" dirty="0"/>
              <a:t>Electrical Erasable-programmable ROM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44588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D944A-3D83-0B9A-0226-EB84308B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031" y="463888"/>
            <a:ext cx="2460752" cy="1108928"/>
          </a:xfrm>
        </p:spPr>
        <p:txBody>
          <a:bodyPr anchor="b">
            <a:normAutofit/>
          </a:bodyPr>
          <a:lstStyle/>
          <a:p>
            <a:r>
              <a:rPr lang="es-CL" sz="1800"/>
              <a:t>Arquitectura típica de un microcontrolador</a:t>
            </a:r>
          </a:p>
        </p:txBody>
      </p:sp>
      <p:pic>
        <p:nvPicPr>
          <p:cNvPr id="9" name="Marcador de contenido 8" descr="Diagrama&#10;&#10;Descripción generada automáticamente">
            <a:extLst>
              <a:ext uri="{FF2B5EF4-FFF2-40B4-BE49-F238E27FC236}">
                <a16:creationId xmlns:a16="http://schemas.microsoft.com/office/drawing/2014/main" id="{F7A72C4B-5532-8D72-E427-799986A99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41" y="862055"/>
            <a:ext cx="4584287" cy="341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78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D814D-8375-319F-BA40-530CEE008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463889"/>
            <a:ext cx="2951559" cy="1043443"/>
          </a:xfrm>
        </p:spPr>
        <p:txBody>
          <a:bodyPr>
            <a:normAutofit/>
          </a:bodyPr>
          <a:lstStyle/>
          <a:p>
            <a:pPr algn="ctr"/>
            <a:r>
              <a:rPr lang="es-CL" dirty="0"/>
              <a:t>ATMega328p</a:t>
            </a:r>
          </a:p>
        </p:txBody>
      </p:sp>
      <p:pic>
        <p:nvPicPr>
          <p:cNvPr id="5" name="Marcador de contenido 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EFFAE137-FC0C-99DC-FB5F-DECA0DA389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2056"/>
          <a:stretch/>
        </p:blipFill>
        <p:spPr>
          <a:xfrm>
            <a:off x="713185" y="1873290"/>
            <a:ext cx="3251597" cy="2125745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085630" y="814388"/>
            <a:ext cx="2490192" cy="369280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L" sz="900" b="1" dirty="0">
                <a:solidFill>
                  <a:schemeClr val="bg2"/>
                </a:solidFill>
              </a:rPr>
              <a:t>Características Generales</a:t>
            </a:r>
          </a:p>
          <a:p>
            <a:pPr marL="0" indent="0">
              <a:lnSpc>
                <a:spcPct val="100000"/>
              </a:lnSpc>
              <a:buNone/>
            </a:pPr>
            <a:endParaRPr lang="es-CL" sz="900" b="1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Arquitectura</a:t>
            </a:r>
            <a:r>
              <a:rPr lang="es-CL" sz="900" dirty="0">
                <a:solidFill>
                  <a:schemeClr val="bg2"/>
                </a:solidFill>
              </a:rPr>
              <a:t>: AVR de 8 bits (RISC)</a:t>
            </a: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Frecuencia de operación</a:t>
            </a:r>
            <a:r>
              <a:rPr lang="es-CL" sz="900" dirty="0">
                <a:solidFill>
                  <a:schemeClr val="bg2"/>
                </a:solidFill>
              </a:rPr>
              <a:t>: Hasta </a:t>
            </a:r>
            <a:r>
              <a:rPr lang="es-CL" sz="900" b="1" dirty="0">
                <a:solidFill>
                  <a:schemeClr val="bg2"/>
                </a:solidFill>
              </a:rPr>
              <a:t>20 MHz</a:t>
            </a:r>
            <a:r>
              <a:rPr lang="es-CL" sz="900" dirty="0">
                <a:solidFill>
                  <a:schemeClr val="bg2"/>
                </a:solidFill>
              </a:rPr>
              <a:t> con cristal externo</a:t>
            </a: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Memoria Flash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32 KB</a:t>
            </a:r>
            <a:r>
              <a:rPr lang="es-CL" sz="900" dirty="0">
                <a:solidFill>
                  <a:schemeClr val="bg2"/>
                </a:solidFill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RAM (SRAM)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2 KB</a:t>
            </a:r>
            <a:endParaRPr lang="es-CL" sz="900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EEPROM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1 KB</a:t>
            </a:r>
            <a:endParaRPr lang="es-CL" sz="900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Voltaje de operación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1.8V - 5.5V</a:t>
            </a:r>
            <a:r>
              <a:rPr lang="es-CL" sz="900" dirty="0">
                <a:solidFill>
                  <a:schemeClr val="bg2"/>
                </a:solidFill>
              </a:rPr>
              <a:t> (según la versión)</a:t>
            </a:r>
          </a:p>
          <a:p>
            <a:pPr>
              <a:lnSpc>
                <a:spcPct val="100000"/>
              </a:lnSpc>
            </a:pPr>
            <a:endParaRPr lang="es-CL" sz="900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s-CL" sz="900" b="1" dirty="0">
                <a:solidFill>
                  <a:schemeClr val="bg2"/>
                </a:solidFill>
              </a:rPr>
              <a:t>Puertos y E/S</a:t>
            </a:r>
          </a:p>
          <a:p>
            <a:pPr marL="0" indent="0">
              <a:lnSpc>
                <a:spcPct val="100000"/>
              </a:lnSpc>
              <a:buNone/>
            </a:pPr>
            <a:endParaRPr lang="es-CL" sz="900" b="1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Número de pines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28 pines en PDIP</a:t>
            </a:r>
            <a:r>
              <a:rPr lang="es-CL" sz="900" dirty="0">
                <a:solidFill>
                  <a:schemeClr val="bg2"/>
                </a:solidFill>
              </a:rPr>
              <a:t>, </a:t>
            </a:r>
            <a:r>
              <a:rPr lang="es-CL" sz="900" b="1" dirty="0">
                <a:solidFill>
                  <a:schemeClr val="bg2"/>
                </a:solidFill>
              </a:rPr>
              <a:t>32 en TQFP/QFN</a:t>
            </a:r>
            <a:endParaRPr lang="es-CL" sz="900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Pines de E/S digitales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23</a:t>
            </a:r>
            <a:r>
              <a:rPr lang="es-CL" sz="900" dirty="0">
                <a:solidFill>
                  <a:schemeClr val="bg2"/>
                </a:solidFill>
              </a:rPr>
              <a:t> (configurables como entrada o salida)</a:t>
            </a: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Entradas analógicas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6 canales en la versión PDIP, 8 en TQFP/QFN</a:t>
            </a:r>
            <a:r>
              <a:rPr lang="es-CL" sz="900" dirty="0">
                <a:solidFill>
                  <a:schemeClr val="bg2"/>
                </a:solidFill>
              </a:rPr>
              <a:t> (10 bits de resolución)</a:t>
            </a: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PWM</a:t>
            </a:r>
            <a:r>
              <a:rPr lang="es-CL" sz="900" dirty="0">
                <a:solidFill>
                  <a:schemeClr val="bg2"/>
                </a:solidFill>
              </a:rPr>
              <a:t>: Hasta </a:t>
            </a:r>
            <a:r>
              <a:rPr lang="es-CL" sz="900" b="1" dirty="0">
                <a:solidFill>
                  <a:schemeClr val="bg2"/>
                </a:solidFill>
              </a:rPr>
              <a:t>6 pines</a:t>
            </a:r>
            <a:r>
              <a:rPr lang="es-CL" sz="900" dirty="0">
                <a:solidFill>
                  <a:schemeClr val="bg2"/>
                </a:solidFill>
              </a:rPr>
              <a:t> con salida PWM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6575822" y="818285"/>
            <a:ext cx="2152053" cy="3692805"/>
          </a:xfrm>
          <a:prstGeom prst="rect">
            <a:avLst/>
          </a:prstGeom>
        </p:spPr>
        <p:txBody>
          <a:bodyPr vert="horz" lIns="68580" tIns="34290" rIns="68580" bIns="3429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Comunicaciones</a:t>
            </a:r>
          </a:p>
          <a:p>
            <a:pPr marL="0" indent="0" algn="just">
              <a:buNone/>
            </a:pPr>
            <a:endParaRPr lang="es-CL" sz="3600" b="1" dirty="0">
              <a:solidFill>
                <a:schemeClr val="bg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UART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1 (soporta comunicación serie, como en Arduino)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SPI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1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I²C (TWI)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1</a:t>
            </a:r>
          </a:p>
          <a:p>
            <a:pPr marL="0" indent="0" algn="just">
              <a:buNone/>
            </a:pPr>
            <a:r>
              <a:rPr lang="es-CL" sz="3600" b="1" dirty="0" err="1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Timers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y PWM</a:t>
            </a:r>
          </a:p>
          <a:p>
            <a:pPr marL="0" indent="0" algn="just">
              <a:buNone/>
            </a:pPr>
            <a:endParaRPr lang="es-CL" sz="3600" b="1" dirty="0">
              <a:solidFill>
                <a:schemeClr val="bg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 err="1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Timer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de 8 bits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2 (Timer0 y Timer2)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 err="1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Timer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de 16 bits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1 (Timer1)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Canales de PWM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6 (controlados por los </a:t>
            </a:r>
            <a:r>
              <a:rPr lang="es-CL" sz="3600" dirty="0" err="1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timers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)</a:t>
            </a:r>
          </a:p>
          <a:p>
            <a:pPr marL="0" indent="0" algn="just">
              <a:buNone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Conversor A/D</a:t>
            </a:r>
          </a:p>
          <a:p>
            <a:pPr marL="0" indent="0" algn="just">
              <a:buNone/>
            </a:pPr>
            <a:endParaRPr lang="es-CL" sz="3600" b="1" dirty="0">
              <a:solidFill>
                <a:schemeClr val="bg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Resolución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10 bits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Canales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6 en DIP, 8 en TQFP/QFN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Velocidad de conversión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Hasta 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15 </a:t>
            </a:r>
            <a:r>
              <a:rPr lang="es-CL" sz="3600" b="1" dirty="0" err="1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kSPS</a:t>
            </a:r>
            <a:endParaRPr lang="es-CL" sz="3600" dirty="0">
              <a:solidFill>
                <a:schemeClr val="bg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346666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BD4FDE-18BC-B602-BF81-7F336FFBF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CL" dirty="0"/>
              <a:t/>
            </a:r>
            <a:br>
              <a:rPr lang="es-CL" dirty="0"/>
            </a:b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BED2E9-D32D-4ECC-1DD7-49394CAC7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40" y="1474787"/>
            <a:ext cx="3864769" cy="2771775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D99006DD-2AAF-48E4-37A9-A217A6B73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244743"/>
              </p:ext>
            </p:extLst>
          </p:nvPr>
        </p:nvGraphicFramePr>
        <p:xfrm>
          <a:off x="5023699" y="1678212"/>
          <a:ext cx="1446271" cy="266884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08397">
                  <a:extLst>
                    <a:ext uri="{9D8B030D-6E8A-4147-A177-3AD203B41FA5}">
                      <a16:colId xmlns:a16="http://schemas.microsoft.com/office/drawing/2014/main" val="2109897875"/>
                    </a:ext>
                  </a:extLst>
                </a:gridCol>
                <a:gridCol w="1237874">
                  <a:extLst>
                    <a:ext uri="{9D8B030D-6E8A-4147-A177-3AD203B41FA5}">
                      <a16:colId xmlns:a16="http://schemas.microsoft.com/office/drawing/2014/main" val="550381363"/>
                    </a:ext>
                  </a:extLst>
                </a:gridCol>
              </a:tblGrid>
              <a:tr h="377560">
                <a:tc>
                  <a:txBody>
                    <a:bodyPr/>
                    <a:lstStyle/>
                    <a:p>
                      <a:r>
                        <a:rPr lang="es-CL" sz="900" b="1" dirty="0">
                          <a:effectLst/>
                        </a:rPr>
                        <a:t>Pin</a:t>
                      </a:r>
                      <a:endParaRPr lang="es-CL" sz="900" b="1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b="1" dirty="0" err="1">
                          <a:effectLst/>
                        </a:rPr>
                        <a:t>Function</a:t>
                      </a:r>
                      <a:endParaRPr lang="es-CL" sz="900" b="1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2565753309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Reset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616511910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2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(RX)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478972675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3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(TX)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1587566111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4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39894571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5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(PWM)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3033478088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6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Digital Pin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4197622800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7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Positive </a:t>
                      </a:r>
                      <a:r>
                        <a:rPr lang="es-CL" sz="900" dirty="0" err="1">
                          <a:effectLst/>
                        </a:rPr>
                        <a:t>Voltage</a:t>
                      </a:r>
                      <a:r>
                        <a:rPr lang="es-CL" sz="900" dirty="0">
                          <a:effectLst/>
                        </a:rPr>
                        <a:t> (</a:t>
                      </a:r>
                      <a:r>
                        <a:rPr lang="es-CL" sz="900" dirty="0" err="1">
                          <a:effectLst/>
                        </a:rPr>
                        <a:t>Power</a:t>
                      </a:r>
                      <a:r>
                        <a:rPr lang="es-CL" sz="900" dirty="0">
                          <a:effectLst/>
                        </a:rPr>
                        <a:t>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2094865617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8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Ground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1645698187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9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Crystal Oscillator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274662465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10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Crystal Oscillator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836263042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11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Digital Pin (PWM)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1522183804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12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(PWM)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417896622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13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1631675480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14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2956786844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B4C406DA-A15E-E073-A02A-7A159E071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428438"/>
              </p:ext>
            </p:extLst>
          </p:nvPr>
        </p:nvGraphicFramePr>
        <p:xfrm>
          <a:off x="6469970" y="1678212"/>
          <a:ext cx="2030203" cy="266884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08397">
                  <a:extLst>
                    <a:ext uri="{9D8B030D-6E8A-4147-A177-3AD203B41FA5}">
                      <a16:colId xmlns:a16="http://schemas.microsoft.com/office/drawing/2014/main" val="2109897875"/>
                    </a:ext>
                  </a:extLst>
                </a:gridCol>
                <a:gridCol w="1821806">
                  <a:extLst>
                    <a:ext uri="{9D8B030D-6E8A-4147-A177-3AD203B41FA5}">
                      <a16:colId xmlns:a16="http://schemas.microsoft.com/office/drawing/2014/main" val="550381363"/>
                    </a:ext>
                  </a:extLst>
                </a:gridCol>
              </a:tblGrid>
              <a:tr h="387169">
                <a:tc>
                  <a:txBody>
                    <a:bodyPr/>
                    <a:lstStyle/>
                    <a:p>
                      <a:r>
                        <a:rPr lang="es-CL" sz="900" b="1" dirty="0">
                          <a:effectLst/>
                        </a:rPr>
                        <a:t>Pin</a:t>
                      </a:r>
                      <a:endParaRPr lang="es-CL" sz="900" b="1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b="1" dirty="0" err="1">
                          <a:effectLst/>
                        </a:rPr>
                        <a:t>Function</a:t>
                      </a:r>
                      <a:endParaRPr lang="es-CL" sz="900" b="1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2565753309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15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(PWM)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616511910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16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(PWM)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478972675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17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(PWM)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1587566111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18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39894571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19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3033478088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20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da-DK" sz="900" dirty="0">
                          <a:effectLst/>
                        </a:rPr>
                        <a:t>Positive voltage for ADC (power)</a:t>
                      </a:r>
                      <a:endParaRPr lang="da-DK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4197622800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21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Reference </a:t>
                      </a:r>
                      <a:r>
                        <a:rPr lang="es-CL" sz="900" dirty="0" err="1">
                          <a:effectLst/>
                        </a:rPr>
                        <a:t>Voltage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2094865617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22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Ground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1645698187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23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Analog</a:t>
                      </a:r>
                      <a:r>
                        <a:rPr lang="es-CL" sz="900" dirty="0">
                          <a:effectLst/>
                        </a:rPr>
                        <a:t> Input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274662465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24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Analog</a:t>
                      </a:r>
                      <a:r>
                        <a:rPr lang="es-CL" sz="900" dirty="0">
                          <a:effectLst/>
                        </a:rPr>
                        <a:t> Input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836263042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25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Analog Input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1522183804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26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Analog</a:t>
                      </a:r>
                      <a:r>
                        <a:rPr lang="es-CL" sz="900" dirty="0">
                          <a:effectLst/>
                        </a:rPr>
                        <a:t> Input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417896622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27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Analog</a:t>
                      </a:r>
                      <a:r>
                        <a:rPr lang="es-CL" sz="900" dirty="0">
                          <a:effectLst/>
                        </a:rPr>
                        <a:t> Input 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1631675480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28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Analog</a:t>
                      </a:r>
                      <a:r>
                        <a:rPr lang="es-CL" sz="900" dirty="0">
                          <a:effectLst/>
                        </a:rPr>
                        <a:t> Input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2956786844"/>
                  </a:ext>
                </a:extLst>
              </a:tr>
            </a:tbl>
          </a:graphicData>
        </a:graphic>
      </p:graphicFrame>
      <p:sp>
        <p:nvSpPr>
          <p:cNvPr id="11" name="Título 1">
            <a:extLst>
              <a:ext uri="{FF2B5EF4-FFF2-40B4-BE49-F238E27FC236}">
                <a16:creationId xmlns:a16="http://schemas.microsoft.com/office/drawing/2014/main" id="{6DA0BFBB-77B0-B9D2-B942-604AC3BFC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</p:spPr>
        <p:txBody>
          <a:bodyPr>
            <a:normAutofit/>
          </a:bodyPr>
          <a:lstStyle/>
          <a:p>
            <a:pPr algn="ctr"/>
            <a:r>
              <a:rPr lang="es-CL" dirty="0"/>
              <a:t>Diagrama ATMega328</a:t>
            </a:r>
          </a:p>
        </p:txBody>
      </p:sp>
    </p:spTree>
    <p:extLst>
      <p:ext uri="{BB962C8B-B14F-4D97-AF65-F5344CB8AC3E}">
        <p14:creationId xmlns:p14="http://schemas.microsoft.com/office/powerpoint/2010/main" val="1120802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2B4BF-4C5E-6DDC-6069-F2B01812B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319" y="1219200"/>
            <a:ext cx="2801206" cy="893728"/>
          </a:xfrm>
        </p:spPr>
        <p:txBody>
          <a:bodyPr spcFirstLastPara="1" vert="horz" wrap="square" lIns="68580" tIns="34290" rIns="68580" bIns="34290" rtlCol="0" anchor="b" anchorCtr="0">
            <a:normAutofit/>
          </a:bodyPr>
          <a:lstStyle/>
          <a:p>
            <a:r>
              <a:rPr lang="en-US" sz="3600" dirty="0"/>
              <a:t>Arduino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887C53-93F7-2CF4-BD0F-7F259E5A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7319" y="2701529"/>
            <a:ext cx="2801207" cy="1539540"/>
          </a:xfrm>
        </p:spPr>
        <p:txBody>
          <a:bodyPr spcFirstLastPara="1" vert="horz" wrap="square" lIns="68580" tIns="34290" rIns="68580" bIns="34290" rtlCol="0" anchor="t" anchorCtr="0">
            <a:normAutofit/>
          </a:bodyPr>
          <a:lstStyle/>
          <a:p>
            <a:pPr marL="0" indent="0">
              <a:buNone/>
            </a:pPr>
            <a:r>
              <a:rPr lang="en-US" sz="1500" cap="all" dirty="0" err="1">
                <a:solidFill>
                  <a:schemeClr val="tx1"/>
                </a:solidFill>
              </a:rPr>
              <a:t>Plataforma</a:t>
            </a:r>
            <a:r>
              <a:rPr lang="en-US" sz="1500" cap="all" dirty="0">
                <a:solidFill>
                  <a:schemeClr val="tx1"/>
                </a:solidFill>
              </a:rPr>
              <a:t> de </a:t>
            </a:r>
            <a:r>
              <a:rPr lang="en-US" sz="1500" cap="all" dirty="0" err="1">
                <a:solidFill>
                  <a:schemeClr val="tx1"/>
                </a:solidFill>
              </a:rPr>
              <a:t>electrónica</a:t>
            </a:r>
            <a:r>
              <a:rPr lang="en-US" sz="1500" cap="all" dirty="0">
                <a:solidFill>
                  <a:schemeClr val="tx1"/>
                </a:solidFill>
              </a:rPr>
              <a:t> «open-source» o de </a:t>
            </a:r>
            <a:r>
              <a:rPr lang="en-US" sz="1500" cap="all" dirty="0" err="1">
                <a:solidFill>
                  <a:schemeClr val="tx1"/>
                </a:solidFill>
              </a:rPr>
              <a:t>código</a:t>
            </a:r>
            <a:r>
              <a:rPr lang="en-US" sz="1500" cap="all" dirty="0">
                <a:solidFill>
                  <a:schemeClr val="tx1"/>
                </a:solidFill>
              </a:rPr>
              <a:t> </a:t>
            </a:r>
            <a:r>
              <a:rPr lang="en-US" sz="1500" cap="all" dirty="0" err="1">
                <a:solidFill>
                  <a:schemeClr val="tx1"/>
                </a:solidFill>
              </a:rPr>
              <a:t>abierto</a:t>
            </a:r>
            <a:endParaRPr lang="en-US" sz="1500" cap="all" dirty="0">
              <a:solidFill>
                <a:schemeClr val="tx1"/>
              </a:solidFill>
            </a:endParaRPr>
          </a:p>
        </p:txBody>
      </p:sp>
      <p:pic>
        <p:nvPicPr>
          <p:cNvPr id="6" name="Imagen 5" descr="Un circuito electrónico&#10;&#10;Descripción generada automáticamente con confianza baja">
            <a:extLst>
              <a:ext uri="{FF2B5EF4-FFF2-40B4-BE49-F238E27FC236}">
                <a16:creationId xmlns:a16="http://schemas.microsoft.com/office/drawing/2014/main" id="{E8836A63-DC3B-4C80-3470-722B7B428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8" b="10078"/>
          <a:stretch/>
        </p:blipFill>
        <p:spPr>
          <a:xfrm>
            <a:off x="4816048" y="1027656"/>
            <a:ext cx="3476687" cy="308257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F3C21C0-35DC-B0E0-E80F-33F979C3A088}"/>
              </a:ext>
            </a:extLst>
          </p:cNvPr>
          <p:cNvSpPr txBox="1"/>
          <p:nvPr/>
        </p:nvSpPr>
        <p:spPr>
          <a:xfrm>
            <a:off x="857250" y="4676210"/>
            <a:ext cx="74294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450"/>
              </a:spcAft>
            </a:pPr>
            <a:r>
              <a:rPr lang="es-CL" sz="1050" dirty="0"/>
              <a:t>https://www.arduino.cc/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AA6C6B86-0314-04B4-78FB-62C2AC569477}"/>
              </a:ext>
            </a:extLst>
          </p:cNvPr>
          <p:cNvSpPr txBox="1"/>
          <p:nvPr/>
        </p:nvSpPr>
        <p:spPr>
          <a:xfrm>
            <a:off x="1651490" y="4679963"/>
            <a:ext cx="457947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50" dirty="0"/>
              <a:t>https://create.arduino.cc</a:t>
            </a:r>
          </a:p>
        </p:txBody>
      </p:sp>
    </p:spTree>
    <p:extLst>
      <p:ext uri="{BB962C8B-B14F-4D97-AF65-F5344CB8AC3E}">
        <p14:creationId xmlns:p14="http://schemas.microsoft.com/office/powerpoint/2010/main" val="2231401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Marcador de contenido 4" descr="Imagen de la pantalla de un celular con letras&#10;&#10;Descripción generada automáticamente con confianza media">
            <a:extLst>
              <a:ext uri="{FF2B5EF4-FFF2-40B4-BE49-F238E27FC236}">
                <a16:creationId xmlns:a16="http://schemas.microsoft.com/office/drawing/2014/main" id="{199A9D5E-74D1-0DB7-4AE8-0C73DD422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663" y="482600"/>
            <a:ext cx="5322674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88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8E706-9F9A-306B-B8E2-646DE7E6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me">
            <a:hlinkClick r:id="" action="ppaction://media"/>
            <a:extLst>
              <a:ext uri="{FF2B5EF4-FFF2-40B4-BE49-F238E27FC236}">
                <a16:creationId xmlns:a16="http://schemas.microsoft.com/office/drawing/2014/main" id="{0B3AA72A-3A15-8EC0-BBD9-8EDA2C15D70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32455" y="200025"/>
            <a:ext cx="2668923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1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422</Words>
  <Application>Microsoft Office PowerPoint</Application>
  <PresentationFormat>Presentación en pantalla (16:9)</PresentationFormat>
  <Paragraphs>124</Paragraphs>
  <Slides>12</Slides>
  <Notes>1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Bungee Shade</vt:lpstr>
      <vt:lpstr>Wingdings</vt:lpstr>
      <vt:lpstr>Roboto Slab</vt:lpstr>
      <vt:lpstr>Arial</vt:lpstr>
      <vt:lpstr>Simple Light</vt:lpstr>
      <vt:lpstr>Mecatrónica ME-4250</vt:lpstr>
      <vt:lpstr>Contenido</vt:lpstr>
      <vt:lpstr>Mecatrónica? Que es ?</vt:lpstr>
      <vt:lpstr>Presentación de PowerPoint</vt:lpstr>
      <vt:lpstr>Microcontroladores</vt:lpstr>
      <vt:lpstr>Conceptos básicos </vt:lpstr>
      <vt:lpstr>Arquitectura típica de un microcontrolador</vt:lpstr>
      <vt:lpstr>ATMega328p</vt:lpstr>
      <vt:lpstr>Diagrama ATMega328</vt:lpstr>
      <vt:lpstr>Arduino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Mecatrónica ME-4250</dc:title>
  <cp:lastModifiedBy>Home</cp:lastModifiedBy>
  <cp:revision>3</cp:revision>
  <dcterms:modified xsi:type="dcterms:W3CDTF">2025-03-17T14:43:41Z</dcterms:modified>
</cp:coreProperties>
</file>