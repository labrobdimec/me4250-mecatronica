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72" r:id="rId2"/>
    <p:sldId id="276" r:id="rId3"/>
    <p:sldId id="257" r:id="rId4"/>
    <p:sldId id="259" r:id="rId5"/>
    <p:sldId id="264" r:id="rId6"/>
    <p:sldId id="265" r:id="rId7"/>
    <p:sldId id="266" r:id="rId8"/>
    <p:sldId id="277" r:id="rId9"/>
    <p:sldId id="267" r:id="rId10"/>
    <p:sldId id="268" r:id="rId11"/>
    <p:sldId id="278" r:id="rId12"/>
    <p:sldId id="269" r:id="rId13"/>
    <p:sldId id="279" r:id="rId14"/>
    <p:sldId id="270" r:id="rId15"/>
    <p:sldId id="280" r:id="rId16"/>
    <p:sldId id="271" r:id="rId17"/>
    <p:sldId id="275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3EF660-B702-4972-96B5-F297721A56D6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E3AC84E-28E1-4700-A8A7-D8E3D917C74C}">
      <dgm:prSet/>
      <dgm:spPr/>
      <dgm:t>
        <a:bodyPr/>
        <a:lstStyle/>
        <a:p>
          <a:r>
            <a:rPr lang="es-ES"/>
            <a:t>Suelen ser muy rápidos, girando a varios miles de revoluciones por minuto (rpm).</a:t>
          </a:r>
          <a:endParaRPr lang="en-US"/>
        </a:p>
      </dgm:t>
    </dgm:pt>
    <dgm:pt modelId="{1206178E-25BA-4311-ADAF-65580591A059}" type="parTrans" cxnId="{ABC59924-A72A-42B8-B195-0A792D1941EB}">
      <dgm:prSet/>
      <dgm:spPr/>
      <dgm:t>
        <a:bodyPr/>
        <a:lstStyle/>
        <a:p>
          <a:endParaRPr lang="en-US"/>
        </a:p>
      </dgm:t>
    </dgm:pt>
    <dgm:pt modelId="{6D338331-57D8-4103-9852-AB79825CD57D}" type="sibTrans" cxnId="{ABC59924-A72A-42B8-B195-0A792D1941EB}">
      <dgm:prSet/>
      <dgm:spPr/>
      <dgm:t>
        <a:bodyPr/>
        <a:lstStyle/>
        <a:p>
          <a:endParaRPr lang="en-US"/>
        </a:p>
      </dgm:t>
    </dgm:pt>
    <dgm:pt modelId="{60259E58-2083-4B37-B8EA-1DF769460387}">
      <dgm:prSet/>
      <dgm:spPr/>
      <dgm:t>
        <a:bodyPr/>
        <a:lstStyle/>
        <a:p>
          <a:r>
            <a:rPr lang="es-ES"/>
            <a:t>Son faciles de utilizar.</a:t>
          </a:r>
          <a:endParaRPr lang="en-US"/>
        </a:p>
      </dgm:t>
    </dgm:pt>
    <dgm:pt modelId="{0F000C29-E17D-4AB1-841B-444B37042661}" type="parTrans" cxnId="{B466FC61-9977-4289-B3BF-08C3B15F6E82}">
      <dgm:prSet/>
      <dgm:spPr/>
      <dgm:t>
        <a:bodyPr/>
        <a:lstStyle/>
        <a:p>
          <a:endParaRPr lang="en-US"/>
        </a:p>
      </dgm:t>
    </dgm:pt>
    <dgm:pt modelId="{E6FD9586-F693-4070-8872-1F0371DCA04F}" type="sibTrans" cxnId="{B466FC61-9977-4289-B3BF-08C3B15F6E82}">
      <dgm:prSet/>
      <dgm:spPr/>
      <dgm:t>
        <a:bodyPr/>
        <a:lstStyle/>
        <a:p>
          <a:endParaRPr lang="en-US"/>
        </a:p>
      </dgm:t>
    </dgm:pt>
    <dgm:pt modelId="{9C74BA5E-A6F6-40EC-9E48-6968B455E2E3}">
      <dgm:prSet/>
      <dgm:spPr/>
      <dgm:t>
        <a:bodyPr/>
        <a:lstStyle/>
        <a:p>
          <a:r>
            <a:rPr lang="es-ES" dirty="0"/>
            <a:t>Su inicio de torque es grande, razón principal por la que se utilizan en varias aplicaciones de tracción.</a:t>
          </a:r>
          <a:endParaRPr lang="en-US" dirty="0"/>
        </a:p>
      </dgm:t>
    </dgm:pt>
    <dgm:pt modelId="{4229FE77-85E7-40E3-8FC6-538F450D7B00}" type="parTrans" cxnId="{DB5C98C1-D697-4C4A-B72E-122D5015BE8D}">
      <dgm:prSet/>
      <dgm:spPr/>
      <dgm:t>
        <a:bodyPr/>
        <a:lstStyle/>
        <a:p>
          <a:endParaRPr lang="en-US"/>
        </a:p>
      </dgm:t>
    </dgm:pt>
    <dgm:pt modelId="{365E3B8D-3C71-4400-A838-708C73632242}" type="sibTrans" cxnId="{DB5C98C1-D697-4C4A-B72E-122D5015BE8D}">
      <dgm:prSet/>
      <dgm:spPr/>
      <dgm:t>
        <a:bodyPr/>
        <a:lstStyle/>
        <a:p>
          <a:endParaRPr lang="en-US"/>
        </a:p>
      </dgm:t>
    </dgm:pt>
    <dgm:pt modelId="{B5EBC658-CFA3-4D7C-8E93-21C2B0FC9405}">
      <dgm:prSet/>
      <dgm:spPr/>
      <dgm:t>
        <a:bodyPr/>
        <a:lstStyle/>
        <a:p>
          <a:r>
            <a:rPr lang="es-ES" dirty="0"/>
            <a:t>En una forma especial, se pueden usar con una fuente de alimentación de AC o CC..</a:t>
          </a:r>
          <a:endParaRPr lang="en-US" dirty="0"/>
        </a:p>
      </dgm:t>
    </dgm:pt>
    <dgm:pt modelId="{26172AC8-65CB-47EA-8271-6D38EC76AEAD}" type="parTrans" cxnId="{2F56FFA5-0C20-4ECA-AC34-F14EE37BFE58}">
      <dgm:prSet/>
      <dgm:spPr/>
      <dgm:t>
        <a:bodyPr/>
        <a:lstStyle/>
        <a:p>
          <a:endParaRPr lang="en-US"/>
        </a:p>
      </dgm:t>
    </dgm:pt>
    <dgm:pt modelId="{208D90C7-4A03-4230-8E06-FA20CEE97550}" type="sibTrans" cxnId="{2F56FFA5-0C20-4ECA-AC34-F14EE37BFE58}">
      <dgm:prSet/>
      <dgm:spPr/>
      <dgm:t>
        <a:bodyPr/>
        <a:lstStyle/>
        <a:p>
          <a:endParaRPr lang="en-US"/>
        </a:p>
      </dgm:t>
    </dgm:pt>
    <dgm:pt modelId="{85F34900-2EAB-494A-87AC-74DCA9DB9003}" type="pres">
      <dgm:prSet presAssocID="{BE3EF660-B702-4972-96B5-F297721A56D6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A3634052-9844-49DC-91CF-BEF0EB9F9EF7}" type="pres">
      <dgm:prSet presAssocID="{BE3EF660-B702-4972-96B5-F297721A56D6}" presName="dummyMaxCanvas" presStyleCnt="0">
        <dgm:presLayoutVars/>
      </dgm:prSet>
      <dgm:spPr/>
    </dgm:pt>
    <dgm:pt modelId="{6BB4F603-23E3-4DED-AB0E-A57F716915EB}" type="pres">
      <dgm:prSet presAssocID="{BE3EF660-B702-4972-96B5-F297721A56D6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435A82-DB69-4ABC-A0CB-CCFD5F5DAB82}" type="pres">
      <dgm:prSet presAssocID="{BE3EF660-B702-4972-96B5-F297721A56D6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F6352D0-1F04-4B90-866B-E94558A63B19}" type="pres">
      <dgm:prSet presAssocID="{BE3EF660-B702-4972-96B5-F297721A56D6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17354E9-1C7D-4944-8A92-F78AF785A167}" type="pres">
      <dgm:prSet presAssocID="{BE3EF660-B702-4972-96B5-F297721A56D6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28277BC-B9D4-4C2C-B722-562CA611B917}" type="pres">
      <dgm:prSet presAssocID="{BE3EF660-B702-4972-96B5-F297721A56D6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F114F67-9CD5-4B9D-BDD6-5FE2D9DB723E}" type="pres">
      <dgm:prSet presAssocID="{BE3EF660-B702-4972-96B5-F297721A56D6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D170A1A-B648-4201-AF72-C71F92793C8E}" type="pres">
      <dgm:prSet presAssocID="{BE3EF660-B702-4972-96B5-F297721A56D6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D1DA7D4-D596-4ED6-BD1F-F9AF0E122937}" type="pres">
      <dgm:prSet presAssocID="{BE3EF660-B702-4972-96B5-F297721A56D6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A9C95AA-70F7-4D6B-A313-B915ED306EAE}" type="pres">
      <dgm:prSet presAssocID="{BE3EF660-B702-4972-96B5-F297721A56D6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D7B18C1-7A1E-41DA-814A-CFA74B5A9CBA}" type="pres">
      <dgm:prSet presAssocID="{BE3EF660-B702-4972-96B5-F297721A56D6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6E9F8A2-AC4D-4CE6-AAA0-C85AC54CA2E5}" type="pres">
      <dgm:prSet presAssocID="{BE3EF660-B702-4972-96B5-F297721A56D6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84680A4-1478-4B83-B4D2-A0B2812AB0E9}" type="presOf" srcId="{365E3B8D-3C71-4400-A838-708C73632242}" destId="{CD170A1A-B648-4201-AF72-C71F92793C8E}" srcOrd="0" destOrd="0" presId="urn:microsoft.com/office/officeart/2005/8/layout/vProcess5"/>
    <dgm:cxn modelId="{B466FC61-9977-4289-B3BF-08C3B15F6E82}" srcId="{BE3EF660-B702-4972-96B5-F297721A56D6}" destId="{60259E58-2083-4B37-B8EA-1DF769460387}" srcOrd="1" destOrd="0" parTransId="{0F000C29-E17D-4AB1-841B-444B37042661}" sibTransId="{E6FD9586-F693-4070-8872-1F0371DCA04F}"/>
    <dgm:cxn modelId="{3F01E0DE-802C-4685-849A-1395D0BD1FF2}" type="presOf" srcId="{AE3AC84E-28E1-4700-A8A7-D8E3D917C74C}" destId="{6BB4F603-23E3-4DED-AB0E-A57F716915EB}" srcOrd="0" destOrd="0" presId="urn:microsoft.com/office/officeart/2005/8/layout/vProcess5"/>
    <dgm:cxn modelId="{DB5C98C1-D697-4C4A-B72E-122D5015BE8D}" srcId="{BE3EF660-B702-4972-96B5-F297721A56D6}" destId="{9C74BA5E-A6F6-40EC-9E48-6968B455E2E3}" srcOrd="2" destOrd="0" parTransId="{4229FE77-85E7-40E3-8FC6-538F450D7B00}" sibTransId="{365E3B8D-3C71-4400-A838-708C73632242}"/>
    <dgm:cxn modelId="{0C243406-C6AD-46B3-8AA5-7F1E158E4844}" type="presOf" srcId="{E6FD9586-F693-4070-8872-1F0371DCA04F}" destId="{1F114F67-9CD5-4B9D-BDD6-5FE2D9DB723E}" srcOrd="0" destOrd="0" presId="urn:microsoft.com/office/officeart/2005/8/layout/vProcess5"/>
    <dgm:cxn modelId="{A4F19083-73AF-4D34-908C-3BF512E2A0F8}" type="presOf" srcId="{6D338331-57D8-4103-9852-AB79825CD57D}" destId="{E28277BC-B9D4-4C2C-B722-562CA611B917}" srcOrd="0" destOrd="0" presId="urn:microsoft.com/office/officeart/2005/8/layout/vProcess5"/>
    <dgm:cxn modelId="{99113CB1-7707-44EA-B2EA-47637E25DC27}" type="presOf" srcId="{9C74BA5E-A6F6-40EC-9E48-6968B455E2E3}" destId="{ED7B18C1-7A1E-41DA-814A-CFA74B5A9CBA}" srcOrd="1" destOrd="0" presId="urn:microsoft.com/office/officeart/2005/8/layout/vProcess5"/>
    <dgm:cxn modelId="{014BF75D-E5BA-4927-93DF-EABDFA61C8CE}" type="presOf" srcId="{AE3AC84E-28E1-4700-A8A7-D8E3D917C74C}" destId="{DD1DA7D4-D596-4ED6-BD1F-F9AF0E122937}" srcOrd="1" destOrd="0" presId="urn:microsoft.com/office/officeart/2005/8/layout/vProcess5"/>
    <dgm:cxn modelId="{ABC59924-A72A-42B8-B195-0A792D1941EB}" srcId="{BE3EF660-B702-4972-96B5-F297721A56D6}" destId="{AE3AC84E-28E1-4700-A8A7-D8E3D917C74C}" srcOrd="0" destOrd="0" parTransId="{1206178E-25BA-4311-ADAF-65580591A059}" sibTransId="{6D338331-57D8-4103-9852-AB79825CD57D}"/>
    <dgm:cxn modelId="{A5A692E6-9583-4834-84A8-E04F379DDE90}" type="presOf" srcId="{60259E58-2083-4B37-B8EA-1DF769460387}" destId="{EA9C95AA-70F7-4D6B-A313-B915ED306EAE}" srcOrd="1" destOrd="0" presId="urn:microsoft.com/office/officeart/2005/8/layout/vProcess5"/>
    <dgm:cxn modelId="{783D7E19-024C-44E3-B948-3869DFDDEECE}" type="presOf" srcId="{B5EBC658-CFA3-4D7C-8E93-21C2B0FC9405}" destId="{D17354E9-1C7D-4944-8A92-F78AF785A167}" srcOrd="0" destOrd="0" presId="urn:microsoft.com/office/officeart/2005/8/layout/vProcess5"/>
    <dgm:cxn modelId="{436CDCF4-851E-4646-8770-55791FB9C454}" type="presOf" srcId="{BE3EF660-B702-4972-96B5-F297721A56D6}" destId="{85F34900-2EAB-494A-87AC-74DCA9DB9003}" srcOrd="0" destOrd="0" presId="urn:microsoft.com/office/officeart/2005/8/layout/vProcess5"/>
    <dgm:cxn modelId="{2F56FFA5-0C20-4ECA-AC34-F14EE37BFE58}" srcId="{BE3EF660-B702-4972-96B5-F297721A56D6}" destId="{B5EBC658-CFA3-4D7C-8E93-21C2B0FC9405}" srcOrd="3" destOrd="0" parTransId="{26172AC8-65CB-47EA-8271-6D38EC76AEAD}" sibTransId="{208D90C7-4A03-4230-8E06-FA20CEE97550}"/>
    <dgm:cxn modelId="{21094FEC-D29A-4077-953F-A17B2474B902}" type="presOf" srcId="{60259E58-2083-4B37-B8EA-1DF769460387}" destId="{8E435A82-DB69-4ABC-A0CB-CCFD5F5DAB82}" srcOrd="0" destOrd="0" presId="urn:microsoft.com/office/officeart/2005/8/layout/vProcess5"/>
    <dgm:cxn modelId="{822DC9B6-F119-445C-BB36-9EF2FE60A0B0}" type="presOf" srcId="{9C74BA5E-A6F6-40EC-9E48-6968B455E2E3}" destId="{2F6352D0-1F04-4B90-866B-E94558A63B19}" srcOrd="0" destOrd="0" presId="urn:microsoft.com/office/officeart/2005/8/layout/vProcess5"/>
    <dgm:cxn modelId="{1A9DBFD8-B1F2-46E5-85AC-C1A5A1D0DD09}" type="presOf" srcId="{B5EBC658-CFA3-4D7C-8E93-21C2B0FC9405}" destId="{46E9F8A2-AC4D-4CE6-AAA0-C85AC54CA2E5}" srcOrd="1" destOrd="0" presId="urn:microsoft.com/office/officeart/2005/8/layout/vProcess5"/>
    <dgm:cxn modelId="{F51CE700-1A1A-4982-AF25-1E5D0C08AD53}" type="presParOf" srcId="{85F34900-2EAB-494A-87AC-74DCA9DB9003}" destId="{A3634052-9844-49DC-91CF-BEF0EB9F9EF7}" srcOrd="0" destOrd="0" presId="urn:microsoft.com/office/officeart/2005/8/layout/vProcess5"/>
    <dgm:cxn modelId="{CB199D33-7E00-47CC-AB80-00ED9211F375}" type="presParOf" srcId="{85F34900-2EAB-494A-87AC-74DCA9DB9003}" destId="{6BB4F603-23E3-4DED-AB0E-A57F716915EB}" srcOrd="1" destOrd="0" presId="urn:microsoft.com/office/officeart/2005/8/layout/vProcess5"/>
    <dgm:cxn modelId="{37C14DBE-2FD9-40FB-9F58-B6447F9CE189}" type="presParOf" srcId="{85F34900-2EAB-494A-87AC-74DCA9DB9003}" destId="{8E435A82-DB69-4ABC-A0CB-CCFD5F5DAB82}" srcOrd="2" destOrd="0" presId="urn:microsoft.com/office/officeart/2005/8/layout/vProcess5"/>
    <dgm:cxn modelId="{A7174BEE-F62A-4728-9D71-2917BDFF00F2}" type="presParOf" srcId="{85F34900-2EAB-494A-87AC-74DCA9DB9003}" destId="{2F6352D0-1F04-4B90-866B-E94558A63B19}" srcOrd="3" destOrd="0" presId="urn:microsoft.com/office/officeart/2005/8/layout/vProcess5"/>
    <dgm:cxn modelId="{3905B65F-5C66-4713-8BFA-969534385196}" type="presParOf" srcId="{85F34900-2EAB-494A-87AC-74DCA9DB9003}" destId="{D17354E9-1C7D-4944-8A92-F78AF785A167}" srcOrd="4" destOrd="0" presId="urn:microsoft.com/office/officeart/2005/8/layout/vProcess5"/>
    <dgm:cxn modelId="{7787F4F2-6016-48FE-88B4-3CFD5E83BFC1}" type="presParOf" srcId="{85F34900-2EAB-494A-87AC-74DCA9DB9003}" destId="{E28277BC-B9D4-4C2C-B722-562CA611B917}" srcOrd="5" destOrd="0" presId="urn:microsoft.com/office/officeart/2005/8/layout/vProcess5"/>
    <dgm:cxn modelId="{728D77F2-4E2E-4178-A103-D201F992D3E9}" type="presParOf" srcId="{85F34900-2EAB-494A-87AC-74DCA9DB9003}" destId="{1F114F67-9CD5-4B9D-BDD6-5FE2D9DB723E}" srcOrd="6" destOrd="0" presId="urn:microsoft.com/office/officeart/2005/8/layout/vProcess5"/>
    <dgm:cxn modelId="{63DA9BA5-62F0-4CD6-A29A-1DA7B2F99A22}" type="presParOf" srcId="{85F34900-2EAB-494A-87AC-74DCA9DB9003}" destId="{CD170A1A-B648-4201-AF72-C71F92793C8E}" srcOrd="7" destOrd="0" presId="urn:microsoft.com/office/officeart/2005/8/layout/vProcess5"/>
    <dgm:cxn modelId="{AACF4E49-CF1E-49F0-B8D9-22DBFB11DA71}" type="presParOf" srcId="{85F34900-2EAB-494A-87AC-74DCA9DB9003}" destId="{DD1DA7D4-D596-4ED6-BD1F-F9AF0E122937}" srcOrd="8" destOrd="0" presId="urn:microsoft.com/office/officeart/2005/8/layout/vProcess5"/>
    <dgm:cxn modelId="{F040F62D-B282-433A-AECF-5C4EB03DF282}" type="presParOf" srcId="{85F34900-2EAB-494A-87AC-74DCA9DB9003}" destId="{EA9C95AA-70F7-4D6B-A313-B915ED306EAE}" srcOrd="9" destOrd="0" presId="urn:microsoft.com/office/officeart/2005/8/layout/vProcess5"/>
    <dgm:cxn modelId="{8D99E92F-9C86-487B-B386-9B5292DC2585}" type="presParOf" srcId="{85F34900-2EAB-494A-87AC-74DCA9DB9003}" destId="{ED7B18C1-7A1E-41DA-814A-CFA74B5A9CBA}" srcOrd="10" destOrd="0" presId="urn:microsoft.com/office/officeart/2005/8/layout/vProcess5"/>
    <dgm:cxn modelId="{2305EE0B-4565-493C-B395-DBA600D93D54}" type="presParOf" srcId="{85F34900-2EAB-494A-87AC-74DCA9DB9003}" destId="{46E9F8A2-AC4D-4CE6-AAA0-C85AC54CA2E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4F603-23E3-4DED-AB0E-A57F716915EB}">
      <dsp:nvSpPr>
        <dsp:cNvPr id="0" name=""/>
        <dsp:cNvSpPr/>
      </dsp:nvSpPr>
      <dsp:spPr>
        <a:xfrm>
          <a:off x="0" y="0"/>
          <a:ext cx="9088640" cy="10021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500" kern="1200"/>
            <a:t>Suelen ser muy rápidos, girando a varios miles de revoluciones por minuto (rpm).</a:t>
          </a:r>
          <a:endParaRPr lang="en-US" sz="2500" kern="1200"/>
        </a:p>
      </dsp:txBody>
      <dsp:txXfrm>
        <a:off x="29352" y="29352"/>
        <a:ext cx="7922566" cy="943440"/>
      </dsp:txXfrm>
    </dsp:sp>
    <dsp:sp modelId="{8E435A82-DB69-4ABC-A0CB-CCFD5F5DAB82}">
      <dsp:nvSpPr>
        <dsp:cNvPr id="0" name=""/>
        <dsp:cNvSpPr/>
      </dsp:nvSpPr>
      <dsp:spPr>
        <a:xfrm>
          <a:off x="761173" y="1184352"/>
          <a:ext cx="9088640" cy="10021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500" kern="1200"/>
            <a:t>Son faciles de utilizar.</a:t>
          </a:r>
          <a:endParaRPr lang="en-US" sz="2500" kern="1200"/>
        </a:p>
      </dsp:txBody>
      <dsp:txXfrm>
        <a:off x="790525" y="1213704"/>
        <a:ext cx="7617368" cy="943440"/>
      </dsp:txXfrm>
    </dsp:sp>
    <dsp:sp modelId="{2F6352D0-1F04-4B90-866B-E94558A63B19}">
      <dsp:nvSpPr>
        <dsp:cNvPr id="0" name=""/>
        <dsp:cNvSpPr/>
      </dsp:nvSpPr>
      <dsp:spPr>
        <a:xfrm>
          <a:off x="1510986" y="2368704"/>
          <a:ext cx="9088640" cy="10021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500" kern="1200" dirty="0"/>
            <a:t>Su inicio de torque es grande, razón principal por la que se utilizan en varias aplicaciones de tracción.</a:t>
          </a:r>
          <a:endParaRPr lang="en-US" sz="2500" kern="1200" dirty="0"/>
        </a:p>
      </dsp:txBody>
      <dsp:txXfrm>
        <a:off x="1540338" y="2398056"/>
        <a:ext cx="7628729" cy="943440"/>
      </dsp:txXfrm>
    </dsp:sp>
    <dsp:sp modelId="{D17354E9-1C7D-4944-8A92-F78AF785A167}">
      <dsp:nvSpPr>
        <dsp:cNvPr id="0" name=""/>
        <dsp:cNvSpPr/>
      </dsp:nvSpPr>
      <dsp:spPr>
        <a:xfrm>
          <a:off x="2272159" y="3553056"/>
          <a:ext cx="9088640" cy="10021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500" kern="1200" dirty="0"/>
            <a:t>En una forma especial, se pueden usar con una fuente de alimentación de AC o CC..</a:t>
          </a:r>
          <a:endParaRPr lang="en-US" sz="2500" kern="1200" dirty="0"/>
        </a:p>
      </dsp:txBody>
      <dsp:txXfrm>
        <a:off x="2301511" y="3582408"/>
        <a:ext cx="7617368" cy="943440"/>
      </dsp:txXfrm>
    </dsp:sp>
    <dsp:sp modelId="{E28277BC-B9D4-4C2C-B722-562CA611B917}">
      <dsp:nvSpPr>
        <dsp:cNvPr id="0" name=""/>
        <dsp:cNvSpPr/>
      </dsp:nvSpPr>
      <dsp:spPr>
        <a:xfrm>
          <a:off x="8437246" y="767551"/>
          <a:ext cx="651393" cy="65139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/>
        </a:p>
      </dsp:txBody>
      <dsp:txXfrm>
        <a:off x="8583809" y="767551"/>
        <a:ext cx="358267" cy="490173"/>
      </dsp:txXfrm>
    </dsp:sp>
    <dsp:sp modelId="{1F114F67-9CD5-4B9D-BDD6-5FE2D9DB723E}">
      <dsp:nvSpPr>
        <dsp:cNvPr id="0" name=""/>
        <dsp:cNvSpPr/>
      </dsp:nvSpPr>
      <dsp:spPr>
        <a:xfrm>
          <a:off x="9198420" y="1951903"/>
          <a:ext cx="651393" cy="65139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/>
        </a:p>
      </dsp:txBody>
      <dsp:txXfrm>
        <a:off x="9344983" y="1951903"/>
        <a:ext cx="358267" cy="490173"/>
      </dsp:txXfrm>
    </dsp:sp>
    <dsp:sp modelId="{CD170A1A-B648-4201-AF72-C71F92793C8E}">
      <dsp:nvSpPr>
        <dsp:cNvPr id="0" name=""/>
        <dsp:cNvSpPr/>
      </dsp:nvSpPr>
      <dsp:spPr>
        <a:xfrm>
          <a:off x="9948232" y="3136255"/>
          <a:ext cx="651393" cy="65139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/>
        </a:p>
      </dsp:txBody>
      <dsp:txXfrm>
        <a:off x="10094795" y="3136255"/>
        <a:ext cx="358267" cy="4901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18658-342A-4BFC-8DA0-AD3A0F790DD1}" type="datetimeFigureOut">
              <a:rPr lang="es-ES" smtClean="0"/>
              <a:t>31/03/2025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2926B-8E7D-4B03-86BA-F05DD17108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67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7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291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904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296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071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005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24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375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599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121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7237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56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80562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5" y="992767"/>
            <a:ext cx="53556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Motores CC</a:t>
            </a: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5EB46D70-E623-45CA-A82E-E86AA37EC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505" y="1889432"/>
            <a:ext cx="4826240" cy="3998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Que veremos hoy 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Motores Eléctricos y sus partes</a:t>
            </a:r>
          </a:p>
          <a:p>
            <a:r>
              <a:rPr lang="es-CL" dirty="0"/>
              <a:t>Motores de Corriente Continua</a:t>
            </a:r>
          </a:p>
          <a:p>
            <a:r>
              <a:rPr lang="es-CL" dirty="0"/>
              <a:t>Fundamentos de los Motores CC</a:t>
            </a:r>
          </a:p>
          <a:p>
            <a:r>
              <a:rPr lang="es-CL" dirty="0"/>
              <a:t>Clasificación de los Motores CC</a:t>
            </a:r>
          </a:p>
          <a:p>
            <a:pPr lvl="1"/>
            <a:r>
              <a:rPr lang="es-CL" dirty="0"/>
              <a:t>Motores Excitados independientemente</a:t>
            </a:r>
          </a:p>
          <a:p>
            <a:pPr lvl="1"/>
            <a:r>
              <a:rPr lang="es-CL" dirty="0"/>
              <a:t>Motores Shunt</a:t>
            </a:r>
          </a:p>
          <a:p>
            <a:pPr lvl="1"/>
            <a:r>
              <a:rPr lang="es-CL" dirty="0"/>
              <a:t>Motores Serie</a:t>
            </a:r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Motores Eléctricos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5600" y="1547467"/>
            <a:ext cx="5489900" cy="4352544"/>
          </a:xfrm>
        </p:spPr>
        <p:txBody>
          <a:bodyPr anchor="t">
            <a:normAutofit/>
          </a:bodyPr>
          <a:lstStyle/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 dirty="0" err="1">
                <a:solidFill>
                  <a:schemeClr val="dk1"/>
                </a:solidFill>
              </a:rPr>
              <a:t>Funciona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según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el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principio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eléctrico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de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inducción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0" indent="0" algn="l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Esto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quiere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decir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que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cuando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una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corriente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eléctrica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fluye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a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través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de un cable,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este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genera un campo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magnético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alrededor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del cable.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BFF35319-85CE-54E3-9A1C-33460017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2" r="-57" b="-2"/>
          <a:stretch/>
        </p:blipFill>
        <p:spPr>
          <a:xfrm>
            <a:off x="6889172" y="2247714"/>
            <a:ext cx="4312228" cy="2952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1A202-9C1C-FDA8-1366-0DEB6B66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s-CL" sz="2800" dirty="0">
                <a:solidFill>
                  <a:srgbClr val="0B5394"/>
                </a:solidFill>
              </a:rPr>
              <a:t>Partes de un motor eléctrico </a:t>
            </a: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59BD4EF-55E0-2B08-BBBB-38B275814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3648" y="1137621"/>
            <a:ext cx="6103062" cy="45772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458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59CEA-0579-3948-FABD-94FDE05F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Motores de corriente continua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2EB74-AEBE-8575-472B-CF13A0B7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Un motor CC tiene dos terminales. Si un terminal esta recibiendo corriente y el otro esta conectado a tierra, el motor girará en una dirección. Si se cambia de polaridad de los terminales, se invertirá la dirección del motor.</a:t>
            </a:r>
          </a:p>
        </p:txBody>
      </p:sp>
      <p:pic>
        <p:nvPicPr>
          <p:cNvPr id="7" name="Imagen 6" descr="Imagen que contiene interior, tabla, hecho de madera, pequeño&#10;&#10;El contenido generado por IA puede ser incorrecto.">
            <a:extLst>
              <a:ext uri="{FF2B5EF4-FFF2-40B4-BE49-F238E27FC236}">
                <a16:creationId xmlns:a16="http://schemas.microsoft.com/office/drawing/2014/main" id="{18E80C7C-139E-F783-C800-C2E043F53B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" r="5644"/>
          <a:stretch/>
        </p:blipFill>
        <p:spPr>
          <a:xfrm>
            <a:off x="6191250" y="1536633"/>
            <a:ext cx="5585150" cy="45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75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FD78E-597C-D306-9661-73432E4A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t">
            <a:normAutofit/>
          </a:bodyPr>
          <a:lstStyle/>
          <a:p>
            <a:r>
              <a:rPr lang="es-CL"/>
              <a:t>Porque usar motores cc?</a:t>
            </a:r>
            <a:endParaRPr lang="es-CL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939C316-10FB-F7C7-54F2-004466377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574905"/>
              </p:ext>
            </p:extLst>
          </p:nvPr>
        </p:nvGraphicFramePr>
        <p:xfrm>
          <a:off x="415600" y="1536633"/>
          <a:ext cx="11360800" cy="455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673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C42CF55-83D6-5488-2508-ADE37AED447E}"/>
              </a:ext>
            </a:extLst>
          </p:cNvPr>
          <p:cNvSpPr/>
          <p:nvPr/>
        </p:nvSpPr>
        <p:spPr>
          <a:xfrm>
            <a:off x="3912549" y="1931351"/>
            <a:ext cx="4366901" cy="4000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46F804-500B-BE8D-8924-073A7CCA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L" dirty="0">
                <a:solidFill>
                  <a:srgbClr val="0B5394"/>
                </a:solidFill>
              </a:rPr>
              <a:t>Fundamento de los motores de </a:t>
            </a:r>
            <a:r>
              <a:rPr lang="es-CL" dirty="0" err="1">
                <a:solidFill>
                  <a:srgbClr val="0B5394"/>
                </a:solidFill>
              </a:rPr>
              <a:t>cc</a:t>
            </a:r>
            <a:endParaRPr lang="es-CL" dirty="0">
              <a:solidFill>
                <a:srgbClr val="0B5394"/>
              </a:solidFill>
            </a:endParaRPr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861101DD-F16C-2570-E6F8-3B26C5E33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20" y="2139886"/>
            <a:ext cx="3656784" cy="358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3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8542-C739-BBA7-A4D6-C27D28B2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La importancia del conmutador</a:t>
            </a:r>
            <a:endParaRPr lang="es-ES" dirty="0"/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B050A371-B330-0B07-9C7A-9883B5C8B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25" y="1957256"/>
            <a:ext cx="11360150" cy="3713425"/>
          </a:xfrm>
        </p:spPr>
      </p:pic>
    </p:spTree>
    <p:extLst>
      <p:ext uri="{BB962C8B-B14F-4D97-AF65-F5344CB8AC3E}">
        <p14:creationId xmlns:p14="http://schemas.microsoft.com/office/powerpoint/2010/main" val="276685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CA89DD7-783D-A457-7A36-A7BAA4581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3" t="12987"/>
          <a:stretch/>
        </p:blipFill>
        <p:spPr>
          <a:xfrm>
            <a:off x="1641566" y="889945"/>
            <a:ext cx="8905691" cy="5078110"/>
          </a:xfrm>
        </p:spPr>
      </p:pic>
    </p:spTree>
    <p:extLst>
      <p:ext uri="{BB962C8B-B14F-4D97-AF65-F5344CB8AC3E}">
        <p14:creationId xmlns:p14="http://schemas.microsoft.com/office/powerpoint/2010/main" val="3117304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CA7D9-02FD-7548-364F-CB67A020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Clasificación de motores </a:t>
            </a:r>
            <a:r>
              <a:rPr lang="es-CL" dirty="0" err="1">
                <a:solidFill>
                  <a:srgbClr val="0B5394"/>
                </a:solidFill>
              </a:rPr>
              <a:t>cc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1DB0AE-B354-59B5-8D04-78D5F5EFD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Los motores de corriente continua se pueden clasificar en cuatro grupos según la disposición de sus devanados de campo</a:t>
            </a:r>
          </a:p>
          <a:p>
            <a:r>
              <a:rPr lang="es-CL" dirty="0"/>
              <a:t>Motores con excitación independiente </a:t>
            </a:r>
          </a:p>
          <a:p>
            <a:r>
              <a:rPr lang="es-CL" dirty="0"/>
              <a:t>Motores en derivación (shunt)</a:t>
            </a:r>
          </a:p>
          <a:p>
            <a:r>
              <a:rPr lang="es-CL" dirty="0"/>
              <a:t>Motores en serie </a:t>
            </a:r>
          </a:p>
          <a:p>
            <a:r>
              <a:rPr lang="es-CL" dirty="0"/>
              <a:t>Motores compuestos</a:t>
            </a:r>
          </a:p>
        </p:txBody>
      </p:sp>
    </p:spTree>
    <p:extLst>
      <p:ext uri="{BB962C8B-B14F-4D97-AF65-F5344CB8AC3E}">
        <p14:creationId xmlns:p14="http://schemas.microsoft.com/office/powerpoint/2010/main" val="178944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Motores Excitados Independientemente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devanado de excitación (campo) y el devanado de armadura están alimentados por fuentes de corriente separadas.</a:t>
            </a:r>
          </a:p>
          <a:p>
            <a:endParaRPr lang="es-CL" dirty="0"/>
          </a:p>
          <a:p>
            <a:r>
              <a:rPr lang="es-CL" dirty="0"/>
              <a:t>Permite un control más preciso del campo y de la velocidad.</a:t>
            </a:r>
          </a:p>
          <a:p>
            <a:endParaRPr lang="es-CL" dirty="0"/>
          </a:p>
          <a:p>
            <a:r>
              <a:rPr lang="es-CL" dirty="0"/>
              <a:t>Se usa en aplicaciones donde se necesita un control de velocidad amplio y preciso, como en sistemas de tracción y equipos industriales avanzados.</a:t>
            </a:r>
          </a:p>
        </p:txBody>
      </p:sp>
    </p:spTree>
    <p:extLst>
      <p:ext uri="{BB962C8B-B14F-4D97-AF65-F5344CB8AC3E}">
        <p14:creationId xmlns:p14="http://schemas.microsoft.com/office/powerpoint/2010/main" val="359329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9FB19-ECB9-EE94-59C9-04F0872A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0B5394"/>
                </a:solidFill>
              </a:rPr>
              <a:t>Motores</a:t>
            </a:r>
            <a:r>
              <a:rPr lang="en-US" dirty="0">
                <a:solidFill>
                  <a:srgbClr val="0B5394"/>
                </a:solidFill>
              </a:rPr>
              <a:t> </a:t>
            </a:r>
            <a:r>
              <a:rPr lang="en-US" dirty="0" err="1">
                <a:solidFill>
                  <a:srgbClr val="0B5394"/>
                </a:solidFill>
              </a:rPr>
              <a:t>excitados</a:t>
            </a:r>
            <a:r>
              <a:rPr lang="en-US" dirty="0">
                <a:solidFill>
                  <a:srgbClr val="0B5394"/>
                </a:solidFill>
              </a:rPr>
              <a:t> </a:t>
            </a:r>
            <a:r>
              <a:rPr lang="en-US" dirty="0" err="1">
                <a:solidFill>
                  <a:srgbClr val="0B5394"/>
                </a:solidFill>
              </a:rPr>
              <a:t>independientes</a:t>
            </a:r>
            <a:endParaRPr lang="en-US" dirty="0">
              <a:solidFill>
                <a:srgbClr val="0B5394"/>
              </a:solidFill>
            </a:endParaRPr>
          </a:p>
        </p:txBody>
      </p:sp>
      <p:pic>
        <p:nvPicPr>
          <p:cNvPr id="4" name="Marcador de contenido 3" descr="Diagrama, Esquemático&#10;&#10;Descripción generada automáticamente">
            <a:extLst>
              <a:ext uri="{FF2B5EF4-FFF2-40B4-BE49-F238E27FC236}">
                <a16:creationId xmlns:a16="http://schemas.microsoft.com/office/drawing/2014/main" id="{F3CE600B-21FC-E708-F56C-7D7D9D19E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988" y="1355555"/>
            <a:ext cx="4635583" cy="4150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F52B7B6-3CBC-FCAC-6035-C87DB406AAE6}"/>
                  </a:ext>
                </a:extLst>
              </p:cNvPr>
              <p:cNvSpPr txBox="1"/>
              <p:nvPr/>
            </p:nvSpPr>
            <p:spPr>
              <a:xfrm>
                <a:off x="6569957" y="2249487"/>
                <a:ext cx="4747087" cy="35417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indent="-342900" defTabSz="914400">
                  <a:lnSpc>
                    <a:spcPct val="120000"/>
                  </a:lnSpc>
                  <a:spcAft>
                    <a:spcPts val="600"/>
                  </a:spcAft>
                  <a:buSzPct val="125000"/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Ecuación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velocidad</a:t>
                </a:r>
                <a:r>
                  <a:rPr lang="en-US" sz="2400" dirty="0"/>
                  <a:t> - torque</a:t>
                </a:r>
              </a:p>
              <a:p>
                <a:pPr defTabSz="914400">
                  <a:lnSpc>
                    <a:spcPct val="120000"/>
                  </a:lnSpc>
                  <a:spcAft>
                    <a:spcPts val="600"/>
                  </a:spcAft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𝜙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𝜙𝜔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342900" indent="-342900" defTabSz="914400">
                  <a:lnSpc>
                    <a:spcPct val="120000"/>
                  </a:lnSpc>
                  <a:spcAft>
                    <a:spcPts val="600"/>
                  </a:spcAft>
                  <a:buSzPct val="125000"/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Ecuacion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velocidad</a:t>
                </a:r>
                <a:r>
                  <a:rPr lang="en-US" sz="2400" dirty="0"/>
                  <a:t> – </a:t>
                </a:r>
                <a:r>
                  <a:rPr lang="en-US" sz="2400" dirty="0" err="1"/>
                  <a:t>corriente</a:t>
                </a:r>
                <a:endParaRPr lang="en-US" sz="2400" dirty="0"/>
              </a:p>
              <a:p>
                <a:pPr defTabSz="914400">
                  <a:lnSpc>
                    <a:spcPct val="120000"/>
                  </a:lnSpc>
                  <a:spcAft>
                    <a:spcPts val="600"/>
                  </a:spcAft>
                  <a:buSzPct val="12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den>
                      </m:f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L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L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F52B7B6-3CBC-FCAC-6035-C87DB406A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957" y="2249487"/>
                <a:ext cx="4747087" cy="3541714"/>
              </a:xfrm>
              <a:prstGeom prst="rect">
                <a:avLst/>
              </a:prstGeom>
              <a:blipFill>
                <a:blip r:embed="rId4"/>
                <a:stretch>
                  <a:fillRect l="-2699" t="-223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29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Motores </a:t>
            </a:r>
            <a:r>
              <a:rPr lang="es-CL" dirty="0" err="1" smtClean="0"/>
              <a:t>Shunt</a:t>
            </a:r>
            <a:r>
              <a:rPr lang="es-CL" dirty="0" smtClean="0"/>
              <a:t> (Paralelo)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devanado de excitación está conectado en paralelo con la armadura.</a:t>
            </a:r>
          </a:p>
          <a:p>
            <a:endParaRPr lang="es-CL" dirty="0"/>
          </a:p>
          <a:p>
            <a:r>
              <a:rPr lang="es-CL" dirty="0"/>
              <a:t>Tiene una velocidad relativamente constante, independientemente de la carga.</a:t>
            </a:r>
          </a:p>
          <a:p>
            <a:endParaRPr lang="es-CL" dirty="0"/>
          </a:p>
          <a:p>
            <a:r>
              <a:rPr lang="es-CL" dirty="0"/>
              <a:t>Es adecuado para aplicaciones donde se necesita una velocidad estable, como en ventiladores, bombas y máquinas herramientas.</a:t>
            </a:r>
          </a:p>
        </p:txBody>
      </p:sp>
    </p:spTree>
    <p:extLst>
      <p:ext uri="{BB962C8B-B14F-4D97-AF65-F5344CB8AC3E}">
        <p14:creationId xmlns:p14="http://schemas.microsoft.com/office/powerpoint/2010/main" val="62394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9FB19-ECB9-EE94-59C9-04F0872A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0B5394"/>
                </a:solidFill>
              </a:rPr>
              <a:t>Motores</a:t>
            </a:r>
            <a:r>
              <a:rPr lang="en-US" dirty="0">
                <a:solidFill>
                  <a:srgbClr val="0B5394"/>
                </a:solidFill>
              </a:rPr>
              <a:t> Shunt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D62940F-89A2-49E6-4692-001FBEB4FC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9957" y="2249487"/>
                <a:ext cx="4747087" cy="3541714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85750">
                  <a:spcAft>
                    <a:spcPts val="600"/>
                  </a:spcAft>
                </a:pPr>
                <a:r>
                  <a:rPr lang="en-US" dirty="0"/>
                  <a:t>Ecuación de </a:t>
                </a:r>
                <a:r>
                  <a:rPr lang="en-US" dirty="0" err="1"/>
                  <a:t>velocidad</a:t>
                </a:r>
                <a:r>
                  <a:rPr lang="en-US" dirty="0"/>
                  <a:t> - torque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𝜙𝜔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>
                  <a:spcAft>
                    <a:spcPts val="600"/>
                  </a:spcAft>
                </a:pPr>
                <a:r>
                  <a:rPr lang="en-US" dirty="0" err="1"/>
                  <a:t>Ecuacion</a:t>
                </a:r>
                <a:r>
                  <a:rPr lang="en-US" dirty="0"/>
                  <a:t> de </a:t>
                </a:r>
                <a:r>
                  <a:rPr lang="en-US" dirty="0" err="1"/>
                  <a:t>velocidad</a:t>
                </a:r>
                <a:r>
                  <a:rPr lang="en-US" dirty="0"/>
                  <a:t> – </a:t>
                </a:r>
                <a:r>
                  <a:rPr lang="en-US" dirty="0" err="1"/>
                  <a:t>corriente</a:t>
                </a:r>
                <a:endParaRPr lang="en-US" dirty="0"/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CL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s-CL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DD62940F-89A2-49E6-4692-001FBEB4F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9957" y="2249487"/>
                <a:ext cx="4747087" cy="3541714"/>
              </a:xfrm>
              <a:blipFill>
                <a:blip r:embed="rId4"/>
                <a:stretch>
                  <a:fillRect l="-1542" t="-223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7DD8210A-F629-E101-5ACC-23285A351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988" y="1328060"/>
            <a:ext cx="4635583" cy="420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9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Motores Serie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devanado de excitación está conectado en serie con la armadura.</a:t>
            </a:r>
          </a:p>
          <a:p>
            <a:endParaRPr lang="es-CL" dirty="0"/>
          </a:p>
          <a:p>
            <a:r>
              <a:rPr lang="es-CL" dirty="0"/>
              <a:t>Ofrece un alto torque de arranque, pero la velocidad varía mucho con la carga.</a:t>
            </a:r>
          </a:p>
          <a:p>
            <a:endParaRPr lang="es-CL" dirty="0"/>
          </a:p>
          <a:p>
            <a:r>
              <a:rPr lang="es-CL" dirty="0"/>
              <a:t>Se usa en aplicaciones como locomotoras eléctricas, grúas y elevadores, donde se necesita un arranque potente.</a:t>
            </a:r>
          </a:p>
        </p:txBody>
      </p:sp>
    </p:spTree>
    <p:extLst>
      <p:ext uri="{BB962C8B-B14F-4D97-AF65-F5344CB8AC3E}">
        <p14:creationId xmlns:p14="http://schemas.microsoft.com/office/powerpoint/2010/main" val="802051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9FB19-ECB9-EE94-59C9-04F0872A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0B5394"/>
                </a:solidFill>
              </a:rPr>
              <a:t>Motores</a:t>
            </a:r>
            <a:r>
              <a:rPr lang="en-US" dirty="0">
                <a:solidFill>
                  <a:srgbClr val="0B5394"/>
                </a:solidFill>
              </a:rPr>
              <a:t> Serie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5BD19164-3C24-8782-8A50-EAE43234C7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9957" y="2249487"/>
                <a:ext cx="4747087" cy="3541714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85750">
                  <a:spcAft>
                    <a:spcPts val="600"/>
                  </a:spcAft>
                </a:pPr>
                <a:r>
                  <a:rPr lang="en-US" dirty="0"/>
                  <a:t>Ecuación de </a:t>
                </a:r>
                <a:r>
                  <a:rPr lang="en-US" dirty="0" err="1"/>
                  <a:t>velocidad</a:t>
                </a:r>
                <a:r>
                  <a:rPr lang="en-US" dirty="0"/>
                  <a:t> - torque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𝜙𝜔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>
                  <a:spcAft>
                    <a:spcPts val="600"/>
                  </a:spcAft>
                </a:pPr>
                <a:r>
                  <a:rPr lang="en-US" dirty="0" err="1"/>
                  <a:t>Ecuacion</a:t>
                </a:r>
                <a:r>
                  <a:rPr lang="en-US" dirty="0"/>
                  <a:t> de </a:t>
                </a:r>
                <a:r>
                  <a:rPr lang="en-US" dirty="0" err="1"/>
                  <a:t>velocidad</a:t>
                </a:r>
                <a:r>
                  <a:rPr lang="en-US" dirty="0"/>
                  <a:t> – </a:t>
                </a:r>
                <a:r>
                  <a:rPr lang="en-US" dirty="0" err="1"/>
                  <a:t>corriente</a:t>
                </a:r>
                <a:endParaRPr lang="en-US" dirty="0"/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CL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s-CL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Marcador de contenido 5">
                <a:extLst>
                  <a:ext uri="{FF2B5EF4-FFF2-40B4-BE49-F238E27FC236}">
                    <a16:creationId xmlns:a16="http://schemas.microsoft.com/office/drawing/2014/main" id="{5BD19164-3C24-8782-8A50-EAE43234C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9957" y="2249487"/>
                <a:ext cx="4747087" cy="3541714"/>
              </a:xfrm>
              <a:blipFill>
                <a:blip r:embed="rId4"/>
                <a:stretch>
                  <a:fillRect l="-1542" t="-2238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E53DE8B-A239-2C33-5967-6023DE3A2C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189" y="1147145"/>
            <a:ext cx="2845180" cy="456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62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68005-2345-7844-186E-12DC6DB2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800" dirty="0">
                <a:solidFill>
                  <a:srgbClr val="0B5394"/>
                </a:solidFill>
              </a:rPr>
              <a:t>Diferencias entre Shunt y serie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D686D6-C4D8-7C3B-B75A-2A39369EDF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El devanado de campo en serie se compone de un número menor de vueltas que el devanado de campo en shunt</a:t>
            </a:r>
          </a:p>
          <a:p>
            <a:pPr>
              <a:spcAft>
                <a:spcPts val="600"/>
              </a:spcAft>
            </a:pPr>
            <a:r>
              <a:rPr lang="es-ES" dirty="0"/>
              <a:t>El devanado de campo en serie transporta una corriente mucho mayor que el devanado de campo en shunt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2972916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6930</TotalTime>
  <Words>459</Words>
  <Application>Microsoft Office PowerPoint</Application>
  <PresentationFormat>Panorámica</PresentationFormat>
  <Paragraphs>69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Aptos</vt:lpstr>
      <vt:lpstr>Arial</vt:lpstr>
      <vt:lpstr>Bungee Shade</vt:lpstr>
      <vt:lpstr>Calibri</vt:lpstr>
      <vt:lpstr>Cambria Math</vt:lpstr>
      <vt:lpstr>Roboto Slab</vt:lpstr>
      <vt:lpstr>Times New Roman</vt:lpstr>
      <vt:lpstr>robotica</vt:lpstr>
      <vt:lpstr>Mecatrónica ME-4250</vt:lpstr>
      <vt:lpstr>Que veremos hoy ?</vt:lpstr>
      <vt:lpstr>Motores Eléctricos</vt:lpstr>
      <vt:lpstr>Partes de un motor eléctrico </vt:lpstr>
      <vt:lpstr>Motores de corriente continua</vt:lpstr>
      <vt:lpstr>Porque usar motores cc?</vt:lpstr>
      <vt:lpstr>Fundamento de los motores de cc</vt:lpstr>
      <vt:lpstr>La importancia del conmutador</vt:lpstr>
      <vt:lpstr>Presentación de PowerPoint</vt:lpstr>
      <vt:lpstr>Clasificación de motores cc</vt:lpstr>
      <vt:lpstr>Motores Excitados Independientemente</vt:lpstr>
      <vt:lpstr>Motores excitados independientes</vt:lpstr>
      <vt:lpstr>Motores Shunt (Paralelo)</vt:lpstr>
      <vt:lpstr>Motores Shunt</vt:lpstr>
      <vt:lpstr>Motores Serie</vt:lpstr>
      <vt:lpstr>Motores Serie</vt:lpstr>
      <vt:lpstr>Diferencias entre Shunt y serie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Home</cp:lastModifiedBy>
  <cp:revision>15</cp:revision>
  <dcterms:created xsi:type="dcterms:W3CDTF">2022-08-03T00:34:22Z</dcterms:created>
  <dcterms:modified xsi:type="dcterms:W3CDTF">2025-03-31T15:00:11Z</dcterms:modified>
</cp:coreProperties>
</file>