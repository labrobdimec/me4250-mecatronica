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14"/>
  </p:notesMasterIdLst>
  <p:sldIdLst>
    <p:sldId id="272" r:id="rId5"/>
    <p:sldId id="276" r:id="rId6"/>
    <p:sldId id="277" r:id="rId7"/>
    <p:sldId id="278" r:id="rId8"/>
    <p:sldId id="279" r:id="rId9"/>
    <p:sldId id="280" r:id="rId10"/>
    <p:sldId id="285" r:id="rId11"/>
    <p:sldId id="286" r:id="rId12"/>
    <p:sldId id="283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5E208-CB13-4122-8B1E-9B3F34D03434}" type="datetimeFigureOut">
              <a:rPr lang="es-ES" smtClean="0"/>
              <a:t>02/06/2025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213F7-D03F-414B-8AEE-A8410AEAD33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7602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6933">
                <a:solidFill>
                  <a:srgbClr val="0B539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3733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5356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4211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911867" y="593367"/>
            <a:ext cx="1086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871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109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9916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5655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7634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1588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519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049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9349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02-06-2025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3988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02-06-2025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668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lvl="2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lvl="3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lvl="4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lvl="5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lvl="6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lvl="7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lvl="8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5">
            <a:alphaModFix amt="63000"/>
          </a:blip>
          <a:stretch>
            <a:fillRect/>
          </a:stretch>
        </p:blipFill>
        <p:spPr>
          <a:xfrm>
            <a:off x="0" y="-62767"/>
            <a:ext cx="2015307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16">
            <a:alphaModFix amt="63000"/>
          </a:blip>
          <a:stretch>
            <a:fillRect/>
          </a:stretch>
        </p:blipFill>
        <p:spPr>
          <a:xfrm>
            <a:off x="11243117" y="-15"/>
            <a:ext cx="948900" cy="9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lvl="1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lvl="2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lvl="3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lvl="4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lvl="5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lvl="6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lvl="7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lvl="8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15533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415604" y="992767"/>
            <a:ext cx="5571127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algn="l">
              <a:buSzPct val="100000"/>
            </a:pPr>
            <a:r>
              <a:rPr lang="es" dirty="0"/>
              <a:t>Mecatrónica</a:t>
            </a:r>
            <a:endParaRPr dirty="0"/>
          </a:p>
          <a:p>
            <a:pPr algn="l">
              <a:buSzPct val="208000"/>
            </a:pPr>
            <a:r>
              <a:rPr lang="es" sz="3333" dirty="0"/>
              <a:t>ME-4250</a:t>
            </a:r>
            <a:endParaRPr sz="3333" dirty="0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fld id="{00000000-1234-1234-1234-123412341234}" type="slidenum">
              <a:rPr lang="es"/>
              <a:pPr/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152400" y="5887500"/>
            <a:ext cx="3288400" cy="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s" sz="1867"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867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E3412E-AD6B-8A27-3426-57A6631C5F4D}"/>
              </a:ext>
            </a:extLst>
          </p:cNvPr>
          <p:cNvSpPr txBox="1"/>
          <p:nvPr/>
        </p:nvSpPr>
        <p:spPr>
          <a:xfrm>
            <a:off x="415605" y="4393035"/>
            <a:ext cx="4557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Font typeface="Roboto Slab"/>
              <a:buNone/>
              <a:tabLst/>
              <a:defRPr/>
            </a:pPr>
            <a:r>
              <a:rPr kumimoji="0" lang="es-CL" sz="2400" b="0" i="0" u="none" strike="noStrike" kern="0" cap="none" spc="0" normalizeH="0" baseline="0" noProof="0" dirty="0">
                <a:ln>
                  <a:noFill/>
                </a:ln>
                <a:solidFill>
                  <a:srgbClr val="0B5394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rPr>
              <a:t>Introducción a Control</a:t>
            </a: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2495D8B0-D249-4F92-CC4F-2C66947E3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54268"/>
            <a:ext cx="5795214" cy="44924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448ED-3EFF-D86F-AD40-2EAE20262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s-CL"/>
              <a:t>Contenido 	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AE0101-D7BD-0696-4371-F0702AF07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467" y="1093788"/>
            <a:ext cx="5831944" cy="4697413"/>
          </a:xfrm>
        </p:spPr>
        <p:txBody>
          <a:bodyPr>
            <a:normAutofit/>
          </a:bodyPr>
          <a:lstStyle/>
          <a:p>
            <a:r>
              <a:rPr lang="es-CL" dirty="0"/>
              <a:t>Introducción </a:t>
            </a:r>
          </a:p>
          <a:p>
            <a:r>
              <a:rPr lang="es-CL" dirty="0"/>
              <a:t>Retroalimentación</a:t>
            </a:r>
          </a:p>
          <a:p>
            <a:r>
              <a:rPr lang="es-CL" dirty="0"/>
              <a:t>Formas de retroalimentación </a:t>
            </a:r>
          </a:p>
          <a:p>
            <a:pPr lvl="1"/>
            <a:r>
              <a:rPr lang="es-CL" dirty="0"/>
              <a:t>Control </a:t>
            </a:r>
            <a:r>
              <a:rPr lang="es-CL" dirty="0" err="1"/>
              <a:t>on</a:t>
            </a:r>
            <a:r>
              <a:rPr lang="es-CL" dirty="0"/>
              <a:t>-off</a:t>
            </a:r>
          </a:p>
          <a:p>
            <a:pPr lvl="1"/>
            <a:r>
              <a:rPr lang="es-CL" dirty="0"/>
              <a:t>Control Proporcional</a:t>
            </a:r>
          </a:p>
          <a:p>
            <a:pPr lvl="1"/>
            <a:r>
              <a:rPr lang="es-CL" dirty="0"/>
              <a:t>Control Integral </a:t>
            </a:r>
          </a:p>
          <a:p>
            <a:pPr lvl="1"/>
            <a:r>
              <a:rPr lang="es-CL" dirty="0"/>
              <a:t>Control Derivativo</a:t>
            </a:r>
          </a:p>
          <a:p>
            <a:pPr lvl="1"/>
            <a:r>
              <a:rPr lang="es-CL" dirty="0"/>
              <a:t>Control PID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6057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DD3B1-E369-3895-A27D-BB9D4E8E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CL"/>
              <a:t>Introducción </a:t>
            </a:r>
            <a:endParaRPr lang="es-CL" dirty="0"/>
          </a:p>
        </p:txBody>
      </p:sp>
      <p:pic>
        <p:nvPicPr>
          <p:cNvPr id="5" name="Marcador de contenido 4" descr="Texto&#10;&#10;Descripción generada automáticamente con confianza baja">
            <a:extLst>
              <a:ext uri="{FF2B5EF4-FFF2-40B4-BE49-F238E27FC236}">
                <a16:creationId xmlns:a16="http://schemas.microsoft.com/office/drawing/2014/main" id="{6FD03896-83BD-85AD-E6C7-9C1AB9D289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47" y="2249486"/>
            <a:ext cx="3541714" cy="3541714"/>
          </a:xfrm>
          <a:noFill/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DB50125-FECF-F499-4189-5AAC6824493A}"/>
              </a:ext>
            </a:extLst>
          </p:cNvPr>
          <p:cNvSpPr txBox="1"/>
          <p:nvPr/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normAutofit/>
          </a:bodyPr>
          <a:lstStyle/>
          <a:p>
            <a:pPr marL="457200" indent="-342900" algn="just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  <a:buFont typeface="Roboto Slab"/>
              <a:buChar char="●"/>
            </a:pPr>
            <a:r>
              <a:rPr lang="en-US"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¿ Qué es la retroalimentación?</a:t>
            </a:r>
          </a:p>
          <a:p>
            <a:pPr marL="457200" indent="-342900" algn="just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  <a:buFont typeface="Roboto Slab"/>
              <a:buChar char="●"/>
            </a:pPr>
            <a:endParaRPr lang="en-US" sz="1800">
              <a:solidFill>
                <a:schemeClr val="dk2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457200" indent="-342900" algn="just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  <a:buFont typeface="Roboto Slab"/>
              <a:buChar char="●"/>
            </a:pPr>
            <a:r>
              <a:rPr lang="en-US"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¿ Porque usar la Retroalimentación ?</a:t>
            </a:r>
          </a:p>
          <a:p>
            <a:pPr marL="457200" indent="-342900" algn="just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  <a:buFont typeface="Roboto Slab"/>
              <a:buChar char="●"/>
            </a:pPr>
            <a:endParaRPr lang="en-US" sz="1800">
              <a:solidFill>
                <a:schemeClr val="dk2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457200" indent="-342900" algn="just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  <a:buFont typeface="Roboto Slab"/>
              <a:buChar char="●"/>
            </a:pPr>
            <a:r>
              <a:rPr lang="en-US"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¿Que es el controlador PID ?</a:t>
            </a:r>
          </a:p>
          <a:p>
            <a:pPr marL="457200" indent="-342900" algn="just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  <a:buFont typeface="Roboto Slab"/>
              <a:buChar char="●"/>
            </a:pPr>
            <a:endParaRPr lang="en-US" sz="1800">
              <a:solidFill>
                <a:schemeClr val="dk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46073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D6FAA-D761-51CE-5E15-57CC5CC83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Marcador de contenido 4" descr="Foto en blanco y negro de un hombre con uniforme blanco&#10;&#10;Descripción generada automáticamente con confianza media">
            <a:extLst>
              <a:ext uri="{FF2B5EF4-FFF2-40B4-BE49-F238E27FC236}">
                <a16:creationId xmlns:a16="http://schemas.microsoft.com/office/drawing/2014/main" id="{F704574C-1990-D043-67AD-64C6AE898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431" y="922506"/>
            <a:ext cx="9021961" cy="5012987"/>
          </a:xfrm>
        </p:spPr>
      </p:pic>
    </p:spTree>
    <p:extLst>
      <p:ext uri="{BB962C8B-B14F-4D97-AF65-F5344CB8AC3E}">
        <p14:creationId xmlns:p14="http://schemas.microsoft.com/office/powerpoint/2010/main" val="155196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1E4D2-EDC1-1EA0-68A5-2103C1BF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87712"/>
          </a:xfrm>
        </p:spPr>
        <p:txBody>
          <a:bodyPr>
            <a:normAutofit fontScale="90000"/>
          </a:bodyPr>
          <a:lstStyle/>
          <a:p>
            <a:r>
              <a:rPr lang="es-CL" dirty="0"/>
              <a:t>Retroalimentación	</a:t>
            </a:r>
          </a:p>
        </p:txBody>
      </p:sp>
      <p:pic>
        <p:nvPicPr>
          <p:cNvPr id="4" name="Marcador de contenido 3" descr="Diagrama&#10;&#10;Descripción generada automáticamente">
            <a:extLst>
              <a:ext uri="{FF2B5EF4-FFF2-40B4-BE49-F238E27FC236}">
                <a16:creationId xmlns:a16="http://schemas.microsoft.com/office/drawing/2014/main" id="{422C4757-5227-1E98-8CA0-6F6E0832F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8885" y="2596490"/>
            <a:ext cx="7571053" cy="258806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2DAED51-07C7-020F-0895-3CBF2069EE95}"/>
              </a:ext>
            </a:extLst>
          </p:cNvPr>
          <p:cNvSpPr txBox="1"/>
          <p:nvPr/>
        </p:nvSpPr>
        <p:spPr>
          <a:xfrm>
            <a:off x="3044030" y="5360790"/>
            <a:ext cx="6100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Diagrama de bloques de un proceso con un controlador por realimentación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71142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5E2D1C32-D6E8-1A3A-459D-F16C3BEE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46331"/>
          </a:xfrm>
        </p:spPr>
        <p:txBody>
          <a:bodyPr/>
          <a:lstStyle/>
          <a:p>
            <a:r>
              <a:rPr lang="es-CL" dirty="0"/>
              <a:t>Formas de retroalimentación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Marcador de contenido 15">
                <a:extLst>
                  <a:ext uri="{FF2B5EF4-FFF2-40B4-BE49-F238E27FC236}">
                    <a16:creationId xmlns:a16="http://schemas.microsoft.com/office/drawing/2014/main" id="{A79D9776-E45E-AADA-2DB0-2CC6C2C72B4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CL" dirty="0"/>
                  <a:t>Control </a:t>
                </a:r>
                <a:r>
                  <a:rPr lang="es-CL" dirty="0" err="1"/>
                  <a:t>On</a:t>
                </a:r>
                <a:r>
                  <a:rPr lang="es-CL" dirty="0"/>
                  <a:t>-off</a:t>
                </a:r>
              </a:p>
              <a:p>
                <a:pPr marL="0" indent="0">
                  <a:buNone/>
                </a:pPr>
                <a:endParaRPr lang="es-CL" dirty="0"/>
              </a:p>
              <a:p>
                <a:pPr marL="0" indent="0">
                  <a:buNone/>
                </a:pPr>
                <a:r>
                  <a:rPr lang="es-ES" dirty="0"/>
                  <a:t>Implica el uso de una acción correctora máxima</a:t>
                </a:r>
              </a:p>
              <a:p>
                <a:pPr marL="0" indent="0">
                  <a:buNone/>
                </a:pPr>
                <a:endParaRPr lang="es-ES" sz="18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CL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r>
                        <a:rPr lang="es-CL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</m:t>
                      </m:r>
                      <m:d>
                        <m:dPr>
                          <m:begChr m:val="{"/>
                          <m:endChr m:val=""/>
                          <m:ctrlP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,            </m:t>
                              </m:r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𝑖𝑓</m:t>
                              </m:r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&gt;0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𝑚𝑖𝑛</m:t>
                                  </m:r>
                                </m:sub>
                              </m:sSub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,             </m:t>
                              </m:r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𝑖𝑓</m:t>
                              </m:r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CL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CL" dirty="0"/>
              </a:p>
              <a:p>
                <a:pPr marL="0" indent="0">
                  <a:buNone/>
                </a:pPr>
                <a:endParaRPr lang="es-CL" dirty="0"/>
              </a:p>
            </p:txBody>
          </p:sp>
        </mc:Choice>
        <mc:Fallback xmlns="">
          <p:sp>
            <p:nvSpPr>
              <p:cNvPr id="16" name="Marcador de contenido 15">
                <a:extLst>
                  <a:ext uri="{FF2B5EF4-FFF2-40B4-BE49-F238E27FC236}">
                    <a16:creationId xmlns:a16="http://schemas.microsoft.com/office/drawing/2014/main" id="{A79D9776-E45E-AADA-2DB0-2CC6C2C72B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75" t="-172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Marcador de contenido 16">
                <a:extLst>
                  <a:ext uri="{FF2B5EF4-FFF2-40B4-BE49-F238E27FC236}">
                    <a16:creationId xmlns:a16="http://schemas.microsoft.com/office/drawing/2014/main" id="{0B3CE215-14FB-0C36-C3E8-69F2BA32D2F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CL" dirty="0"/>
                  <a:t>Control Proporcional</a:t>
                </a:r>
              </a:p>
              <a:p>
                <a:pPr marL="0" indent="0">
                  <a:buNone/>
                </a:pPr>
                <a:endParaRPr lang="es-CL" dirty="0"/>
              </a:p>
              <a:p>
                <a:pPr marL="0" indent="0">
                  <a:buNone/>
                </a:pPr>
                <a:r>
                  <a:rPr lang="es-CL" dirty="0"/>
                  <a:t>Evita que la variable manipulada varíe entre los valores </a:t>
                </a:r>
                <a:r>
                  <a:rPr lang="es-CL" dirty="0" err="1"/>
                  <a:t>maximos</a:t>
                </a:r>
                <a:endParaRPr lang="es-CL" dirty="0"/>
              </a:p>
              <a:p>
                <a:pPr marL="0" indent="0">
                  <a:buNone/>
                </a:pPr>
                <a:endParaRPr lang="es-C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CL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r>
                        <a:rPr lang="es-CL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s-CL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𝐾𝑝</m:t>
                      </m:r>
                      <m:d>
                        <m:dPr>
                          <m:ctrlPr>
                            <a:rPr lang="es-CL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𝑠𝑝</m:t>
                              </m:r>
                            </m:sub>
                          </m:sSub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MSY10"/>
                              <a:cs typeface="Calibri" panose="020F0502020204030204" pitchFamily="34" charset="0"/>
                            </a:rPr>
                            <m:t>− </m:t>
                          </m:r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𝑦</m:t>
                          </m:r>
                        </m:e>
                      </m:d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𝐾𝑝</m:t>
                      </m:r>
                      <m:r>
                        <a:rPr lang="es-CL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∗</m:t>
                      </m:r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𝑒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7" name="Marcador de contenido 16">
                <a:extLst>
                  <a:ext uri="{FF2B5EF4-FFF2-40B4-BE49-F238E27FC236}">
                    <a16:creationId xmlns:a16="http://schemas.microsoft.com/office/drawing/2014/main" id="{0B3CE215-14FB-0C36-C3E8-69F2BA32D2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03" t="-172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012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5E2D1C32-D6E8-1A3A-459D-F16C3BEE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46331"/>
          </a:xfrm>
        </p:spPr>
        <p:txBody>
          <a:bodyPr/>
          <a:lstStyle/>
          <a:p>
            <a:r>
              <a:rPr lang="es-CL" dirty="0"/>
              <a:t>Formas de retroalimentación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Marcador de contenido 15">
                <a:extLst>
                  <a:ext uri="{FF2B5EF4-FFF2-40B4-BE49-F238E27FC236}">
                    <a16:creationId xmlns:a16="http://schemas.microsoft.com/office/drawing/2014/main" id="{A79D9776-E45E-AADA-2DB0-2CC6C2C72B4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L" dirty="0"/>
                  <a:t>Control Integral</a:t>
                </a:r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Disminuye y elimina el error en estado estacionario.</a:t>
                </a:r>
              </a:p>
              <a:p>
                <a:pPr marL="0" indent="0">
                  <a:buNone/>
                </a:pPr>
                <a:endParaRPr lang="es-ES" sz="18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CL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lang="es-CL" sz="18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CL" sz="18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</m:e>
                        <m:sub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trlPr>
                            <a:rPr lang="es-CL" sz="18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sup>
                        <m:e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</m:t>
                          </m:r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s-CL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CL" dirty="0"/>
              </a:p>
              <a:p>
                <a:pPr marL="0" indent="0">
                  <a:buNone/>
                </a:pPr>
                <a:endParaRPr lang="es-CL" dirty="0"/>
              </a:p>
            </p:txBody>
          </p:sp>
        </mc:Choice>
        <mc:Fallback>
          <p:sp>
            <p:nvSpPr>
              <p:cNvPr id="16" name="Marcador de contenido 15">
                <a:extLst>
                  <a:ext uri="{FF2B5EF4-FFF2-40B4-BE49-F238E27FC236}">
                    <a16:creationId xmlns:a16="http://schemas.microsoft.com/office/drawing/2014/main" id="{A79D9776-E45E-AADA-2DB0-2CC6C2C72B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000" r="-112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Marcador de contenido 16">
                <a:extLst>
                  <a:ext uri="{FF2B5EF4-FFF2-40B4-BE49-F238E27FC236}">
                    <a16:creationId xmlns:a16="http://schemas.microsoft.com/office/drawing/2014/main" id="{0B3CE215-14FB-0C36-C3E8-69F2BA32D2F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L" dirty="0"/>
                  <a:t>Control Derivativo</a:t>
                </a:r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Mantiene el error al mínimo corrigiéndolo proporcionalmente con la misma velocidad que se produce</a:t>
                </a:r>
              </a:p>
              <a:p>
                <a:pPr marL="0" indent="0">
                  <a:buNone/>
                </a:pPr>
                <a:endParaRPr lang="es-C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lang="es-CL" sz="18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CL" sz="18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𝐾</m:t>
                          </m:r>
                        </m:e>
                        <m:sub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</m:t>
                          </m:r>
                        </m:sub>
                      </m:sSub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∗ </m:t>
                      </m:r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𝑇𝑑</m:t>
                      </m:r>
                      <m:f>
                        <m:fPr>
                          <m:ctrlPr>
                            <a:rPr lang="es-CL" sz="18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𝑑𝑒</m:t>
                          </m:r>
                          <m:d>
                            <m:dPr>
                              <m:ctrlP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s-CL" dirty="0"/>
              </a:p>
              <a:p>
                <a:pPr marL="0" indent="0">
                  <a:buNone/>
                </a:pPr>
                <a:endParaRPr lang="es-CL" dirty="0"/>
              </a:p>
            </p:txBody>
          </p:sp>
        </mc:Choice>
        <mc:Fallback>
          <p:sp>
            <p:nvSpPr>
              <p:cNvPr id="17" name="Marcador de contenido 16">
                <a:extLst>
                  <a:ext uri="{FF2B5EF4-FFF2-40B4-BE49-F238E27FC236}">
                    <a16:creationId xmlns:a16="http://schemas.microsoft.com/office/drawing/2014/main" id="{0B3CE215-14FB-0C36-C3E8-69F2BA32D2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126" r="-112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48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03A76-C76A-B0BE-4DCF-B2583402A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07533"/>
            <a:ext cx="9905998" cy="1092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Control </a:t>
            </a:r>
            <a:r>
              <a:rPr lang="en-US" dirty="0" err="1"/>
              <a:t>pid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9C16878-9553-17A8-9278-155E2E28013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00" y="2368871"/>
                <a:ext cx="4784933" cy="923500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𝑢</m:t>
                      </m:r>
                      <m:d>
                        <m:dPr>
                          <m:ctrlPr>
                            <a:rPr lang="es-CL" sz="18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CL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𝐾</m:t>
                      </m:r>
                      <m:r>
                        <a:rPr lang="es-CL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d>
                        <m:dPr>
                          <m:endChr m:val=""/>
                          <m:ctrlPr>
                            <a:rPr lang="es-CL" sz="18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  <m:d>
                                <m:dPr>
                                  <m:ctrlP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CL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nary>
                                <m:naryPr>
                                  <m:ctrlP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𝑒</m:t>
                                  </m:r>
                                  <m:d>
                                    <m:dPr>
                                      <m:ctrlP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𝑑</m:t>
                                  </m:r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𝜏</m:t>
                                  </m:r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f>
                                    <m:fPr>
                                      <m:ctrlP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𝑑𝑒</m:t>
                                      </m:r>
                                      <m:d>
                                        <m:dPr>
                                          <m:ctrlPr>
                                            <a:rPr lang="es-CL" sz="1800" i="1">
                                              <a:effectLst/>
                                              <a:latin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L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Calibri" panose="020F0502020204030204" pitchFamily="34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s-CL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  <m:r>
                                    <a:rPr lang="es-CL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  </m:t>
                                  </m:r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9C16878-9553-17A8-9278-155E2E280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00" y="2368871"/>
                <a:ext cx="4784933" cy="923500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n 9" descr="Diagrama&#10;&#10;Descripción generada automáticamente">
            <a:extLst>
              <a:ext uri="{FF2B5EF4-FFF2-40B4-BE49-F238E27FC236}">
                <a16:creationId xmlns:a16="http://schemas.microsoft.com/office/drawing/2014/main" id="{9890F4D3-4A99-02D0-EE73-798BAB7F91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1460" y="3486468"/>
            <a:ext cx="5210810" cy="2220595"/>
          </a:xfrm>
          <a:prstGeom prst="rect">
            <a:avLst/>
          </a:prstGeom>
        </p:spPr>
      </p:pic>
      <p:sp>
        <p:nvSpPr>
          <p:cNvPr id="51" name="CuadroTexto 50">
            <a:extLst>
              <a:ext uri="{FF2B5EF4-FFF2-40B4-BE49-F238E27FC236}">
                <a16:creationId xmlns:a16="http://schemas.microsoft.com/office/drawing/2014/main" id="{79313BA8-87B3-ECCB-DE37-9AED85C2DC14}"/>
              </a:ext>
            </a:extLst>
          </p:cNvPr>
          <p:cNvSpPr txBox="1"/>
          <p:nvPr/>
        </p:nvSpPr>
        <p:spPr>
          <a:xfrm>
            <a:off x="1478492" y="2338917"/>
            <a:ext cx="35199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s-ES" sz="18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La acción de control es así una suma de tres términos que representan el pasado por la acción integral del error (el término-I), el presente (el término-P) y el futuro por una extrapolación lineal del error (el término-D). </a:t>
            </a:r>
            <a:endParaRPr lang="en-US" sz="18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639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0B392-5536-2C1C-7AAA-EF31C8AA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16B7E0-0EF8-DA1A-C522-97CB9AB77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2673" y="2271712"/>
            <a:ext cx="7883477" cy="2314575"/>
          </a:xfrm>
        </p:spPr>
      </p:pic>
    </p:spTree>
    <p:extLst>
      <p:ext uri="{BB962C8B-B14F-4D97-AF65-F5344CB8AC3E}">
        <p14:creationId xmlns:p14="http://schemas.microsoft.com/office/powerpoint/2010/main" val="1188613231"/>
      </p:ext>
    </p:extLst>
  </p:cSld>
  <p:clrMapOvr>
    <a:masterClrMapping/>
  </p:clrMapOvr>
</p:sld>
</file>

<file path=ppt/theme/theme1.xml><?xml version="1.0" encoding="utf-8"?>
<a:theme xmlns:a="http://schemas.openxmlformats.org/drawingml/2006/main" name="robotic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botica" id="{647D301C-52C8-4CB2-BB7A-ED930B029529}" vid="{7BBA8B0D-E075-4FF6-8C72-3370B3451D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495D67534C59A4AA499B35CC001B245" ma:contentTypeVersion="2" ma:contentTypeDescription="Crear nuevo documento." ma:contentTypeScope="" ma:versionID="ade57ecb85f6beb451af34bc4e0d7f9e">
  <xsd:schema xmlns:xsd="http://www.w3.org/2001/XMLSchema" xmlns:xs="http://www.w3.org/2001/XMLSchema" xmlns:p="http://schemas.microsoft.com/office/2006/metadata/properties" xmlns:ns3="e6588a77-f2ab-4b21-8ceb-343653886883" targetNamespace="http://schemas.microsoft.com/office/2006/metadata/properties" ma:root="true" ma:fieldsID="9d90444834dd73212467bda3304e7aea" ns3:_="">
    <xsd:import namespace="e6588a77-f2ab-4b21-8ceb-34365388688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588a77-f2ab-4b21-8ceb-3436538868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53E1D7-B4CF-4D99-9509-13BCCFBBA5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588a77-f2ab-4b21-8ceb-3436538868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59C1C7-FC3F-4EA8-861C-B84AE318E8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93D41A-973B-4BC7-B432-4A63EB729FB7}">
  <ds:schemaRefs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dcmitype/"/>
    <ds:schemaRef ds:uri="e6588a77-f2ab-4b21-8ceb-34365388688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robotica</Template>
  <TotalTime>9552</TotalTime>
  <Words>189</Words>
  <Application>Microsoft Office PowerPoint</Application>
  <PresentationFormat>Panorámica</PresentationFormat>
  <Paragraphs>48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Aptos</vt:lpstr>
      <vt:lpstr>Arial</vt:lpstr>
      <vt:lpstr>Bungee Shade</vt:lpstr>
      <vt:lpstr>Calibri</vt:lpstr>
      <vt:lpstr>Cambria Math</vt:lpstr>
      <vt:lpstr>Roboto Slab</vt:lpstr>
      <vt:lpstr>robotica</vt:lpstr>
      <vt:lpstr>Mecatrónica ME-4250</vt:lpstr>
      <vt:lpstr>Contenido  </vt:lpstr>
      <vt:lpstr>Introducción </vt:lpstr>
      <vt:lpstr>Presentación de PowerPoint</vt:lpstr>
      <vt:lpstr>Retroalimentación </vt:lpstr>
      <vt:lpstr>Formas de retroalimentación </vt:lpstr>
      <vt:lpstr>Formas de retroalimentación </vt:lpstr>
      <vt:lpstr>Control pid</vt:lpstr>
      <vt:lpstr>Ejemplo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Valenzuela Coloma (harold.valenzuela)</dc:creator>
  <cp:lastModifiedBy>Harold Valenzuela Coloma (harold.valenzuela)</cp:lastModifiedBy>
  <cp:revision>27</cp:revision>
  <dcterms:created xsi:type="dcterms:W3CDTF">2022-08-03T00:34:22Z</dcterms:created>
  <dcterms:modified xsi:type="dcterms:W3CDTF">2025-06-02T06:45:49Z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0x0101003495D67534C59A4AA499B35CC001B245</vt:lpwstr>
  </property>
</Properties>
</file>