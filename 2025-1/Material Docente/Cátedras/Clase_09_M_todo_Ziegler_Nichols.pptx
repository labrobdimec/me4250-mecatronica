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19"/>
  </p:notesMasterIdLst>
  <p:sldIdLst>
    <p:sldId id="272" r:id="rId5"/>
    <p:sldId id="276" r:id="rId6"/>
    <p:sldId id="277" r:id="rId7"/>
    <p:sldId id="278" r:id="rId8"/>
    <p:sldId id="287" r:id="rId9"/>
    <p:sldId id="288" r:id="rId10"/>
    <p:sldId id="286" r:id="rId11"/>
    <p:sldId id="289" r:id="rId12"/>
    <p:sldId id="290" r:id="rId13"/>
    <p:sldId id="291" r:id="rId14"/>
    <p:sldId id="292" r:id="rId15"/>
    <p:sldId id="293" r:id="rId16"/>
    <p:sldId id="294" r:id="rId17"/>
    <p:sldId id="295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F5E208-CB13-4122-8B1E-9B3F34D03434}" type="datetimeFigureOut">
              <a:rPr lang="es-ES" smtClean="0"/>
              <a:t>09/06/2025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213F7-D03F-414B-8AEE-A8410AEAD33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7602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200"/>
              <a:buNone/>
              <a:defRPr sz="6933">
                <a:solidFill>
                  <a:srgbClr val="0B539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None/>
              <a:defRPr sz="3733">
                <a:solidFill>
                  <a:srgbClr val="1C458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5356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4211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911867" y="593367"/>
            <a:ext cx="1086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just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871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109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9916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5655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7634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1588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519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00499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9349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3C5E-5B1B-4E1D-8601-D9FEB2C67DEB}" type="datetimeFigureOut">
              <a:rPr lang="es-CL" smtClean="0"/>
              <a:t>09-06-2025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3988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3C5E-5B1B-4E1D-8601-D9FEB2C67DEB}" type="datetimeFigureOut">
              <a:rPr lang="es-CL" smtClean="0"/>
              <a:t>09-06-2025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668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lvl="1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lvl="2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lvl="3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lvl="4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lvl="5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lvl="6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lvl="7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lvl="8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5">
            <a:alphaModFix amt="63000"/>
          </a:blip>
          <a:stretch>
            <a:fillRect/>
          </a:stretch>
        </p:blipFill>
        <p:spPr>
          <a:xfrm>
            <a:off x="0" y="-62767"/>
            <a:ext cx="2015307" cy="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>
          <a:blip r:embed="rId16">
            <a:alphaModFix amt="63000"/>
          </a:blip>
          <a:stretch>
            <a:fillRect/>
          </a:stretch>
        </p:blipFill>
        <p:spPr>
          <a:xfrm>
            <a:off x="11243117" y="-15"/>
            <a:ext cx="948900" cy="9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lvl="1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lvl="2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lvl="3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lvl="4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lvl="5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lvl="6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lvl="7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lvl="8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155334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>
            <a:spLocks noGrp="1"/>
          </p:cNvSpPr>
          <p:nvPr>
            <p:ph type="ctrTitle"/>
          </p:nvPr>
        </p:nvSpPr>
        <p:spPr>
          <a:xfrm>
            <a:off x="415604" y="992767"/>
            <a:ext cx="5571127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algn="l">
              <a:buSzPct val="100000"/>
            </a:pPr>
            <a:r>
              <a:rPr lang="es" dirty="0"/>
              <a:t>Mecatrónica</a:t>
            </a:r>
            <a:endParaRPr dirty="0"/>
          </a:p>
          <a:p>
            <a:pPr algn="l">
              <a:buSzPct val="208000"/>
            </a:pPr>
            <a:r>
              <a:rPr lang="es" sz="3333" dirty="0"/>
              <a:t>ME-4250</a:t>
            </a:r>
            <a:endParaRPr sz="3333" dirty="0"/>
          </a:p>
        </p:txBody>
      </p:sp>
      <p:sp>
        <p:nvSpPr>
          <p:cNvPr id="58" name="Google Shape;58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fld id="{00000000-1234-1234-1234-123412341234}" type="slidenum">
              <a:rPr lang="es"/>
              <a:pPr/>
              <a:t>1</a:t>
            </a:fld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1152400" y="5887500"/>
            <a:ext cx="3288400" cy="9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s" sz="1867">
                <a:latin typeface="Roboto Slab"/>
                <a:ea typeface="Roboto Slab"/>
                <a:cs typeface="Roboto Slab"/>
                <a:sym typeface="Roboto Slab"/>
              </a:rPr>
              <a:t>Harold Valenzuela Coloma</a:t>
            </a:r>
            <a:endParaRPr sz="1867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E3412E-AD6B-8A27-3426-57A6631C5F4D}"/>
              </a:ext>
            </a:extLst>
          </p:cNvPr>
          <p:cNvSpPr txBox="1"/>
          <p:nvPr/>
        </p:nvSpPr>
        <p:spPr>
          <a:xfrm>
            <a:off x="415605" y="4393035"/>
            <a:ext cx="45574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Font typeface="Roboto Slab"/>
              <a:buNone/>
              <a:tabLst/>
              <a:defRPr/>
            </a:pPr>
            <a:r>
              <a:rPr lang="es-ES" sz="2400" dirty="0" smtClean="0">
                <a:solidFill>
                  <a:srgbClr val="0B5394"/>
                </a:solidFill>
                <a:latin typeface="Roboto Slab"/>
                <a:ea typeface="Roboto Slab"/>
                <a:cs typeface="Roboto Slab"/>
                <a:sym typeface="Roboto Slab"/>
              </a:rPr>
              <a:t>Método de </a:t>
            </a:r>
            <a:r>
              <a:rPr lang="es-ES" sz="2400" dirty="0" err="1" smtClean="0">
                <a:solidFill>
                  <a:srgbClr val="0B5394"/>
                </a:solidFill>
                <a:latin typeface="Roboto Slab"/>
                <a:ea typeface="Roboto Slab"/>
                <a:cs typeface="Roboto Slab"/>
                <a:sym typeface="Roboto Slab"/>
              </a:rPr>
              <a:t>Ziegler</a:t>
            </a:r>
            <a:r>
              <a:rPr lang="es-ES" sz="2400" dirty="0" smtClean="0">
                <a:solidFill>
                  <a:srgbClr val="0B5394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s-ES" sz="2400" dirty="0" err="1" smtClean="0">
                <a:solidFill>
                  <a:srgbClr val="0B5394"/>
                </a:solidFill>
                <a:latin typeface="Roboto Slab"/>
                <a:ea typeface="Roboto Slab"/>
                <a:cs typeface="Roboto Slab"/>
                <a:sym typeface="Roboto Slab"/>
              </a:rPr>
              <a:t>Nichols</a:t>
            </a:r>
            <a:endParaRPr kumimoji="0" lang="es-CL" sz="2400" b="0" i="0" u="none" strike="noStrike" kern="0" cap="none" spc="0" normalizeH="0" baseline="0" noProof="0" dirty="0">
              <a:ln>
                <a:noFill/>
              </a:ln>
              <a:solidFill>
                <a:srgbClr val="0B5394"/>
              </a:solidFill>
              <a:effectLst/>
              <a:uLnTx/>
              <a:uFillTx/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2495D8B0-D249-4F92-CC4F-2C66947E3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54268"/>
            <a:ext cx="5795214" cy="44924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448ED-3EFF-D86F-AD40-2EAE20262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s-CL"/>
              <a:t>Contenido 	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AE0101-D7BD-0696-4371-F0702AF07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5467" y="1093788"/>
            <a:ext cx="5831944" cy="4697413"/>
          </a:xfrm>
        </p:spPr>
        <p:txBody>
          <a:bodyPr>
            <a:normAutofit/>
          </a:bodyPr>
          <a:lstStyle/>
          <a:p>
            <a:r>
              <a:rPr lang="es-CL" dirty="0"/>
              <a:t>Control PID</a:t>
            </a:r>
          </a:p>
          <a:p>
            <a:pPr lvl="1"/>
            <a:r>
              <a:rPr lang="es-CL" dirty="0"/>
              <a:t>Proporcional</a:t>
            </a:r>
          </a:p>
          <a:p>
            <a:pPr lvl="1"/>
            <a:r>
              <a:rPr lang="es-CL" dirty="0"/>
              <a:t>Integrativo</a:t>
            </a:r>
          </a:p>
          <a:p>
            <a:pPr lvl="1"/>
            <a:r>
              <a:rPr lang="es-CL" dirty="0"/>
              <a:t>PI</a:t>
            </a:r>
          </a:p>
          <a:p>
            <a:pPr lvl="1"/>
            <a:r>
              <a:rPr lang="es-CL" dirty="0"/>
              <a:t>PD</a:t>
            </a:r>
          </a:p>
          <a:p>
            <a:pPr lvl="1"/>
            <a:r>
              <a:rPr lang="es-CL" dirty="0"/>
              <a:t>PID</a:t>
            </a:r>
          </a:p>
          <a:p>
            <a:r>
              <a:rPr lang="es-CL" dirty="0"/>
              <a:t>Método Ziegler Nichols</a:t>
            </a:r>
          </a:p>
          <a:p>
            <a:pPr lvl="1"/>
            <a:r>
              <a:rPr lang="es-CL" dirty="0"/>
              <a:t>Método de Oscilación</a:t>
            </a:r>
          </a:p>
          <a:p>
            <a:pPr lvl="1"/>
            <a:r>
              <a:rPr lang="es-CL" dirty="0"/>
              <a:t>Método Basado en la Curva Reacción</a:t>
            </a:r>
          </a:p>
          <a:p>
            <a:pPr lvl="1"/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6057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DDD3B1-E369-3895-A27D-BB9D4E8E2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CL" dirty="0"/>
              <a:t>Introducción </a:t>
            </a:r>
          </a:p>
        </p:txBody>
      </p:sp>
      <p:pic>
        <p:nvPicPr>
          <p:cNvPr id="5" name="Marcador de contenido 4" descr="Texto&#10;&#10;Descripción generada automáticamente con confianza baja">
            <a:extLst>
              <a:ext uri="{FF2B5EF4-FFF2-40B4-BE49-F238E27FC236}">
                <a16:creationId xmlns:a16="http://schemas.microsoft.com/office/drawing/2014/main" id="{6FD03896-83BD-85AD-E6C7-9C1AB9D289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47" y="2249486"/>
            <a:ext cx="3541714" cy="3541714"/>
          </a:xfrm>
          <a:noFill/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DB50125-FECF-F499-4189-5AAC6824493A}"/>
              </a:ext>
            </a:extLst>
          </p:cNvPr>
          <p:cNvSpPr txBox="1"/>
          <p:nvPr/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rmAutofit/>
          </a:bodyPr>
          <a:lstStyle/>
          <a:p>
            <a:pPr marL="457200" indent="-342900" algn="just">
              <a:lnSpc>
                <a:spcPct val="115000"/>
              </a:lnSpc>
              <a:spcAft>
                <a:spcPts val="600"/>
              </a:spcAft>
              <a:buClr>
                <a:schemeClr val="dk2"/>
              </a:buClr>
              <a:buSzPts val="1800"/>
              <a:buFont typeface="Roboto Slab"/>
              <a:buChar char="●"/>
            </a:pPr>
            <a:r>
              <a:rPr lang="en-US" sz="1800" dirty="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¿Se </a:t>
            </a:r>
            <a:r>
              <a:rPr lang="en-US" sz="1800" dirty="0" err="1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acuerdan</a:t>
            </a:r>
            <a:r>
              <a:rPr lang="en-US" sz="1800" dirty="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 de la </a:t>
            </a:r>
            <a:r>
              <a:rPr lang="en-US" sz="1800" dirty="0" err="1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clase</a:t>
            </a:r>
            <a:r>
              <a:rPr lang="en-US" sz="1800" dirty="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 anterior? ¿Que es </a:t>
            </a:r>
            <a:r>
              <a:rPr lang="en-US" sz="1800" dirty="0" err="1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el</a:t>
            </a:r>
            <a:r>
              <a:rPr lang="en-US" sz="1800" dirty="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controlador</a:t>
            </a:r>
            <a:r>
              <a:rPr lang="en-US" sz="1800" dirty="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 PID ?</a:t>
            </a:r>
          </a:p>
          <a:p>
            <a:pPr marL="457200" indent="-342900" algn="just">
              <a:lnSpc>
                <a:spcPct val="115000"/>
              </a:lnSpc>
              <a:spcAft>
                <a:spcPts val="600"/>
              </a:spcAft>
              <a:buClr>
                <a:schemeClr val="dk2"/>
              </a:buClr>
              <a:buSzPts val="1800"/>
              <a:buFont typeface="Roboto Slab"/>
              <a:buChar char="●"/>
            </a:pPr>
            <a:endParaRPr lang="en-US" sz="1800" dirty="0">
              <a:solidFill>
                <a:schemeClr val="dk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46073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Foto en blanco y negro de un hombre con uniforme blanco&#10;&#10;Descripción generada automáticamente con confianza media">
            <a:extLst>
              <a:ext uri="{FF2B5EF4-FFF2-40B4-BE49-F238E27FC236}">
                <a16:creationId xmlns:a16="http://schemas.microsoft.com/office/drawing/2014/main" id="{F704574C-1990-D043-67AD-64C6AE898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431" y="922506"/>
            <a:ext cx="9021961" cy="5012987"/>
          </a:xfrm>
        </p:spPr>
      </p:pic>
    </p:spTree>
    <p:extLst>
      <p:ext uri="{BB962C8B-B14F-4D97-AF65-F5344CB8AC3E}">
        <p14:creationId xmlns:p14="http://schemas.microsoft.com/office/powerpoint/2010/main" val="155196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ED144-8110-1036-367E-E4D0F752E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Control PID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16">
                <a:extLst>
                  <a:ext uri="{FF2B5EF4-FFF2-40B4-BE49-F238E27FC236}">
                    <a16:creationId xmlns:a16="http://schemas.microsoft.com/office/drawing/2014/main" id="{7B4FCCD5-2D6E-A211-92F9-345FACBF1E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26399" y="1885386"/>
                <a:ext cx="3034966" cy="394023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r>
                  <a:rPr lang="es-CL" sz="1800" dirty="0">
                    <a:latin typeface="Roboto Slab" pitchFamily="2" charset="0"/>
                    <a:ea typeface="Roboto Slab" pitchFamily="2" charset="0"/>
                    <a:cs typeface="Roboto Slab" pitchFamily="2" charset="0"/>
                  </a:rPr>
                  <a:t>Control Derivativo</a:t>
                </a:r>
              </a:p>
              <a:p>
                <a:pPr algn="just"/>
                <a:endParaRPr lang="es-ES" sz="1800" dirty="0">
                  <a:latin typeface="Roboto Slab" pitchFamily="2" charset="0"/>
                  <a:ea typeface="Roboto Slab" pitchFamily="2" charset="0"/>
                  <a:cs typeface="Roboto Slab" pitchFamily="2" charset="0"/>
                </a:endParaRPr>
              </a:p>
              <a:p>
                <a:pPr algn="just"/>
                <a:r>
                  <a:rPr lang="es-ES" sz="1800" dirty="0">
                    <a:latin typeface="Roboto Slab" pitchFamily="2" charset="0"/>
                    <a:ea typeface="Roboto Slab" pitchFamily="2" charset="0"/>
                    <a:cs typeface="Roboto Slab" pitchFamily="2" charset="0"/>
                  </a:rPr>
                  <a:t>Mantiene el error al mínimo corrigiéndolo proporcionalmente con la misma velocidad que se produce</a:t>
                </a:r>
              </a:p>
              <a:p>
                <a:endParaRPr lang="es-CL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CL" sz="180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</m:t>
                      </m:r>
                      <m:d>
                        <m:dPr>
                          <m:ctrlPr>
                            <a:rPr lang="es-CL" sz="18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𝐾</m:t>
                          </m:r>
                        </m:e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𝑑</m:t>
                          </m:r>
                        </m:sub>
                      </m:sSub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∗ </m:t>
                      </m:r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𝑇𝑑</m:t>
                      </m:r>
                      <m:f>
                        <m:fPr>
                          <m:ctrlPr>
                            <a:rPr lang="es-CL" sz="18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𝑑𝑒</m:t>
                          </m:r>
                          <m:d>
                            <m:dPr>
                              <m:ctrlPr>
                                <a:rPr lang="es-CL" sz="18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s-CL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s-CL" dirty="0"/>
              </a:p>
              <a:p>
                <a:r>
                  <a:rPr lang="es-CL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s-CL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e>
                      </m:d>
                      <m:r>
                        <a:rPr lang="es-CL" sz="2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 </m:t>
                      </m:r>
                      <m:r>
                        <a:rPr lang="es-CL" sz="2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𝐾𝑑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∗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5" name="Marcador de contenido 16">
                <a:extLst>
                  <a:ext uri="{FF2B5EF4-FFF2-40B4-BE49-F238E27FC236}">
                    <a16:creationId xmlns:a16="http://schemas.microsoft.com/office/drawing/2014/main" id="{7B4FCCD5-2D6E-A211-92F9-345FACBF1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399" y="1885386"/>
                <a:ext cx="3034966" cy="3940231"/>
              </a:xfrm>
              <a:prstGeom prst="rect">
                <a:avLst/>
              </a:prstGeom>
              <a:blipFill>
                <a:blip r:embed="rId2"/>
                <a:stretch>
                  <a:fillRect l="-1807" t="-773" r="-16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16">
                <a:extLst>
                  <a:ext uri="{FF2B5EF4-FFF2-40B4-BE49-F238E27FC236}">
                    <a16:creationId xmlns:a16="http://schemas.microsoft.com/office/drawing/2014/main" id="{245E62CC-E8A6-1BD1-AF6C-210F7FB9C8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8517" y="1885387"/>
                <a:ext cx="3034966" cy="394023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indent="0">
                  <a:buNone/>
                </a:pPr>
                <a:r>
                  <a:rPr lang="es-CL" sz="1800" dirty="0">
                    <a:latin typeface="Roboto Slab" pitchFamily="2" charset="0"/>
                    <a:ea typeface="Roboto Slab" pitchFamily="2" charset="0"/>
                    <a:cs typeface="Roboto Slab" pitchFamily="2" charset="0"/>
                  </a:rPr>
                  <a:t>Control Integral</a:t>
                </a:r>
              </a:p>
              <a:p>
                <a:pPr marL="0" indent="0">
                  <a:buNone/>
                </a:pPr>
                <a:endParaRPr lang="es-ES" sz="1800" dirty="0">
                  <a:latin typeface="Roboto Slab" pitchFamily="2" charset="0"/>
                  <a:ea typeface="Roboto Slab" pitchFamily="2" charset="0"/>
                  <a:cs typeface="Roboto Slab" pitchFamily="2" charset="0"/>
                </a:endParaRPr>
              </a:p>
              <a:p>
                <a:pPr marL="0" indent="0">
                  <a:buNone/>
                </a:pPr>
                <a:r>
                  <a:rPr lang="es-ES" sz="1800" dirty="0">
                    <a:latin typeface="Roboto Slab" pitchFamily="2" charset="0"/>
                    <a:ea typeface="Roboto Slab" pitchFamily="2" charset="0"/>
                    <a:cs typeface="Roboto Slab" pitchFamily="2" charset="0"/>
                  </a:rPr>
                  <a:t>Disminuye y elimina el error en estado estacionario</a:t>
                </a:r>
                <a:r>
                  <a:rPr lang="es-ES" sz="1800" dirty="0"/>
                  <a:t>.</a:t>
                </a:r>
              </a:p>
              <a:p>
                <a:pPr marL="0" indent="0">
                  <a:buNone/>
                </a:pPr>
                <a:endParaRPr lang="es-ES" sz="180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</m:t>
                      </m:r>
                      <m:d>
                        <m:dPr>
                          <m:ctrlPr>
                            <a:rPr lang="es-CL" sz="18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𝑘</m:t>
                          </m:r>
                        </m:e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trlPr>
                            <a:rPr lang="es-CL" sz="18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  <m:sup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sup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s-CL" sz="18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s-CL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𝑑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s-CL" sz="1800" dirty="0"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s-CL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𝑃𝐼</m:t>
                          </m:r>
                        </m:sub>
                      </m:sSub>
                      <m:r>
                        <a:rPr lang="es-CL" sz="2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es-CL" sz="2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</m:t>
                      </m:r>
                      <m:r>
                        <a:rPr lang="es-CL" sz="2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 = </m:t>
                      </m:r>
                      <m:d>
                        <m:dPr>
                          <m:ctrlPr>
                            <a:rPr lang="es-CL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L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CL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s-CL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CL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CL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CL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7" name="Marcador de contenido 16">
                <a:extLst>
                  <a:ext uri="{FF2B5EF4-FFF2-40B4-BE49-F238E27FC236}">
                    <a16:creationId xmlns:a16="http://schemas.microsoft.com/office/drawing/2014/main" id="{245E62CC-E8A6-1BD1-AF6C-210F7FB9C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517" y="1885387"/>
                <a:ext cx="3034966" cy="3940231"/>
              </a:xfrm>
              <a:prstGeom prst="rect">
                <a:avLst/>
              </a:prstGeom>
              <a:blipFill>
                <a:blip r:embed="rId3"/>
                <a:stretch>
                  <a:fillRect l="-1606" t="-77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Marcador de contenido 16">
                <a:extLst>
                  <a:ext uri="{FF2B5EF4-FFF2-40B4-BE49-F238E27FC236}">
                    <a16:creationId xmlns:a16="http://schemas.microsoft.com/office/drawing/2014/main" id="{F5AB2D9C-5109-CF30-0041-8BD3F93A74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0635" y="1885386"/>
                <a:ext cx="3034966" cy="394023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indent="0">
                  <a:buNone/>
                </a:pPr>
                <a:r>
                  <a:rPr lang="es-CL" sz="1800" dirty="0">
                    <a:latin typeface="Roboto Slab" pitchFamily="2" charset="0"/>
                    <a:ea typeface="Roboto Slab" pitchFamily="2" charset="0"/>
                    <a:cs typeface="Roboto Slab" pitchFamily="2" charset="0"/>
                  </a:rPr>
                  <a:t>Control Proporcional</a:t>
                </a:r>
              </a:p>
              <a:p>
                <a:pPr marL="0" indent="0">
                  <a:buNone/>
                </a:pPr>
                <a:endParaRPr lang="es-CL" sz="1800" dirty="0">
                  <a:latin typeface="Roboto Slab" pitchFamily="2" charset="0"/>
                  <a:ea typeface="Roboto Slab" pitchFamily="2" charset="0"/>
                  <a:cs typeface="Roboto Slab" pitchFamily="2" charset="0"/>
                </a:endParaRPr>
              </a:p>
              <a:p>
                <a:pPr marL="0" indent="0">
                  <a:buNone/>
                </a:pPr>
                <a:r>
                  <a:rPr lang="es-CL" sz="1800" dirty="0">
                    <a:latin typeface="Roboto Slab" pitchFamily="2" charset="0"/>
                    <a:ea typeface="Roboto Slab" pitchFamily="2" charset="0"/>
                    <a:cs typeface="Roboto Slab" pitchFamily="2" charset="0"/>
                  </a:rPr>
                  <a:t>Evita que la variable manipulada varíe entre los valores máximos</a:t>
                </a:r>
              </a:p>
              <a:p>
                <a:pPr marL="0" indent="0">
                  <a:buNone/>
                </a:pPr>
                <a:endParaRPr lang="es-CL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</m:t>
                      </m:r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𝐾𝑝</m:t>
                      </m:r>
                      <m:d>
                        <m:dPr>
                          <m:ctrlP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sz="18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s-CL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L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𝑠𝑝</m:t>
                              </m:r>
                            </m:sub>
                          </m:sSub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MSY10"/>
                              <a:cs typeface="Calibri" panose="020F0502020204030204" pitchFamily="34" charset="0"/>
                            </a:rPr>
                            <m:t>− 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𝑦</m:t>
                          </m:r>
                        </m:e>
                      </m:d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𝐾𝑝</m:t>
                      </m:r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∗</m:t>
                      </m:r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𝑒</m:t>
                      </m:r>
                    </m:oMath>
                  </m:oMathPara>
                </a14:m>
                <a:endParaRPr lang="es-CL" sz="1800" dirty="0"/>
              </a:p>
              <a:p>
                <a:endParaRPr lang="es-CL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s-CL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𝑃</m:t>
                          </m:r>
                        </m:sub>
                      </m:sSub>
                      <m:r>
                        <a:rPr lang="es-CL" sz="2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es-CL" sz="2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</m:t>
                      </m:r>
                      <m:r>
                        <a:rPr lang="es-CL" sz="2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 = </m:t>
                      </m:r>
                      <m:r>
                        <a:rPr lang="es-CL" sz="2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𝐾𝑝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8" name="Marcador de contenido 16">
                <a:extLst>
                  <a:ext uri="{FF2B5EF4-FFF2-40B4-BE49-F238E27FC236}">
                    <a16:creationId xmlns:a16="http://schemas.microsoft.com/office/drawing/2014/main" id="{F5AB2D9C-5109-CF30-0041-8BD3F93A7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635" y="1885386"/>
                <a:ext cx="3034966" cy="3940231"/>
              </a:xfrm>
              <a:prstGeom prst="rect">
                <a:avLst/>
              </a:prstGeom>
              <a:blipFill>
                <a:blip r:embed="rId4"/>
                <a:stretch>
                  <a:fillRect l="-1606" t="-77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833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0E7D4-1248-2319-68FD-2BED78B57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33E24-A599-66FB-6A0A-7ECC7848B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Control PID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16">
                <a:extLst>
                  <a:ext uri="{FF2B5EF4-FFF2-40B4-BE49-F238E27FC236}">
                    <a16:creationId xmlns:a16="http://schemas.microsoft.com/office/drawing/2014/main" id="{F2717AB4-48E3-9AE7-30B7-43E002CAB1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0800" y="1874243"/>
                <a:ext cx="4664400" cy="394023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r>
                  <a:rPr lang="es-CL" sz="1800" dirty="0">
                    <a:latin typeface="Roboto Slab" pitchFamily="2" charset="0"/>
                    <a:ea typeface="Roboto Slab" pitchFamily="2" charset="0"/>
                    <a:cs typeface="Roboto Slab" pitchFamily="2" charset="0"/>
                  </a:rPr>
                  <a:t>Control Proporcional Derivativo</a:t>
                </a:r>
              </a:p>
              <a:p>
                <a:pPr algn="just"/>
                <a:endParaRPr lang="es-ES" sz="1800" dirty="0">
                  <a:latin typeface="Roboto Slab" pitchFamily="2" charset="0"/>
                  <a:ea typeface="Roboto Slab" pitchFamily="2" charset="0"/>
                  <a:cs typeface="Roboto Slab" pitchFamily="2" charset="0"/>
                </a:endParaRPr>
              </a:p>
              <a:p>
                <a:pPr algn="just"/>
                <a:r>
                  <a:rPr lang="es-ES" sz="1800" dirty="0">
                    <a:latin typeface="Roboto Slab" pitchFamily="2" charset="0"/>
                    <a:ea typeface="Roboto Slab" pitchFamily="2" charset="0"/>
                    <a:cs typeface="Roboto Slab" pitchFamily="2" charset="0"/>
                  </a:rPr>
                  <a:t>Responde a la velocidad del cambio del error y produce una corrección significativa antes de que la magnitud del error se vuelva demasiado grande.</a:t>
                </a:r>
              </a:p>
              <a:p>
                <a:pPr algn="just"/>
                <a:endParaRPr lang="es-CL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CL" sz="180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</m:t>
                      </m:r>
                      <m:d>
                        <m:dPr>
                          <m:ctrlPr>
                            <a:rPr lang="es-CL" sz="18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𝐾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𝑒</m:t>
                      </m:r>
                      <m:d>
                        <m:dPr>
                          <m:ctrlP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s-CL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𝐾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∗</m:t>
                      </m:r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𝑇𝑑</m:t>
                      </m:r>
                      <m:f>
                        <m:fPr>
                          <m:ctrlPr>
                            <a:rPr lang="es-CL" sz="18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𝑑𝑒</m:t>
                          </m:r>
                          <m:d>
                            <m:dPr>
                              <m:ctrlPr>
                                <a:rPr lang="es-CL" sz="18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s-CL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s-CL" dirty="0"/>
              </a:p>
              <a:p>
                <a:endParaRPr lang="es-CL" dirty="0"/>
              </a:p>
              <a:p>
                <a:pPr algn="ctr"/>
                <a:r>
                  <a:rPr lang="es-C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L" sz="20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CL" sz="20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PD</m:t>
                        </m:r>
                      </m:sub>
                    </m:sSub>
                    <m:r>
                      <a:rPr lang="es-CL" sz="20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s-CL" sz="20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s</m:t>
                    </m:r>
                    <m:r>
                      <a:rPr lang="es-CL" sz="20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  <m:r>
                      <a:rPr lang="es-CL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s-CL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s-CL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𝐾</m:t>
                        </m:r>
                      </m:e>
                      <m:sub>
                        <m:r>
                          <a:rPr lang="es-CL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sub>
                    </m:sSub>
                    <m:r>
                      <a:rPr lang="es-CL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s-CL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𝑠</m:t>
                    </m:r>
                    <m:sSub>
                      <m:sSubPr>
                        <m:ctrlPr>
                          <a:rPr lang="es-CL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s-CL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𝐾</m:t>
                        </m:r>
                      </m:e>
                      <m:sub>
                        <m:r>
                          <a:rPr lang="es-CL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s-CL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s-CL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  <m:sub>
                        <m:r>
                          <a:rPr lang="es-CL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</m:t>
                        </m:r>
                      </m:sub>
                    </m:sSub>
                  </m:oMath>
                </a14:m>
                <a:endParaRPr lang="es-CL" dirty="0"/>
              </a:p>
            </p:txBody>
          </p:sp>
        </mc:Choice>
        <mc:Fallback xmlns="">
          <p:sp>
            <p:nvSpPr>
              <p:cNvPr id="5" name="Marcador de contenido 16">
                <a:extLst>
                  <a:ext uri="{FF2B5EF4-FFF2-40B4-BE49-F238E27FC236}">
                    <a16:creationId xmlns:a16="http://schemas.microsoft.com/office/drawing/2014/main" id="{F2717AB4-48E3-9AE7-30B7-43E002CAB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874243"/>
                <a:ext cx="4664400" cy="3940231"/>
              </a:xfrm>
              <a:prstGeom prst="rect">
                <a:avLst/>
              </a:prstGeom>
              <a:blipFill>
                <a:blip r:embed="rId2"/>
                <a:stretch>
                  <a:fillRect l="-1046" t="-773" r="-104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Marcador de contenido 16">
                <a:extLst>
                  <a:ext uri="{FF2B5EF4-FFF2-40B4-BE49-F238E27FC236}">
                    <a16:creationId xmlns:a16="http://schemas.microsoft.com/office/drawing/2014/main" id="{510C9073-874B-23CD-B264-B87BD2D9FA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26800" y="1874242"/>
                <a:ext cx="4664400" cy="394023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indent="0">
                  <a:buNone/>
                </a:pPr>
                <a:r>
                  <a:rPr lang="es-CL" sz="1800" dirty="0">
                    <a:latin typeface="Roboto Slab" pitchFamily="2" charset="0"/>
                    <a:ea typeface="Roboto Slab" pitchFamily="2" charset="0"/>
                    <a:cs typeface="Roboto Slab" pitchFamily="2" charset="0"/>
                  </a:rPr>
                  <a:t>Control Proporcional Integrativo</a:t>
                </a:r>
              </a:p>
              <a:p>
                <a:pPr marL="0" indent="0">
                  <a:buNone/>
                </a:pPr>
                <a:endParaRPr lang="es-CL" sz="1800" dirty="0">
                  <a:latin typeface="Roboto Slab" pitchFamily="2" charset="0"/>
                  <a:ea typeface="Roboto Slab" pitchFamily="2" charset="0"/>
                  <a:cs typeface="Roboto Slab" pitchFamily="2" charset="0"/>
                </a:endParaRPr>
              </a:p>
              <a:p>
                <a:pPr marL="0" indent="0">
                  <a:buNone/>
                </a:pPr>
                <a:r>
                  <a:rPr lang="es-ES" sz="1800" dirty="0">
                    <a:latin typeface="Roboto Slab" pitchFamily="2" charset="0"/>
                    <a:ea typeface="Roboto Slab" pitchFamily="2" charset="0"/>
                    <a:cs typeface="Roboto Slab" pitchFamily="2" charset="0"/>
                  </a:rPr>
                  <a:t>Es necesario que exista error para tener una acción de control distinto de cero</a:t>
                </a:r>
              </a:p>
              <a:p>
                <a:pPr marL="0" indent="0">
                  <a:buNone/>
                </a:pPr>
                <a:endParaRPr lang="es-CL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8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𝑢</m:t>
                      </m:r>
                      <m:d>
                        <m:dPr>
                          <m:ctrlPr>
                            <a:rPr lang="es-CL" sz="18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𝐾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𝑒</m:t>
                      </m:r>
                      <m:d>
                        <m:dPr>
                          <m:ctrlP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s-CL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f>
                        <m:fPr>
                          <m:ctrlP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sz="18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s-CL" sz="18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CL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CL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s-CL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CL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s-CL" sz="18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  <m:sup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sup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s-CL" sz="18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s-CL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𝑑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s-CL" sz="1800" dirty="0"/>
              </a:p>
              <a:p>
                <a:pPr marL="0" indent="0">
                  <a:buNone/>
                </a:pPr>
                <a:endParaRPr lang="es-CL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𝑃𝐼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es-CL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</m:t>
                      </m:r>
                      <m:r>
                        <a:rPr lang="es-CL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 = </m:t>
                      </m:r>
                      <m:r>
                        <a:rPr lang="es-CL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𝐾𝑝</m:t>
                      </m:r>
                      <m:d>
                        <m:dPr>
                          <m:ctrlP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s-CL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es-CL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s-CL" sz="18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18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CL" sz="18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CL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CL" sz="1800" dirty="0"/>
              </a:p>
              <a:p>
                <a:endParaRPr lang="es-CL" dirty="0"/>
              </a:p>
              <a:p>
                <a:endParaRPr lang="es-CL" dirty="0"/>
              </a:p>
            </p:txBody>
          </p:sp>
        </mc:Choice>
        <mc:Fallback xmlns="">
          <p:sp>
            <p:nvSpPr>
              <p:cNvPr id="8" name="Marcador de contenido 16">
                <a:extLst>
                  <a:ext uri="{FF2B5EF4-FFF2-40B4-BE49-F238E27FC236}">
                    <a16:creationId xmlns:a16="http://schemas.microsoft.com/office/drawing/2014/main" id="{510C9073-874B-23CD-B264-B87BD2D9F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800" y="1874242"/>
                <a:ext cx="4664400" cy="3940231"/>
              </a:xfrm>
              <a:prstGeom prst="rect">
                <a:avLst/>
              </a:prstGeom>
              <a:blipFill>
                <a:blip r:embed="rId3"/>
                <a:stretch>
                  <a:fillRect l="-1176" t="-77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92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003A76-C76A-B0BE-4DCF-B2583402A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17752"/>
            <a:ext cx="9905998" cy="1092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Control PID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9C16878-9553-17A8-9278-155E2E28013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6000" y="2368871"/>
                <a:ext cx="4784933" cy="923500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</m:t>
                      </m:r>
                      <m:d>
                        <m:dPr>
                          <m:ctrlPr>
                            <a:rPr lang="es-CL" sz="18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CL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𝐾</m:t>
                          </m:r>
                        </m:e>
                        <m:sub>
                          <m:r>
                            <a:rPr lang="es-CL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endChr m:val=""/>
                          <m:ctrlPr>
                            <a:rPr lang="es-CL" sz="1800" i="1" smtClean="0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s-CL" sz="180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𝑒</m:t>
                              </m:r>
                              <m:d>
                                <m:dPr>
                                  <m:ctrlP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nary>
                                <m:naryPr>
                                  <m:ctrlP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𝑡</m:t>
                                  </m:r>
                                </m:sup>
                                <m:e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𝑒</m:t>
                                  </m:r>
                                  <m:d>
                                    <m:dPr>
                                      <m:ctrlP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𝑑</m:t>
                                  </m:r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𝜏</m:t>
                                  </m:r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f>
                                    <m:fPr>
                                      <m:ctrlP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𝑑𝑒</m:t>
                                      </m:r>
                                      <m:d>
                                        <m:dPr>
                                          <m:ctrlPr>
                                            <a:rPr lang="es-CL" sz="1800" i="1">
                                              <a:effectLst/>
                                              <a:latin typeface="Cambria Math" panose="02040503050406030204" pitchFamily="18" charset="0"/>
                                              <a:cs typeface="Calibri" panose="020F050202020403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L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Calibri" panose="020F0502020204030204" pitchFamily="34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 </m:t>
                                  </m:r>
                                </m:e>
                              </m:nary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9C16878-9553-17A8-9278-155E2E2801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6000" y="2368871"/>
                <a:ext cx="4784933" cy="9235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n 9" descr="Diagrama&#10;&#10;Descripción generada automáticamente">
            <a:extLst>
              <a:ext uri="{FF2B5EF4-FFF2-40B4-BE49-F238E27FC236}">
                <a16:creationId xmlns:a16="http://schemas.microsoft.com/office/drawing/2014/main" id="{9890F4D3-4A99-02D0-EE73-798BAB7F9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460" y="3486468"/>
            <a:ext cx="5210810" cy="2220595"/>
          </a:xfrm>
          <a:prstGeom prst="rect">
            <a:avLst/>
          </a:prstGeom>
        </p:spPr>
      </p:pic>
      <p:sp>
        <p:nvSpPr>
          <p:cNvPr id="51" name="CuadroTexto 50">
            <a:extLst>
              <a:ext uri="{FF2B5EF4-FFF2-40B4-BE49-F238E27FC236}">
                <a16:creationId xmlns:a16="http://schemas.microsoft.com/office/drawing/2014/main" id="{79313BA8-87B3-ECCB-DE37-9AED85C2DC14}"/>
              </a:ext>
            </a:extLst>
          </p:cNvPr>
          <p:cNvSpPr txBox="1"/>
          <p:nvPr/>
        </p:nvSpPr>
        <p:spPr>
          <a:xfrm>
            <a:off x="1478492" y="2338917"/>
            <a:ext cx="35199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s-ES" sz="18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La acción de control es así una suma de tres términos que representan el pasado por la acción integral del error (el término-I), el presente (el término-P) y el futuro por una extrapolación lineal del error (el término-D). </a:t>
            </a:r>
            <a:endParaRPr lang="en-US" sz="18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1571830-7508-5AC9-536F-B519048A5481}"/>
                  </a:ext>
                </a:extLst>
              </p:cNvPr>
              <p:cNvSpPr txBox="1"/>
              <p:nvPr/>
            </p:nvSpPr>
            <p:spPr>
              <a:xfrm>
                <a:off x="1650839" y="5130687"/>
                <a:ext cx="3175213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𝑃𝐼𝐷</m:t>
                          </m:r>
                        </m:sub>
                      </m:sSub>
                      <m:r>
                        <a:rPr lang="es-CL" sz="1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es-CL" sz="1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</m:t>
                      </m:r>
                      <m:r>
                        <a:rPr lang="es-CL" sz="1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 = </m:t>
                      </m:r>
                      <m:r>
                        <a:rPr lang="es-CL" sz="14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𝐾𝑝</m:t>
                      </m:r>
                      <m:d>
                        <m:dPr>
                          <m:ctrlPr>
                            <a:rPr lang="es-CL" sz="1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s-CL" sz="1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es-CL" sz="1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s-CL" sz="14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14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CL" sz="14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CL" sz="1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</m:den>
                          </m:f>
                          <m:r>
                            <a:rPr lang="es-CL" sz="1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L" sz="1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s-CL" sz="1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CL" sz="1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s-CL" sz="1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1571830-7508-5AC9-536F-B519048A5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839" y="5130687"/>
                <a:ext cx="3175213" cy="5763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63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AD409-BAA0-13CD-CBF2-EF82C8675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Método clásico de ajuste de Ziegler Nichols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D0ABD8-669A-4039-981B-5682B53D68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s-CL" sz="2400" dirty="0"/>
              <a:t>Método de Oscilación</a:t>
            </a:r>
          </a:p>
          <a:p>
            <a:pPr marL="114300" indent="0">
              <a:buNone/>
            </a:pPr>
            <a:endParaRPr lang="es-CL" dirty="0"/>
          </a:p>
          <a:p>
            <a:pPr marL="114300" indent="0">
              <a:buNone/>
            </a:pPr>
            <a:r>
              <a:rPr lang="es-ES" dirty="0"/>
              <a:t>Aplicado solo en sistemas en </a:t>
            </a:r>
            <a:r>
              <a:rPr lang="es-ES" b="1" dirty="0"/>
              <a:t>lazo cerrado</a:t>
            </a:r>
          </a:p>
          <a:p>
            <a:pPr marL="114300" indent="0">
              <a:buNone/>
            </a:pPr>
            <a:endParaRPr lang="es-ES" b="1" dirty="0"/>
          </a:p>
          <a:p>
            <a:pPr marL="114300" indent="0">
              <a:buNone/>
            </a:pPr>
            <a:r>
              <a:rPr lang="es-ES" dirty="0"/>
              <a:t>No requiere modelo del sistema.</a:t>
            </a:r>
          </a:p>
          <a:p>
            <a:pPr marL="114300" indent="0">
              <a:buNone/>
            </a:pPr>
            <a:endParaRPr lang="es-ES" dirty="0"/>
          </a:p>
          <a:p>
            <a:pPr marL="114300" indent="0">
              <a:buNone/>
            </a:pPr>
            <a:r>
              <a:rPr lang="es-ES" dirty="0"/>
              <a:t>Puede ser peligroso para la planta si no se controla correctamente.</a:t>
            </a:r>
          </a:p>
          <a:p>
            <a:pPr marL="114300" indent="0">
              <a:buNone/>
            </a:pPr>
            <a:endParaRPr lang="es-ES" b="1" dirty="0"/>
          </a:p>
          <a:p>
            <a:pPr marL="114300" indent="0">
              <a:buNone/>
            </a:pPr>
            <a:r>
              <a:rPr lang="es-ES" dirty="0"/>
              <a:t>No siempre es posible lograr oscilaciones sostenidas.</a:t>
            </a:r>
            <a:endParaRPr lang="es-ES" b="1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03660D-DAC6-522D-8A59-BACDB57677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s-CL" sz="2400" dirty="0"/>
              <a:t>Método basado en la curva de reacción</a:t>
            </a:r>
          </a:p>
          <a:p>
            <a:pPr marL="114300" indent="0">
              <a:buNone/>
            </a:pPr>
            <a:endParaRPr lang="es-CL" dirty="0"/>
          </a:p>
          <a:p>
            <a:pPr marL="114300" indent="0">
              <a:buNone/>
            </a:pPr>
            <a:r>
              <a:rPr lang="es-ES" dirty="0"/>
              <a:t>Aplicado en sistemas en </a:t>
            </a:r>
            <a:r>
              <a:rPr lang="es-ES" b="1" dirty="0"/>
              <a:t>lazo abierto</a:t>
            </a:r>
          </a:p>
          <a:p>
            <a:pPr marL="114300" indent="0">
              <a:buNone/>
            </a:pPr>
            <a:endParaRPr lang="es-ES" b="1" dirty="0"/>
          </a:p>
          <a:p>
            <a:pPr marL="114300" indent="0">
              <a:buNone/>
            </a:pPr>
            <a:r>
              <a:rPr lang="es-ES" dirty="0"/>
              <a:t>No siempre se puede obtener una curva tipo S clara.</a:t>
            </a:r>
          </a:p>
          <a:p>
            <a:pPr marL="114300" indent="0">
              <a:buNone/>
            </a:pPr>
            <a:endParaRPr lang="es-ES" b="1" dirty="0"/>
          </a:p>
          <a:p>
            <a:pPr marL="114300" indent="0">
              <a:buNone/>
            </a:pPr>
            <a:r>
              <a:rPr lang="es-ES" dirty="0"/>
              <a:t>Más difícil de aplicar en tiempo real.</a:t>
            </a:r>
            <a:endParaRPr lang="es-ES" b="1" dirty="0"/>
          </a:p>
          <a:p>
            <a:pPr marL="1143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9894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C40582-9C7A-B07E-BA9F-3FE278678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Método basado en la curva de reacción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C851C8-AF77-1A8E-0F2D-3684BBEB1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s-ES" dirty="0"/>
              <a:t>El controlador se coloca en modo manual para poder generar una variación del tipo escalón en la propia salida del controlador PID.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A308D4B-A0CC-AC29-6C2D-C3188F6BE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000" y="3561673"/>
            <a:ext cx="5896798" cy="21053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01798DC-7C5D-FC43-BD75-9365CAF7C9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199"/>
          <a:stretch>
            <a:fillRect/>
          </a:stretch>
        </p:blipFill>
        <p:spPr>
          <a:xfrm>
            <a:off x="7237198" y="2726297"/>
            <a:ext cx="4124082" cy="353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408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05289-02D0-4012-32BB-120D2B66F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 basado en la curva de reacción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61EF1AD5-4EC3-68CA-F2F2-3AC1EAF96F1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15600" y="1536633"/>
                <a:ext cx="6290000" cy="4555200"/>
              </a:xfrm>
            </p:spPr>
            <p:txBody>
              <a:bodyPr/>
              <a:lstStyle/>
              <a:p>
                <a:pPr marL="152396" indent="0">
                  <a:buNone/>
                </a:pPr>
                <a:r>
                  <a:rPr lang="es-ES" dirty="0"/>
                  <a:t>La curva S esta definida por 2 constantes, El tiempo de retardo a la respuesta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s-ES" dirty="0"/>
                  <a:t> y la constante de tiempo </a:t>
                </a:r>
                <a14:m>
                  <m:oMath xmlns:m="http://schemas.openxmlformats.org/officeDocument/2006/math">
                    <m:r>
                      <a:rPr lang="es-CL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s-ES" dirty="0"/>
              </a:p>
              <a:p>
                <a:pPr marL="152396" indent="0">
                  <a:buNone/>
                </a:pPr>
                <a:endParaRPr lang="es-ES" dirty="0"/>
              </a:p>
              <a:p>
                <a:pPr marL="152396" indent="0">
                  <a:buNone/>
                </a:pPr>
                <a:endParaRPr lang="es-ES" dirty="0"/>
              </a:p>
              <a:p>
                <a:pPr marL="152396" indent="0">
                  <a:buNone/>
                </a:pPr>
                <a:endParaRPr lang="es-ES" dirty="0"/>
              </a:p>
              <a:p>
                <a:pPr marL="152396" indent="0">
                  <a:buNone/>
                </a:pPr>
                <a:endParaRPr lang="es-ES" dirty="0"/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𝐺𝑝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𝐿𝑠</m:t>
                              </m:r>
                            </m:sup>
                          </m:sSup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s-ES" dirty="0"/>
              </a:p>
              <a:p>
                <a:pPr marL="152396" indent="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61EF1AD5-4EC3-68CA-F2F2-3AC1EAF96F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5600" y="1536633"/>
                <a:ext cx="6290000" cy="4555200"/>
              </a:xfrm>
              <a:blipFill>
                <a:blip r:embed="rId2"/>
                <a:stretch>
                  <a:fillRect r="-87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>
            <a:extLst>
              <a:ext uri="{FF2B5EF4-FFF2-40B4-BE49-F238E27FC236}">
                <a16:creationId xmlns:a16="http://schemas.microsoft.com/office/drawing/2014/main" id="{C6B08D37-1E39-B451-6C05-C1DC6F6C8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830" y="2300984"/>
            <a:ext cx="4153480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19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00827-34DA-6091-E4AA-ACF08052B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 basado en la curva de reacción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08D96F4E-FF4C-CA13-624A-8C2853AA09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6906856"/>
                  </p:ext>
                </p:extLst>
              </p:nvPr>
            </p:nvGraphicFramePr>
            <p:xfrm>
              <a:off x="1738702" y="2729623"/>
              <a:ext cx="8128000" cy="218217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89236921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115124809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33613025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67253848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L" dirty="0">
                              <a:latin typeface="Roboto Slab" pitchFamily="2" charset="0"/>
                              <a:ea typeface="Roboto Slab" pitchFamily="2" charset="0"/>
                              <a:cs typeface="Roboto Slab" pitchFamily="2" charset="0"/>
                            </a:rPr>
                            <a:t>Controlador</a:t>
                          </a:r>
                          <a:endParaRPr lang="es-ES" dirty="0">
                            <a:latin typeface="Roboto Slab" pitchFamily="2" charset="0"/>
                            <a:ea typeface="Roboto Slab" pitchFamily="2" charset="0"/>
                            <a:cs typeface="Roboto Slab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17767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L" dirty="0">
                              <a:latin typeface="Roboto Slab" pitchFamily="2" charset="0"/>
                              <a:ea typeface="Roboto Slab" pitchFamily="2" charset="0"/>
                              <a:cs typeface="Roboto Slab" pitchFamily="2" charset="0"/>
                            </a:rPr>
                            <a:t>P</a:t>
                          </a:r>
                          <a:endParaRPr lang="es-ES" dirty="0">
                            <a:latin typeface="Roboto Slab" pitchFamily="2" charset="0"/>
                            <a:ea typeface="Roboto Slab" pitchFamily="2" charset="0"/>
                            <a:cs typeface="Roboto Slab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num>
                                  <m:den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𝑲𝑳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10565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L" dirty="0">
                              <a:latin typeface="Roboto Slab" pitchFamily="2" charset="0"/>
                              <a:ea typeface="Roboto Slab" pitchFamily="2" charset="0"/>
                              <a:cs typeface="Roboto Slab" pitchFamily="2" charset="0"/>
                            </a:rPr>
                            <a:t>PI</a:t>
                          </a:r>
                          <a:endParaRPr lang="es-ES" dirty="0">
                            <a:latin typeface="Roboto Slab" pitchFamily="2" charset="0"/>
                            <a:ea typeface="Roboto Slab" pitchFamily="2" charset="0"/>
                            <a:cs typeface="Roboto Slab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f>
                                  <m:f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num>
                                  <m:den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𝑲𝑳</m:t>
                                    </m:r>
                                  </m:den>
                                </m:f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num>
                                  <m:den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98288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L" dirty="0">
                              <a:latin typeface="Roboto Slab" pitchFamily="2" charset="0"/>
                              <a:ea typeface="Roboto Slab" pitchFamily="2" charset="0"/>
                              <a:cs typeface="Roboto Slab" pitchFamily="2" charset="0"/>
                            </a:rPr>
                            <a:t>PID</a:t>
                          </a:r>
                          <a:endParaRPr lang="es-ES" dirty="0">
                            <a:latin typeface="Roboto Slab" pitchFamily="2" charset="0"/>
                            <a:ea typeface="Roboto Slab" pitchFamily="2" charset="0"/>
                            <a:cs typeface="Roboto Slab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f>
                                  <m:f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num>
                                  <m:den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𝑲𝑳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107871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08D96F4E-FF4C-CA13-624A-8C2853AA09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6906856"/>
                  </p:ext>
                </p:extLst>
              </p:nvPr>
            </p:nvGraphicFramePr>
            <p:xfrm>
              <a:off x="1738702" y="2729623"/>
              <a:ext cx="8128000" cy="218217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89236921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115124809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33613025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672538483"/>
                        </a:ext>
                      </a:extLst>
                    </a:gridCol>
                  </a:tblGrid>
                  <a:tr h="401130">
                    <a:tc>
                      <a:txBody>
                        <a:bodyPr/>
                        <a:lstStyle/>
                        <a:p>
                          <a:r>
                            <a:rPr lang="es-CL" dirty="0">
                              <a:latin typeface="Roboto Slab" pitchFamily="2" charset="0"/>
                              <a:ea typeface="Roboto Slab" pitchFamily="2" charset="0"/>
                              <a:cs typeface="Roboto Slab" pitchFamily="2" charset="0"/>
                            </a:rPr>
                            <a:t>Controlador</a:t>
                          </a:r>
                          <a:endParaRPr lang="es-ES" dirty="0">
                            <a:latin typeface="Roboto Slab" pitchFamily="2" charset="0"/>
                            <a:ea typeface="Roboto Slab" pitchFamily="2" charset="0"/>
                            <a:cs typeface="Roboto Slab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00" t="-3030" r="-200601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01" t="-3030" r="-100000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601" t="-3030" r="-300" b="-44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7767864"/>
                      </a:ext>
                    </a:extLst>
                  </a:tr>
                  <a:tr h="578676">
                    <a:tc>
                      <a:txBody>
                        <a:bodyPr/>
                        <a:lstStyle/>
                        <a:p>
                          <a:r>
                            <a:rPr lang="es-CL" dirty="0">
                              <a:latin typeface="Roboto Slab" pitchFamily="2" charset="0"/>
                              <a:ea typeface="Roboto Slab" pitchFamily="2" charset="0"/>
                              <a:cs typeface="Roboto Slab" pitchFamily="2" charset="0"/>
                            </a:rPr>
                            <a:t>P</a:t>
                          </a:r>
                          <a:endParaRPr lang="es-ES" dirty="0">
                            <a:latin typeface="Roboto Slab" pitchFamily="2" charset="0"/>
                            <a:ea typeface="Roboto Slab" pitchFamily="2" charset="0"/>
                            <a:cs typeface="Roboto Slab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00" t="-71579" r="-200601" b="-20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01" t="-71579" r="-100000" b="-20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601" t="-71579" r="-300" b="-2094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1056588"/>
                      </a:ext>
                    </a:extLst>
                  </a:tr>
                  <a:tr h="623697">
                    <a:tc>
                      <a:txBody>
                        <a:bodyPr/>
                        <a:lstStyle/>
                        <a:p>
                          <a:r>
                            <a:rPr lang="es-CL" dirty="0">
                              <a:latin typeface="Roboto Slab" pitchFamily="2" charset="0"/>
                              <a:ea typeface="Roboto Slab" pitchFamily="2" charset="0"/>
                              <a:cs typeface="Roboto Slab" pitchFamily="2" charset="0"/>
                            </a:rPr>
                            <a:t>PI</a:t>
                          </a:r>
                          <a:endParaRPr lang="es-ES" dirty="0">
                            <a:latin typeface="Roboto Slab" pitchFamily="2" charset="0"/>
                            <a:ea typeface="Roboto Slab" pitchFamily="2" charset="0"/>
                            <a:cs typeface="Roboto Slab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00" t="-158252" r="-200601" b="-93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01" t="-158252" r="-100000" b="-93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601" t="-158252" r="-300" b="-932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828811"/>
                      </a:ext>
                    </a:extLst>
                  </a:tr>
                  <a:tr h="578676">
                    <a:tc>
                      <a:txBody>
                        <a:bodyPr/>
                        <a:lstStyle/>
                        <a:p>
                          <a:r>
                            <a:rPr lang="es-CL" dirty="0">
                              <a:latin typeface="Roboto Slab" pitchFamily="2" charset="0"/>
                              <a:ea typeface="Roboto Slab" pitchFamily="2" charset="0"/>
                              <a:cs typeface="Roboto Slab" pitchFamily="2" charset="0"/>
                            </a:rPr>
                            <a:t>PID</a:t>
                          </a:r>
                          <a:endParaRPr lang="es-ES" dirty="0">
                            <a:latin typeface="Roboto Slab" pitchFamily="2" charset="0"/>
                            <a:ea typeface="Roboto Slab" pitchFamily="2" charset="0"/>
                            <a:cs typeface="Roboto Slab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00" t="-280000" r="-200601" b="-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01" t="-280000" r="-100000" b="-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601" t="-280000" r="-300" b="-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07871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74F8C00-85AD-F2D0-2BEE-E1708155EDDD}"/>
                  </a:ext>
                </a:extLst>
              </p:cNvPr>
              <p:cNvSpPr txBox="1"/>
              <p:nvPr/>
            </p:nvSpPr>
            <p:spPr>
              <a:xfrm>
                <a:off x="2374421" y="5171708"/>
                <a:ext cx="7199942" cy="960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s-CL" sz="20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d>
                        <m:dPr>
                          <m:ctrlPr>
                            <a:rPr lang="es-CL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s-CL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CL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CL" sz="2000" b="1" i="1" smtClean="0">
                          <a:latin typeface="Cambria Math" panose="02040503050406030204" pitchFamily="18" charset="0"/>
                        </a:rPr>
                        <m:t>𝟔</m:t>
                      </m:r>
                      <m:f>
                        <m:fPr>
                          <m:ctrlPr>
                            <a:rPr lang="es-CL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2000" b="1" i="1" smtClean="0">
                              <a:latin typeface="Cambria Math" panose="02040503050406030204" pitchFamily="18" charset="0"/>
                            </a:rPr>
                            <m:t>𝝉</m:t>
                          </m:r>
                        </m:num>
                        <m:den>
                          <m:r>
                            <a:rPr lang="es-CL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den>
                      </m:f>
                      <m:sSup>
                        <m:sSupPr>
                          <m:ctrlPr>
                            <a:rPr lang="es-CL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s-CL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s-CL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L" sz="2000" b="1" i="1" smtClean="0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  <m:r>
                                    <a:rPr lang="es-CL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s-CL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CL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s-CL" sz="2000" b="1" i="1" smtClean="0">
                                          <a:latin typeface="Cambria Math" panose="02040503050406030204" pitchFamily="18" charset="0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es-CL" sz="20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</m:e>
                        <m:sup>
                          <m:r>
                            <a:rPr lang="es-CL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74F8C00-85AD-F2D0-2BEE-E1708155E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421" y="5171708"/>
                <a:ext cx="7199942" cy="9607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377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3156B-F35C-68E3-B0BD-CEFA02DE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Método de Oscilación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D6DC76-F69C-8C95-BBF5-ECACABADB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s-ES" dirty="0"/>
              <a:t>Inicialmente se debe colocar la parte integral y derivativa en cero y únicamente se comienza a aumentar </a:t>
            </a:r>
            <a:r>
              <a:rPr lang="es-ES" b="1" dirty="0"/>
              <a:t>experimentalmente</a:t>
            </a:r>
            <a:r>
              <a:rPr lang="es-ES" dirty="0"/>
              <a:t> la ganancia proporcional del controlador.</a:t>
            </a:r>
          </a:p>
          <a:p>
            <a:pPr marL="152396" indent="0">
              <a:buNone/>
            </a:pPr>
            <a:endParaRPr lang="es-ES" dirty="0"/>
          </a:p>
        </p:txBody>
      </p:sp>
      <p:pic>
        <p:nvPicPr>
          <p:cNvPr id="5" name="Imagen 4" descr="Imagen que contiene Carta&#10;&#10;El contenido generado por IA puede ser incorrecto.">
            <a:extLst>
              <a:ext uri="{FF2B5EF4-FFF2-40B4-BE49-F238E27FC236}">
                <a16:creationId xmlns:a16="http://schemas.microsoft.com/office/drawing/2014/main" id="{648DF516-82B1-0999-B52E-1527AA97F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446" y="2743680"/>
            <a:ext cx="4443107" cy="352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5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D8ADD-52E4-718B-53A0-99D3FAFF7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0DBF0E-62CA-4086-A6AF-ED347139D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Método de Oscilación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7B64632D-4C9E-1BCD-BA18-B4A1911EC0B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52396" indent="0">
                  <a:buNone/>
                </a:pPr>
                <a:r>
                  <a:rPr lang="es-CL" dirty="0"/>
                  <a:t>Al conseguir la respuesta oscilatoria con amplitud constante, se encuentra la </a:t>
                </a:r>
                <a:r>
                  <a:rPr lang="es-CL" b="1" dirty="0"/>
                  <a:t>Ganancia Crítica: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CL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s-CL" dirty="0"/>
                  <a:t> y con ello el </a:t>
                </a:r>
                <a:r>
                  <a:rPr lang="es-CL" b="1" dirty="0"/>
                  <a:t>Periodo Critico:</a:t>
                </a:r>
                <a:r>
                  <a:rPr lang="es-C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CL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s-CL" dirty="0"/>
                  <a:t> 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7B64632D-4C9E-1BCD-BA18-B4A1911EC0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48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D553FDE9-235E-0224-899B-F6303F0EF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639" y="2597193"/>
            <a:ext cx="4382721" cy="366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71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C37CB-F385-C9DB-F368-6B14FBD6A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 de Oscilación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2A06298B-2FE1-419D-ED2F-72983643F3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3096569"/>
                  </p:ext>
                </p:extLst>
              </p:nvPr>
            </p:nvGraphicFramePr>
            <p:xfrm>
              <a:off x="1738702" y="2738251"/>
              <a:ext cx="8128000" cy="1776795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89236921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115124809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33613025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67253848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L" dirty="0">
                              <a:latin typeface="Roboto Slab" pitchFamily="2" charset="0"/>
                              <a:ea typeface="Roboto Slab" pitchFamily="2" charset="0"/>
                              <a:cs typeface="Roboto Slab" pitchFamily="2" charset="0"/>
                            </a:rPr>
                            <a:t>Controlador</a:t>
                          </a:r>
                          <a:endParaRPr lang="es-ES" dirty="0">
                            <a:latin typeface="Roboto Slab" pitchFamily="2" charset="0"/>
                            <a:ea typeface="Roboto Slab" pitchFamily="2" charset="0"/>
                            <a:cs typeface="Roboto Slab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7767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CL" dirty="0">
                              <a:latin typeface="Roboto Slab" pitchFamily="2" charset="0"/>
                              <a:ea typeface="Roboto Slab" pitchFamily="2" charset="0"/>
                              <a:cs typeface="Roboto Slab" pitchFamily="2" charset="0"/>
                            </a:rPr>
                            <a:t>P</a:t>
                          </a:r>
                          <a:endParaRPr lang="es-ES" dirty="0">
                            <a:latin typeface="Roboto Slab" pitchFamily="2" charset="0"/>
                            <a:ea typeface="Roboto Slab" pitchFamily="2" charset="0"/>
                            <a:cs typeface="Roboto Slab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1" i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s-CL" b="1" i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CL" b="1" i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sSub>
                                  <m:sSub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1" i="0" smtClean="0">
                                        <a:latin typeface="Cambria Math" panose="02040503050406030204" pitchFamily="18" charset="0"/>
                                      </a:rPr>
                                      <m:t>𝐊</m:t>
                                    </m:r>
                                  </m:e>
                                  <m:sub>
                                    <m:r>
                                      <a:rPr lang="es-CL" b="1" i="0" smtClean="0">
                                        <a:latin typeface="Cambria Math" panose="02040503050406030204" pitchFamily="18" charset="0"/>
                                      </a:rPr>
                                      <m:t>𝐮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10565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CL" dirty="0">
                              <a:latin typeface="Roboto Slab" pitchFamily="2" charset="0"/>
                              <a:ea typeface="Roboto Slab" pitchFamily="2" charset="0"/>
                              <a:cs typeface="Roboto Slab" pitchFamily="2" charset="0"/>
                            </a:rPr>
                            <a:t>PI</a:t>
                          </a:r>
                          <a:endParaRPr lang="es-ES" dirty="0">
                            <a:latin typeface="Roboto Slab" pitchFamily="2" charset="0"/>
                            <a:ea typeface="Roboto Slab" pitchFamily="2" charset="0"/>
                            <a:cs typeface="Roboto Slab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CL" b="1" i="0" smtClean="0">
                                    <a:latin typeface="Cambria Math" panose="02040503050406030204" pitchFamily="18" charset="0"/>
                                  </a:rPr>
                                  <m:t>𝟒𝟓</m:t>
                                </m:r>
                                <m:sSub>
                                  <m:sSub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1" i="0" smtClean="0">
                                        <a:latin typeface="Cambria Math" panose="02040503050406030204" pitchFamily="18" charset="0"/>
                                      </a:rPr>
                                      <m:t>𝐊</m:t>
                                    </m:r>
                                  </m:e>
                                  <m:sub>
                                    <m:r>
                                      <a:rPr lang="es-CL" b="1" i="0" smtClean="0">
                                        <a:latin typeface="Cambria Math" panose="02040503050406030204" pitchFamily="18" charset="0"/>
                                      </a:rPr>
                                      <m:t>𝐮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L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s-CL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L" b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s-CL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1" i="0" smtClean="0">
                                        <a:latin typeface="Cambria Math" panose="02040503050406030204" pitchFamily="18" charset="0"/>
                                      </a:rPr>
                                      <m:t>𝐏</m:t>
                                    </m:r>
                                  </m:e>
                                  <m:sub>
                                    <m:r>
                                      <a:rPr lang="es-CL" b="1" i="0" smtClean="0">
                                        <a:latin typeface="Cambria Math" panose="02040503050406030204" pitchFamily="18" charset="0"/>
                                      </a:rPr>
                                      <m:t>𝐮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98288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CL" dirty="0">
                              <a:latin typeface="Roboto Slab" pitchFamily="2" charset="0"/>
                              <a:ea typeface="Roboto Slab" pitchFamily="2" charset="0"/>
                              <a:cs typeface="Roboto Slab" pitchFamily="2" charset="0"/>
                            </a:rPr>
                            <a:t>PID</a:t>
                          </a:r>
                          <a:endParaRPr lang="es-ES" dirty="0">
                            <a:latin typeface="Roboto Slab" pitchFamily="2" charset="0"/>
                            <a:ea typeface="Roboto Slab" pitchFamily="2" charset="0"/>
                            <a:cs typeface="Roboto Slab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1" i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CL" b="1" i="0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sSub>
                                  <m:sSub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s-CL" b="1" i="0" smtClean="0">
                                        <a:latin typeface="Cambria Math" panose="02040503050406030204" pitchFamily="18" charset="0"/>
                                      </a:rPr>
                                      <m:t>𝐮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1" i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s-CL" b="1" i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CL" b="1" i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sSub>
                                  <m:sSub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1" i="0" smtClean="0">
                                        <a:latin typeface="Cambria Math" panose="02040503050406030204" pitchFamily="18" charset="0"/>
                                      </a:rPr>
                                      <m:t>𝐏</m:t>
                                    </m:r>
                                  </m:e>
                                  <m:sub>
                                    <m:r>
                                      <a:rPr lang="es-CL" b="1" i="0" smtClean="0">
                                        <a:latin typeface="Cambria Math" panose="02040503050406030204" pitchFamily="18" charset="0"/>
                                      </a:rPr>
                                      <m:t>𝐮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CL" b="1" i="0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  <m:r>
                                  <a:rPr lang="es-CL" b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sSub>
                                  <m:sSubPr>
                                    <m:ctrlPr>
                                      <a:rPr lang="es-C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1" i="0" smtClean="0">
                                        <a:latin typeface="Cambria Math" panose="02040503050406030204" pitchFamily="18" charset="0"/>
                                      </a:rPr>
                                      <m:t>𝐏</m:t>
                                    </m:r>
                                  </m:e>
                                  <m:sub>
                                    <m:r>
                                      <a:rPr lang="es-CL" b="1" i="0" smtClean="0">
                                        <a:latin typeface="Cambria Math" panose="02040503050406030204" pitchFamily="18" charset="0"/>
                                      </a:rPr>
                                      <m:t>𝐮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107871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2A06298B-2FE1-419D-ED2F-72983643F3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3096569"/>
                  </p:ext>
                </p:extLst>
              </p:nvPr>
            </p:nvGraphicFramePr>
            <p:xfrm>
              <a:off x="1738702" y="2738251"/>
              <a:ext cx="8128000" cy="1776795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89236921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115124809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33613025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672538483"/>
                        </a:ext>
                      </a:extLst>
                    </a:gridCol>
                  </a:tblGrid>
                  <a:tr h="401130">
                    <a:tc>
                      <a:txBody>
                        <a:bodyPr/>
                        <a:lstStyle/>
                        <a:p>
                          <a:r>
                            <a:rPr lang="es-CL" dirty="0">
                              <a:latin typeface="Roboto Slab" pitchFamily="2" charset="0"/>
                              <a:ea typeface="Roboto Slab" pitchFamily="2" charset="0"/>
                              <a:cs typeface="Roboto Slab" pitchFamily="2" charset="0"/>
                            </a:rPr>
                            <a:t>Controlador</a:t>
                          </a:r>
                          <a:endParaRPr lang="es-ES" dirty="0">
                            <a:latin typeface="Roboto Slab" pitchFamily="2" charset="0"/>
                            <a:ea typeface="Roboto Slab" pitchFamily="2" charset="0"/>
                            <a:cs typeface="Roboto Slab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2"/>
                          <a:stretch>
                            <a:fillRect l="-100300" t="-7576" r="-200601" b="-3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2"/>
                          <a:stretch>
                            <a:fillRect l="-199701" t="-7576" r="-100000" b="-3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2"/>
                          <a:stretch>
                            <a:fillRect l="-300601" t="-7576" r="-300" b="-3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7767864"/>
                      </a:ext>
                    </a:extLst>
                  </a:tr>
                  <a:tr h="375984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CL" dirty="0">
                              <a:latin typeface="Roboto Slab" pitchFamily="2" charset="0"/>
                              <a:ea typeface="Roboto Slab" pitchFamily="2" charset="0"/>
                              <a:cs typeface="Roboto Slab" pitchFamily="2" charset="0"/>
                            </a:rPr>
                            <a:t>P</a:t>
                          </a:r>
                          <a:endParaRPr lang="es-ES" dirty="0">
                            <a:latin typeface="Roboto Slab" pitchFamily="2" charset="0"/>
                            <a:ea typeface="Roboto Slab" pitchFamily="2" charset="0"/>
                            <a:cs typeface="Roboto Slab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00" t="-114516" r="-200601" b="-290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01" t="-114516" r="-100000" b="-290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601" t="-114516" r="-300" b="-2903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1056588"/>
                      </a:ext>
                    </a:extLst>
                  </a:tr>
                  <a:tr h="623697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CL" dirty="0">
                              <a:latin typeface="Roboto Slab" pitchFamily="2" charset="0"/>
                              <a:ea typeface="Roboto Slab" pitchFamily="2" charset="0"/>
                              <a:cs typeface="Roboto Slab" pitchFamily="2" charset="0"/>
                            </a:rPr>
                            <a:t>PI</a:t>
                          </a:r>
                          <a:endParaRPr lang="es-ES" dirty="0">
                            <a:latin typeface="Roboto Slab" pitchFamily="2" charset="0"/>
                            <a:ea typeface="Roboto Slab" pitchFamily="2" charset="0"/>
                            <a:cs typeface="Roboto Slab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00" t="-130392" r="-200601" b="-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01" t="-130392" r="-100000" b="-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601" t="-130392" r="-300" b="-7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828811"/>
                      </a:ext>
                    </a:extLst>
                  </a:tr>
                  <a:tr h="375984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CL" dirty="0">
                              <a:latin typeface="Roboto Slab" pitchFamily="2" charset="0"/>
                              <a:ea typeface="Roboto Slab" pitchFamily="2" charset="0"/>
                              <a:cs typeface="Roboto Slab" pitchFamily="2" charset="0"/>
                            </a:rPr>
                            <a:t>PID</a:t>
                          </a:r>
                          <a:endParaRPr lang="es-ES" dirty="0">
                            <a:latin typeface="Roboto Slab" pitchFamily="2" charset="0"/>
                            <a:ea typeface="Roboto Slab" pitchFamily="2" charset="0"/>
                            <a:cs typeface="Roboto Slab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00" t="-379032" r="-200601" b="-25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01" t="-379032" r="-100000" b="-25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601" t="-379032" r="-300" b="-25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07871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5FAC4CA-4D7A-5C94-C630-2091E2FB097E}"/>
                  </a:ext>
                </a:extLst>
              </p:cNvPr>
              <p:cNvSpPr txBox="1"/>
              <p:nvPr/>
            </p:nvSpPr>
            <p:spPr>
              <a:xfrm>
                <a:off x="2374421" y="5171708"/>
                <a:ext cx="7199942" cy="995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s-CL" sz="20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d>
                        <m:dPr>
                          <m:ctrlPr>
                            <a:rPr lang="es-CL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s-CL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CL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CL" sz="2000" b="1" i="1" smtClean="0">
                          <a:latin typeface="Cambria Math" panose="02040503050406030204" pitchFamily="18" charset="0"/>
                        </a:rPr>
                        <m:t>𝟎𝟕𝟓</m:t>
                      </m:r>
                      <m:r>
                        <a:rPr lang="es-CL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CL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s-CL" sz="20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</m:sSub>
                      <m:sSub>
                        <m:sSubPr>
                          <m:ctrlPr>
                            <a:rPr lang="es-CL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s-CL" sz="20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</m:sSub>
                      <m:sSup>
                        <m:sSupPr>
                          <m:ctrlPr>
                            <a:rPr lang="es-CL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s-CL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s-CL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L" sz="2000" b="1" i="1" smtClean="0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  <m:r>
                                    <a:rPr lang="es-CL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s-CL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CL" sz="2000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CL" sz="20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L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𝑷</m:t>
                                          </m:r>
                                        </m:e>
                                        <m:sub>
                                          <m:r>
                                            <a:rPr lang="es-CL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es-CL" sz="20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</m:e>
                        <m:sup>
                          <m:r>
                            <a:rPr lang="es-CL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5FAC4CA-4D7A-5C94-C630-2091E2FB0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421" y="5171708"/>
                <a:ext cx="7199942" cy="995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354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obotic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botica" id="{647D301C-52C8-4CB2-BB7A-ED930B029529}" vid="{7BBA8B0D-E075-4FF6-8C72-3370B3451D1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495D67534C59A4AA499B35CC001B245" ma:contentTypeVersion="2" ma:contentTypeDescription="Crear nuevo documento." ma:contentTypeScope="" ma:versionID="ade57ecb85f6beb451af34bc4e0d7f9e">
  <xsd:schema xmlns:xsd="http://www.w3.org/2001/XMLSchema" xmlns:xs="http://www.w3.org/2001/XMLSchema" xmlns:p="http://schemas.microsoft.com/office/2006/metadata/properties" xmlns:ns3="e6588a77-f2ab-4b21-8ceb-343653886883" targetNamespace="http://schemas.microsoft.com/office/2006/metadata/properties" ma:root="true" ma:fieldsID="9d90444834dd73212467bda3304e7aea" ns3:_="">
    <xsd:import namespace="e6588a77-f2ab-4b21-8ceb-34365388688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588a77-f2ab-4b21-8ceb-3436538868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59C1C7-FC3F-4EA8-861C-B84AE318E8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93D41A-973B-4BC7-B432-4A63EB729FB7}">
  <ds:schemaRefs>
    <ds:schemaRef ds:uri="http://www.w3.org/XML/1998/namespace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dcmitype/"/>
    <ds:schemaRef ds:uri="e6588a77-f2ab-4b21-8ceb-343653886883"/>
  </ds:schemaRefs>
</ds:datastoreItem>
</file>

<file path=customXml/itemProps3.xml><?xml version="1.0" encoding="utf-8"?>
<ds:datastoreItem xmlns:ds="http://schemas.openxmlformats.org/officeDocument/2006/customXml" ds:itemID="{BF53E1D7-B4CF-4D99-9509-13BCCFBBA5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588a77-f2ab-4b21-8ceb-3436538868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robotica</Template>
  <TotalTime>9719</TotalTime>
  <Words>418</Words>
  <Application>Microsoft Office PowerPoint</Application>
  <PresentationFormat>Panorámica</PresentationFormat>
  <Paragraphs>123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Aptos</vt:lpstr>
      <vt:lpstr>Arial</vt:lpstr>
      <vt:lpstr>Bungee Shade</vt:lpstr>
      <vt:lpstr>Calibri</vt:lpstr>
      <vt:lpstr>Cambria Math</vt:lpstr>
      <vt:lpstr>CMSY10</vt:lpstr>
      <vt:lpstr>Roboto Slab</vt:lpstr>
      <vt:lpstr>robotica</vt:lpstr>
      <vt:lpstr>Mecatrónica ME-4250</vt:lpstr>
      <vt:lpstr>Contenido  </vt:lpstr>
      <vt:lpstr>Introducción </vt:lpstr>
      <vt:lpstr>Presentación de PowerPoint</vt:lpstr>
      <vt:lpstr>Control PID</vt:lpstr>
      <vt:lpstr>Control PID</vt:lpstr>
      <vt:lpstr>Control PID</vt:lpstr>
      <vt:lpstr>Método clásico de ajuste de Ziegler Nichols</vt:lpstr>
      <vt:lpstr>Método basado en la curva de reacción</vt:lpstr>
      <vt:lpstr>Método basado en la curva de reacción</vt:lpstr>
      <vt:lpstr>Método basado en la curva de reacción</vt:lpstr>
      <vt:lpstr>Método de Oscilación</vt:lpstr>
      <vt:lpstr>Método de Oscilación</vt:lpstr>
      <vt:lpstr>Método de Oscilación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Harold Valenzuela Coloma (harold.valenzuela)</dc:creator>
  <cp:lastModifiedBy>Sala N03</cp:lastModifiedBy>
  <cp:revision>29</cp:revision>
  <dcterms:created xsi:type="dcterms:W3CDTF">2022-08-03T00:34:22Z</dcterms:created>
  <dcterms:modified xsi:type="dcterms:W3CDTF">2025-06-09T17:04:13Z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0x0101003495D67534C59A4AA499B35CC001B245</vt:lpwstr>
  </property>
</Properties>
</file>