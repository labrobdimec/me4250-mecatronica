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4"/>
  </p:notesMasterIdLst>
  <p:sldIdLst>
    <p:sldId id="256" r:id="rId2"/>
    <p:sldId id="264" r:id="rId3"/>
    <p:sldId id="265" r:id="rId4"/>
    <p:sldId id="266" r:id="rId5"/>
    <p:sldId id="257" r:id="rId6"/>
    <p:sldId id="259" r:id="rId7"/>
    <p:sldId id="258" r:id="rId8"/>
    <p:sldId id="260" r:id="rId9"/>
    <p:sldId id="263" r:id="rId10"/>
    <p:sldId id="261" r:id="rId11"/>
    <p:sldId id="262" r:id="rId12"/>
    <p:sldId id="267" r:id="rId13"/>
  </p:sldIdLst>
  <p:sldSz cx="9144000" cy="5143500" type="screen16x9"/>
  <p:notesSz cx="6858000" cy="9144000"/>
  <p:embeddedFontLst>
    <p:embeddedFont>
      <p:font typeface="Bungee Shade" panose="020B0604020202020204" charset="0"/>
      <p:regular r:id="rId15"/>
    </p:embeddedFont>
    <p:embeddedFont>
      <p:font typeface="Roboto Slab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h7s6OFWUiqHXgxaieogC+lKysN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32" y="3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customschemas.google.com/relationships/presentationmetadata" Target="meta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4784C0-D2B0-46DC-B823-B9BD93B7BDC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329E35-F811-4542-8DA5-FB90F46E3A4B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/>
            <a:t>Es un circuito integrado, que puede ejecutar tareas programadas en su memoria. </a:t>
          </a:r>
          <a:endParaRPr lang="en-US"/>
        </a:p>
      </dgm:t>
    </dgm:pt>
    <dgm:pt modelId="{E0AA29F6-7141-4757-B029-240F24CE2CC3}" type="parTrans" cxnId="{839DAF01-CE38-4206-84CF-33B8E6B99E40}">
      <dgm:prSet/>
      <dgm:spPr/>
      <dgm:t>
        <a:bodyPr/>
        <a:lstStyle/>
        <a:p>
          <a:endParaRPr lang="en-US"/>
        </a:p>
      </dgm:t>
    </dgm:pt>
    <dgm:pt modelId="{13AC6650-FE78-4631-80CA-55C132797C25}" type="sibTrans" cxnId="{839DAF01-CE38-4206-84CF-33B8E6B99E40}">
      <dgm:prSet/>
      <dgm:spPr/>
      <dgm:t>
        <a:bodyPr/>
        <a:lstStyle/>
        <a:p>
          <a:endParaRPr lang="en-US"/>
        </a:p>
      </dgm:t>
    </dgm:pt>
    <dgm:pt modelId="{0C2C33C5-4403-406A-94ED-489365E29A9A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/>
            <a:t>Están conformados por microprocesador, memoria, entradas y salidas.</a:t>
          </a:r>
          <a:endParaRPr lang="en-US"/>
        </a:p>
      </dgm:t>
    </dgm:pt>
    <dgm:pt modelId="{177C7256-EAAA-4EC0-AEEB-4CFFBC1529B2}" type="parTrans" cxnId="{D91FFE12-4BE9-46A8-9CBA-B3829F32B2BD}">
      <dgm:prSet/>
      <dgm:spPr/>
      <dgm:t>
        <a:bodyPr/>
        <a:lstStyle/>
        <a:p>
          <a:endParaRPr lang="en-US"/>
        </a:p>
      </dgm:t>
    </dgm:pt>
    <dgm:pt modelId="{C49BEF73-8064-4E1C-8C9A-6501CD0EF12A}" type="sibTrans" cxnId="{D91FFE12-4BE9-46A8-9CBA-B3829F32B2BD}">
      <dgm:prSet/>
      <dgm:spPr/>
      <dgm:t>
        <a:bodyPr/>
        <a:lstStyle/>
        <a:p>
          <a:endParaRPr lang="en-US"/>
        </a:p>
      </dgm:t>
    </dgm:pt>
    <dgm:pt modelId="{AD6F432A-307C-47F7-BE21-6A8169FA6598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0" i="0"/>
            <a:t>Bajo costo, versátiles, fácil de programar y pequeño.</a:t>
          </a:r>
          <a:endParaRPr lang="en-US"/>
        </a:p>
      </dgm:t>
    </dgm:pt>
    <dgm:pt modelId="{88110AF7-79FD-44C4-B7A6-332C8498299D}" type="parTrans" cxnId="{6EB09979-77D8-4443-8119-6E178790F9FF}">
      <dgm:prSet/>
      <dgm:spPr/>
      <dgm:t>
        <a:bodyPr/>
        <a:lstStyle/>
        <a:p>
          <a:endParaRPr lang="en-US"/>
        </a:p>
      </dgm:t>
    </dgm:pt>
    <dgm:pt modelId="{1B1F8C0C-9FD9-43F0-98AD-3001CFF3B6F7}" type="sibTrans" cxnId="{6EB09979-77D8-4443-8119-6E178790F9FF}">
      <dgm:prSet/>
      <dgm:spPr/>
      <dgm:t>
        <a:bodyPr/>
        <a:lstStyle/>
        <a:p>
          <a:endParaRPr lang="en-US"/>
        </a:p>
      </dgm:t>
    </dgm:pt>
    <dgm:pt modelId="{DF1FA589-5243-4E3E-A874-8BDFDDBC49BA}" type="pres">
      <dgm:prSet presAssocID="{474784C0-D2B0-46DC-B823-B9BD93B7BDC2}" presName="vert0" presStyleCnt="0">
        <dgm:presLayoutVars>
          <dgm:dir/>
          <dgm:animOne val="branch"/>
          <dgm:animLvl val="lvl"/>
        </dgm:presLayoutVars>
      </dgm:prSet>
      <dgm:spPr/>
    </dgm:pt>
    <dgm:pt modelId="{19BFC988-8E3E-4788-904A-75AAC0AB68F1}" type="pres">
      <dgm:prSet presAssocID="{C7329E35-F811-4542-8DA5-FB90F46E3A4B}" presName="thickLine" presStyleLbl="alignNode1" presStyleIdx="0" presStyleCnt="3"/>
      <dgm:spPr/>
    </dgm:pt>
    <dgm:pt modelId="{1648B7A3-0FF3-4C1C-98FF-F3CE018AF602}" type="pres">
      <dgm:prSet presAssocID="{C7329E35-F811-4542-8DA5-FB90F46E3A4B}" presName="horz1" presStyleCnt="0"/>
      <dgm:spPr/>
    </dgm:pt>
    <dgm:pt modelId="{3C8E5997-79F9-43FE-A2BA-6097550BE37A}" type="pres">
      <dgm:prSet presAssocID="{C7329E35-F811-4542-8DA5-FB90F46E3A4B}" presName="tx1" presStyleLbl="revTx" presStyleIdx="0" presStyleCnt="3"/>
      <dgm:spPr/>
    </dgm:pt>
    <dgm:pt modelId="{5EA3B25B-D505-4E89-9796-74B569963EBF}" type="pres">
      <dgm:prSet presAssocID="{C7329E35-F811-4542-8DA5-FB90F46E3A4B}" presName="vert1" presStyleCnt="0"/>
      <dgm:spPr/>
    </dgm:pt>
    <dgm:pt modelId="{52BE4D20-184E-4E9A-AEC0-61881EE904CB}" type="pres">
      <dgm:prSet presAssocID="{0C2C33C5-4403-406A-94ED-489365E29A9A}" presName="thickLine" presStyleLbl="alignNode1" presStyleIdx="1" presStyleCnt="3"/>
      <dgm:spPr/>
    </dgm:pt>
    <dgm:pt modelId="{3F1475E6-E05F-4C4E-940C-C948D3375E5B}" type="pres">
      <dgm:prSet presAssocID="{0C2C33C5-4403-406A-94ED-489365E29A9A}" presName="horz1" presStyleCnt="0"/>
      <dgm:spPr/>
    </dgm:pt>
    <dgm:pt modelId="{7CB16FC0-D9A8-4AF8-85A2-C2A397DB3886}" type="pres">
      <dgm:prSet presAssocID="{0C2C33C5-4403-406A-94ED-489365E29A9A}" presName="tx1" presStyleLbl="revTx" presStyleIdx="1" presStyleCnt="3"/>
      <dgm:spPr/>
    </dgm:pt>
    <dgm:pt modelId="{1EF5319D-6BE5-4BEE-AEA5-9890CF3FA653}" type="pres">
      <dgm:prSet presAssocID="{0C2C33C5-4403-406A-94ED-489365E29A9A}" presName="vert1" presStyleCnt="0"/>
      <dgm:spPr/>
    </dgm:pt>
    <dgm:pt modelId="{79D8C684-D45E-4471-AEA0-2A2425C93CEC}" type="pres">
      <dgm:prSet presAssocID="{AD6F432A-307C-47F7-BE21-6A8169FA6598}" presName="thickLine" presStyleLbl="alignNode1" presStyleIdx="2" presStyleCnt="3"/>
      <dgm:spPr/>
    </dgm:pt>
    <dgm:pt modelId="{5C4B1A00-F541-4D81-BCE8-873751BFC105}" type="pres">
      <dgm:prSet presAssocID="{AD6F432A-307C-47F7-BE21-6A8169FA6598}" presName="horz1" presStyleCnt="0"/>
      <dgm:spPr/>
    </dgm:pt>
    <dgm:pt modelId="{6A013854-EC45-4345-8F3F-872E8D06BD48}" type="pres">
      <dgm:prSet presAssocID="{AD6F432A-307C-47F7-BE21-6A8169FA6598}" presName="tx1" presStyleLbl="revTx" presStyleIdx="2" presStyleCnt="3"/>
      <dgm:spPr/>
    </dgm:pt>
    <dgm:pt modelId="{3BD374F3-4773-40D6-AE5D-5353BA6CAB0D}" type="pres">
      <dgm:prSet presAssocID="{AD6F432A-307C-47F7-BE21-6A8169FA6598}" presName="vert1" presStyleCnt="0"/>
      <dgm:spPr/>
    </dgm:pt>
  </dgm:ptLst>
  <dgm:cxnLst>
    <dgm:cxn modelId="{839DAF01-CE38-4206-84CF-33B8E6B99E40}" srcId="{474784C0-D2B0-46DC-B823-B9BD93B7BDC2}" destId="{C7329E35-F811-4542-8DA5-FB90F46E3A4B}" srcOrd="0" destOrd="0" parTransId="{E0AA29F6-7141-4757-B029-240F24CE2CC3}" sibTransId="{13AC6650-FE78-4631-80CA-55C132797C25}"/>
    <dgm:cxn modelId="{D91FFE12-4BE9-46A8-9CBA-B3829F32B2BD}" srcId="{474784C0-D2B0-46DC-B823-B9BD93B7BDC2}" destId="{0C2C33C5-4403-406A-94ED-489365E29A9A}" srcOrd="1" destOrd="0" parTransId="{177C7256-EAAA-4EC0-AEEB-4CFFBC1529B2}" sibTransId="{C49BEF73-8064-4E1C-8C9A-6501CD0EF12A}"/>
    <dgm:cxn modelId="{82D6E739-3527-4C85-992E-32A993C98DA1}" type="presOf" srcId="{474784C0-D2B0-46DC-B823-B9BD93B7BDC2}" destId="{DF1FA589-5243-4E3E-A874-8BDFDDBC49BA}" srcOrd="0" destOrd="0" presId="urn:microsoft.com/office/officeart/2008/layout/LinedList"/>
    <dgm:cxn modelId="{C7B7BA68-5F63-4A34-996C-F634E4C3B6E4}" type="presOf" srcId="{AD6F432A-307C-47F7-BE21-6A8169FA6598}" destId="{6A013854-EC45-4345-8F3F-872E8D06BD48}" srcOrd="0" destOrd="0" presId="urn:microsoft.com/office/officeart/2008/layout/LinedList"/>
    <dgm:cxn modelId="{6EB09979-77D8-4443-8119-6E178790F9FF}" srcId="{474784C0-D2B0-46DC-B823-B9BD93B7BDC2}" destId="{AD6F432A-307C-47F7-BE21-6A8169FA6598}" srcOrd="2" destOrd="0" parTransId="{88110AF7-79FD-44C4-B7A6-332C8498299D}" sibTransId="{1B1F8C0C-9FD9-43F0-98AD-3001CFF3B6F7}"/>
    <dgm:cxn modelId="{17FB65AD-8E35-4626-BB5C-72A59E2E193B}" type="presOf" srcId="{0C2C33C5-4403-406A-94ED-489365E29A9A}" destId="{7CB16FC0-D9A8-4AF8-85A2-C2A397DB3886}" srcOrd="0" destOrd="0" presId="urn:microsoft.com/office/officeart/2008/layout/LinedList"/>
    <dgm:cxn modelId="{B2C385C6-76D3-420D-8B47-38BF8E835FC5}" type="presOf" srcId="{C7329E35-F811-4542-8DA5-FB90F46E3A4B}" destId="{3C8E5997-79F9-43FE-A2BA-6097550BE37A}" srcOrd="0" destOrd="0" presId="urn:microsoft.com/office/officeart/2008/layout/LinedList"/>
    <dgm:cxn modelId="{4095FEBC-694B-4908-A5E9-B5224B233B0E}" type="presParOf" srcId="{DF1FA589-5243-4E3E-A874-8BDFDDBC49BA}" destId="{19BFC988-8E3E-4788-904A-75AAC0AB68F1}" srcOrd="0" destOrd="0" presId="urn:microsoft.com/office/officeart/2008/layout/LinedList"/>
    <dgm:cxn modelId="{F90835BB-6990-41FE-97FD-404608AC8CAD}" type="presParOf" srcId="{DF1FA589-5243-4E3E-A874-8BDFDDBC49BA}" destId="{1648B7A3-0FF3-4C1C-98FF-F3CE018AF602}" srcOrd="1" destOrd="0" presId="urn:microsoft.com/office/officeart/2008/layout/LinedList"/>
    <dgm:cxn modelId="{07E5FB96-BF65-4CCD-87B6-CAA46960516D}" type="presParOf" srcId="{1648B7A3-0FF3-4C1C-98FF-F3CE018AF602}" destId="{3C8E5997-79F9-43FE-A2BA-6097550BE37A}" srcOrd="0" destOrd="0" presId="urn:microsoft.com/office/officeart/2008/layout/LinedList"/>
    <dgm:cxn modelId="{946F5F62-A936-412A-97F4-C98BFD5A6865}" type="presParOf" srcId="{1648B7A3-0FF3-4C1C-98FF-F3CE018AF602}" destId="{5EA3B25B-D505-4E89-9796-74B569963EBF}" srcOrd="1" destOrd="0" presId="urn:microsoft.com/office/officeart/2008/layout/LinedList"/>
    <dgm:cxn modelId="{89754D9E-395C-44F3-9362-8DCD6F208128}" type="presParOf" srcId="{DF1FA589-5243-4E3E-A874-8BDFDDBC49BA}" destId="{52BE4D20-184E-4E9A-AEC0-61881EE904CB}" srcOrd="2" destOrd="0" presId="urn:microsoft.com/office/officeart/2008/layout/LinedList"/>
    <dgm:cxn modelId="{C951411F-3043-4826-B7FD-156AC9A00AE6}" type="presParOf" srcId="{DF1FA589-5243-4E3E-A874-8BDFDDBC49BA}" destId="{3F1475E6-E05F-4C4E-940C-C948D3375E5B}" srcOrd="3" destOrd="0" presId="urn:microsoft.com/office/officeart/2008/layout/LinedList"/>
    <dgm:cxn modelId="{D17BBF7F-95C2-4F87-B992-E2E31B2F6E6B}" type="presParOf" srcId="{3F1475E6-E05F-4C4E-940C-C948D3375E5B}" destId="{7CB16FC0-D9A8-4AF8-85A2-C2A397DB3886}" srcOrd="0" destOrd="0" presId="urn:microsoft.com/office/officeart/2008/layout/LinedList"/>
    <dgm:cxn modelId="{ECD531F4-1C3B-48E5-803F-3CE2FD251E6B}" type="presParOf" srcId="{3F1475E6-E05F-4C4E-940C-C948D3375E5B}" destId="{1EF5319D-6BE5-4BEE-AEA5-9890CF3FA653}" srcOrd="1" destOrd="0" presId="urn:microsoft.com/office/officeart/2008/layout/LinedList"/>
    <dgm:cxn modelId="{0BB04C20-00C1-49D4-83B9-BC11D91574D0}" type="presParOf" srcId="{DF1FA589-5243-4E3E-A874-8BDFDDBC49BA}" destId="{79D8C684-D45E-4471-AEA0-2A2425C93CEC}" srcOrd="4" destOrd="0" presId="urn:microsoft.com/office/officeart/2008/layout/LinedList"/>
    <dgm:cxn modelId="{F2C088DC-3B2F-47A8-90B2-2CAB709BF8E6}" type="presParOf" srcId="{DF1FA589-5243-4E3E-A874-8BDFDDBC49BA}" destId="{5C4B1A00-F541-4D81-BCE8-873751BFC105}" srcOrd="5" destOrd="0" presId="urn:microsoft.com/office/officeart/2008/layout/LinedList"/>
    <dgm:cxn modelId="{BA048E7B-DBBA-4AB4-BCE9-D000242B0CEB}" type="presParOf" srcId="{5C4B1A00-F541-4D81-BCE8-873751BFC105}" destId="{6A013854-EC45-4345-8F3F-872E8D06BD48}" srcOrd="0" destOrd="0" presId="urn:microsoft.com/office/officeart/2008/layout/LinedList"/>
    <dgm:cxn modelId="{45606A73-9792-4D6B-9572-A45EA326D6A9}" type="presParOf" srcId="{5C4B1A00-F541-4D81-BCE8-873751BFC105}" destId="{3BD374F3-4773-40D6-AE5D-5353BA6CAB0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BFC988-8E3E-4788-904A-75AAC0AB68F1}">
      <dsp:nvSpPr>
        <dsp:cNvPr id="0" name=""/>
        <dsp:cNvSpPr/>
      </dsp:nvSpPr>
      <dsp:spPr>
        <a:xfrm>
          <a:off x="0" y="1668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E5997-79F9-43FE-A2BA-6097550BE37A}">
      <dsp:nvSpPr>
        <dsp:cNvPr id="0" name=""/>
        <dsp:cNvSpPr/>
      </dsp:nvSpPr>
      <dsp:spPr>
        <a:xfrm>
          <a:off x="0" y="1668"/>
          <a:ext cx="8521700" cy="1137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b="0" i="0" kern="1200"/>
            <a:t>Es un circuito integrado, que puede ejecutar tareas programadas en su memoria. </a:t>
          </a:r>
          <a:endParaRPr lang="en-US" sz="2700" kern="1200"/>
        </a:p>
      </dsp:txBody>
      <dsp:txXfrm>
        <a:off x="0" y="1668"/>
        <a:ext cx="8521700" cy="1137654"/>
      </dsp:txXfrm>
    </dsp:sp>
    <dsp:sp modelId="{52BE4D20-184E-4E9A-AEC0-61881EE904CB}">
      <dsp:nvSpPr>
        <dsp:cNvPr id="0" name=""/>
        <dsp:cNvSpPr/>
      </dsp:nvSpPr>
      <dsp:spPr>
        <a:xfrm>
          <a:off x="0" y="1139322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B16FC0-D9A8-4AF8-85A2-C2A397DB3886}">
      <dsp:nvSpPr>
        <dsp:cNvPr id="0" name=""/>
        <dsp:cNvSpPr/>
      </dsp:nvSpPr>
      <dsp:spPr>
        <a:xfrm>
          <a:off x="0" y="1139322"/>
          <a:ext cx="8521700" cy="1137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b="0" i="0" kern="1200"/>
            <a:t>Están conformados por microprocesador, memoria, entradas y salidas.</a:t>
          </a:r>
          <a:endParaRPr lang="en-US" sz="2700" kern="1200"/>
        </a:p>
      </dsp:txBody>
      <dsp:txXfrm>
        <a:off x="0" y="1139322"/>
        <a:ext cx="8521700" cy="1137654"/>
      </dsp:txXfrm>
    </dsp:sp>
    <dsp:sp modelId="{79D8C684-D45E-4471-AEA0-2A2425C93CEC}">
      <dsp:nvSpPr>
        <dsp:cNvPr id="0" name=""/>
        <dsp:cNvSpPr/>
      </dsp:nvSpPr>
      <dsp:spPr>
        <a:xfrm>
          <a:off x="0" y="2276977"/>
          <a:ext cx="8521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13854-EC45-4345-8F3F-872E8D06BD48}">
      <dsp:nvSpPr>
        <dsp:cNvPr id="0" name=""/>
        <dsp:cNvSpPr/>
      </dsp:nvSpPr>
      <dsp:spPr>
        <a:xfrm>
          <a:off x="0" y="2276977"/>
          <a:ext cx="8521700" cy="1137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b="0" i="0" kern="1200"/>
            <a:t>Bajo costo, versátiles, fácil de programar y pequeño.</a:t>
          </a:r>
          <a:endParaRPr lang="en-US" sz="2700" kern="1200"/>
        </a:p>
      </dsp:txBody>
      <dsp:txXfrm>
        <a:off x="0" y="2276977"/>
        <a:ext cx="8521700" cy="1137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4329557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solidFill>
                  <a:srgbClr val="3C09CA"/>
                </a:solidFill>
                <a:latin typeface="+mn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4329565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5A2E431-1D76-3317-F0F3-86651EC69A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1750" y="738188"/>
            <a:ext cx="3554413" cy="2889250"/>
          </a:xfrm>
        </p:spPr>
        <p:txBody>
          <a:bodyPr/>
          <a:lstStyle>
            <a:lvl1pPr marL="114300" indent="0"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047399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3C09CA"/>
                </a:solidFill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 sz="1400">
                <a:latin typeface="Jura"/>
                <a:ea typeface="Jura"/>
                <a:cs typeface="Jura"/>
                <a:sym typeface="Jura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200">
                <a:latin typeface="Jura"/>
                <a:ea typeface="Jura"/>
                <a:cs typeface="Jura"/>
                <a:sym typeface="Jura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200">
                <a:latin typeface="Jura"/>
                <a:ea typeface="Jura"/>
                <a:cs typeface="Jura"/>
                <a:sym typeface="Jura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200">
                <a:latin typeface="Jura"/>
                <a:ea typeface="Jura"/>
                <a:cs typeface="Jura"/>
                <a:sym typeface="Jura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200">
                <a:latin typeface="Jura"/>
                <a:ea typeface="Jura"/>
                <a:cs typeface="Jura"/>
                <a:sym typeface="Jura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200">
                <a:latin typeface="Jura"/>
                <a:ea typeface="Jura"/>
                <a:cs typeface="Jura"/>
                <a:sym typeface="Jura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200">
                <a:latin typeface="Jura"/>
                <a:ea typeface="Jura"/>
                <a:cs typeface="Jura"/>
                <a:sym typeface="Jura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200">
                <a:latin typeface="Jura"/>
                <a:ea typeface="Jura"/>
                <a:cs typeface="Jura"/>
                <a:sym typeface="Jura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200">
                <a:latin typeface="Jura"/>
                <a:ea typeface="Jura"/>
                <a:cs typeface="Jura"/>
                <a:sym typeface="Jur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 sz="1400">
                <a:latin typeface="Jura"/>
                <a:ea typeface="Jura"/>
                <a:cs typeface="Jura"/>
                <a:sym typeface="Jura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200">
                <a:latin typeface="Jura"/>
                <a:ea typeface="Jura"/>
                <a:cs typeface="Jura"/>
                <a:sym typeface="Jura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200">
                <a:latin typeface="Jura"/>
                <a:ea typeface="Jura"/>
                <a:cs typeface="Jura"/>
                <a:sym typeface="Jura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200">
                <a:latin typeface="Jura"/>
                <a:ea typeface="Jura"/>
                <a:cs typeface="Jura"/>
                <a:sym typeface="Jura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200">
                <a:latin typeface="Jura"/>
                <a:ea typeface="Jura"/>
                <a:cs typeface="Jura"/>
                <a:sym typeface="Jura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200">
                <a:latin typeface="Jura"/>
                <a:ea typeface="Jura"/>
                <a:cs typeface="Jura"/>
                <a:sym typeface="Jura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200">
                <a:latin typeface="Jura"/>
                <a:ea typeface="Jura"/>
                <a:cs typeface="Jura"/>
                <a:sym typeface="Jura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200">
                <a:latin typeface="Jura"/>
                <a:ea typeface="Jura"/>
                <a:cs typeface="Jura"/>
                <a:sym typeface="Jura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200">
                <a:latin typeface="Jura"/>
                <a:ea typeface="Jura"/>
                <a:cs typeface="Jura"/>
                <a:sym typeface="Jur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390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3C09CA"/>
                </a:solidFill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22733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3359755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3C09CA"/>
                </a:solidFill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3359754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200">
                <a:latin typeface="Jura"/>
                <a:ea typeface="Jura"/>
                <a:cs typeface="Jura"/>
                <a:sym typeface="Jura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200">
                <a:latin typeface="Jura"/>
                <a:ea typeface="Jura"/>
                <a:cs typeface="Jura"/>
                <a:sym typeface="Jura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200">
                <a:latin typeface="Jura"/>
                <a:ea typeface="Jura"/>
                <a:cs typeface="Jura"/>
                <a:sym typeface="Jura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200">
                <a:latin typeface="Jura"/>
                <a:ea typeface="Jura"/>
                <a:cs typeface="Jura"/>
                <a:sym typeface="Jura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200">
                <a:latin typeface="Jura"/>
                <a:ea typeface="Jura"/>
                <a:cs typeface="Jura"/>
                <a:sym typeface="Jura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200">
                <a:latin typeface="Jura"/>
                <a:ea typeface="Jura"/>
                <a:cs typeface="Jura"/>
                <a:sym typeface="Jura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●"/>
              <a:defRPr sz="1200">
                <a:latin typeface="Jura"/>
                <a:ea typeface="Jura"/>
                <a:cs typeface="Jura"/>
                <a:sym typeface="Jura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○"/>
              <a:defRPr sz="1200">
                <a:latin typeface="Jura"/>
                <a:ea typeface="Jura"/>
                <a:cs typeface="Jura"/>
                <a:sym typeface="Jura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Jura"/>
              <a:buChar char="■"/>
              <a:defRPr sz="1200">
                <a:latin typeface="Jura"/>
                <a:ea typeface="Jura"/>
                <a:cs typeface="Jura"/>
                <a:sym typeface="Jur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415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3C09CA"/>
                </a:solidFill>
                <a:latin typeface="+mn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381198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3EB614BA-8757-A116-E970-3C9712C9F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980"/>
            <a:ext cx="1614921" cy="734055"/>
          </a:xfrm>
          <a:prstGeom prst="rect">
            <a:avLst/>
          </a:prstGeom>
        </p:spPr>
      </p:pic>
      <p:sp>
        <p:nvSpPr>
          <p:cNvPr id="51" name="Google Shape;51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DDCF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200">
                <a:solidFill>
                  <a:srgbClr val="3C09CA"/>
                </a:solidFill>
                <a:latin typeface="+mn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53" name="Google Shape;53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100">
                <a:latin typeface="Jura"/>
                <a:ea typeface="Jura"/>
                <a:cs typeface="Jura"/>
                <a:sym typeface="Ju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100">
                <a:latin typeface="Jura"/>
                <a:ea typeface="Jura"/>
                <a:cs typeface="Jura"/>
                <a:sym typeface="Ju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100">
                <a:latin typeface="Jura"/>
                <a:ea typeface="Jura"/>
                <a:cs typeface="Jura"/>
                <a:sym typeface="Ju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100">
                <a:latin typeface="Jura"/>
                <a:ea typeface="Jura"/>
                <a:cs typeface="Jura"/>
                <a:sym typeface="Ju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100">
                <a:latin typeface="Jura"/>
                <a:ea typeface="Jura"/>
                <a:cs typeface="Jura"/>
                <a:sym typeface="Ju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100">
                <a:latin typeface="Jura"/>
                <a:ea typeface="Jura"/>
                <a:cs typeface="Jura"/>
                <a:sym typeface="Ju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100">
                <a:latin typeface="Jura"/>
                <a:ea typeface="Jura"/>
                <a:cs typeface="Jura"/>
                <a:sym typeface="Ju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100">
                <a:latin typeface="Jura"/>
                <a:ea typeface="Jura"/>
                <a:cs typeface="Jura"/>
                <a:sym typeface="Ju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Jura"/>
              <a:buNone/>
              <a:defRPr sz="2100">
                <a:latin typeface="Jura"/>
                <a:ea typeface="Jura"/>
                <a:cs typeface="Jura"/>
                <a:sym typeface="Jura"/>
              </a:defRPr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Jura"/>
              <a:buChar char="●"/>
              <a:defRPr>
                <a:solidFill>
                  <a:srgbClr val="565049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>
                <a:latin typeface="Jura"/>
                <a:ea typeface="Jura"/>
                <a:cs typeface="Jura"/>
                <a:sym typeface="Jura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>
                <a:latin typeface="Jura"/>
                <a:ea typeface="Jura"/>
                <a:cs typeface="Jura"/>
                <a:sym typeface="Jura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3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311700" y="40019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Jura"/>
              <a:buNone/>
              <a:defRPr>
                <a:latin typeface="Jura"/>
                <a:ea typeface="Jura"/>
                <a:cs typeface="Jura"/>
                <a:sym typeface="Jura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027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697BCA48-F9DB-3E4E-A103-CDA43228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079" y="-56753"/>
            <a:ext cx="1614921" cy="734055"/>
          </a:xfrm>
          <a:prstGeom prst="rect">
            <a:avLst/>
          </a:prstGeom>
        </p:spPr>
      </p:pic>
      <p:sp>
        <p:nvSpPr>
          <p:cNvPr id="60" name="Google Shape;60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Font typeface="Jura"/>
              <a:buChar char="●"/>
              <a:defRPr>
                <a:solidFill>
                  <a:srgbClr val="565049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>
                <a:latin typeface="Jura"/>
                <a:ea typeface="Jura"/>
                <a:cs typeface="Jura"/>
                <a:sym typeface="Jura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●"/>
              <a:defRPr>
                <a:latin typeface="Jura"/>
                <a:ea typeface="Jura"/>
                <a:cs typeface="Jura"/>
                <a:sym typeface="Jura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○"/>
              <a:defRPr>
                <a:latin typeface="Jura"/>
                <a:ea typeface="Jura"/>
                <a:cs typeface="Jura"/>
                <a:sym typeface="Jura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Jura"/>
              <a:buChar char="■"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035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Diseño personalizado 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3C0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65" name="Google Shape;6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20992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0FC2D75C-D834-3204-1026-BFEFF311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079" y="-56753"/>
            <a:ext cx="1614921" cy="734055"/>
          </a:xfrm>
          <a:prstGeom prst="rect">
            <a:avLst/>
          </a:prstGeom>
        </p:spPr>
      </p:pic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latin typeface="Jura"/>
                <a:ea typeface="Jura"/>
                <a:cs typeface="Jura"/>
                <a:sym typeface="Jura"/>
              </a:defRPr>
            </a:lvl1pPr>
            <a:lvl2pPr lvl="1">
              <a:buNone/>
              <a:defRPr>
                <a:latin typeface="Jura"/>
                <a:ea typeface="Jura"/>
                <a:cs typeface="Jura"/>
                <a:sym typeface="Jura"/>
              </a:defRPr>
            </a:lvl2pPr>
            <a:lvl3pPr lvl="2">
              <a:buNone/>
              <a:defRPr>
                <a:latin typeface="Jura"/>
                <a:ea typeface="Jura"/>
                <a:cs typeface="Jura"/>
                <a:sym typeface="Jura"/>
              </a:defRPr>
            </a:lvl3pPr>
            <a:lvl4pPr lvl="3">
              <a:buNone/>
              <a:defRPr>
                <a:latin typeface="Jura"/>
                <a:ea typeface="Jura"/>
                <a:cs typeface="Jura"/>
                <a:sym typeface="Jura"/>
              </a:defRPr>
            </a:lvl4pPr>
            <a:lvl5pPr lvl="4">
              <a:buNone/>
              <a:defRPr>
                <a:latin typeface="Jura"/>
                <a:ea typeface="Jura"/>
                <a:cs typeface="Jura"/>
                <a:sym typeface="Jura"/>
              </a:defRPr>
            </a:lvl5pPr>
            <a:lvl6pPr lvl="5">
              <a:buNone/>
              <a:defRPr>
                <a:latin typeface="Jura"/>
                <a:ea typeface="Jura"/>
                <a:cs typeface="Jura"/>
                <a:sym typeface="Jura"/>
              </a:defRPr>
            </a:lvl6pPr>
            <a:lvl7pPr lvl="6">
              <a:buNone/>
              <a:defRPr>
                <a:latin typeface="Jura"/>
                <a:ea typeface="Jura"/>
                <a:cs typeface="Jura"/>
                <a:sym typeface="Jura"/>
              </a:defRPr>
            </a:lvl7pPr>
            <a:lvl8pPr lvl="7">
              <a:buNone/>
              <a:defRPr>
                <a:latin typeface="Jura"/>
                <a:ea typeface="Jura"/>
                <a:cs typeface="Jura"/>
                <a:sym typeface="Jura"/>
              </a:defRPr>
            </a:lvl8pPr>
            <a:lvl9pPr lvl="8">
              <a:buNone/>
              <a:defRPr>
                <a:latin typeface="Jura"/>
                <a:ea typeface="Jura"/>
                <a:cs typeface="Jura"/>
                <a:sym typeface="Ju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70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5200">
                <a:solidFill>
                  <a:srgbClr val="0B539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2800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5138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807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11-08-2025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887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github.com/LabRobDIMEC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791C1700-F039-E3F2-E0F1-951B378EDAF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9079" y="-56753"/>
            <a:ext cx="1614921" cy="734055"/>
          </a:xfrm>
          <a:prstGeom prst="rect">
            <a:avLst/>
          </a:prstGeom>
        </p:spPr>
      </p:pic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Jura"/>
              <a:buChar char="●"/>
              <a:defRPr sz="1800"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○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■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●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○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■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●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○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ura"/>
              <a:buChar char="■"/>
              <a:defRPr>
                <a:solidFill>
                  <a:schemeClr val="dk2"/>
                </a:solidFill>
                <a:latin typeface="Jura"/>
                <a:ea typeface="Jura"/>
                <a:cs typeface="Jura"/>
                <a:sym typeface="Jura"/>
              </a:defRPr>
            </a:lvl9pPr>
          </a:lstStyle>
          <a:p>
            <a:endParaRPr lang="es-CL" dirty="0"/>
          </a:p>
        </p:txBody>
      </p:sp>
      <p:sp>
        <p:nvSpPr>
          <p:cNvPr id="8" name="Google Shape;8;p1"/>
          <p:cNvSpPr/>
          <p:nvPr/>
        </p:nvSpPr>
        <p:spPr>
          <a:xfrm>
            <a:off x="114500" y="-310825"/>
            <a:ext cx="392700" cy="220800"/>
          </a:xfrm>
          <a:prstGeom prst="rect">
            <a:avLst/>
          </a:prstGeom>
          <a:solidFill>
            <a:srgbClr val="EFEEE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507200" y="-310825"/>
            <a:ext cx="392700" cy="220800"/>
          </a:xfrm>
          <a:prstGeom prst="rect">
            <a:avLst/>
          </a:prstGeom>
          <a:solidFill>
            <a:srgbClr val="DDCFCE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899900" y="-310825"/>
            <a:ext cx="392700" cy="220800"/>
          </a:xfrm>
          <a:prstGeom prst="rect">
            <a:avLst/>
          </a:prstGeom>
          <a:solidFill>
            <a:srgbClr val="420AD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1292600" y="-310825"/>
            <a:ext cx="392700" cy="2208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685300" y="-310825"/>
            <a:ext cx="392700" cy="220800"/>
          </a:xfrm>
          <a:prstGeom prst="rect">
            <a:avLst/>
          </a:prstGeom>
          <a:solidFill>
            <a:srgbClr val="45DDE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2078000" y="-310825"/>
            <a:ext cx="392700" cy="220800"/>
          </a:xfrm>
          <a:prstGeom prst="rect">
            <a:avLst/>
          </a:prstGeom>
          <a:solidFill>
            <a:srgbClr val="FF99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470700" y="-310825"/>
            <a:ext cx="392700" cy="220800"/>
          </a:xfrm>
          <a:prstGeom prst="rect">
            <a:avLst/>
          </a:prstGeom>
          <a:solidFill>
            <a:srgbClr val="9D8DF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2863400" y="-310825"/>
            <a:ext cx="392700" cy="220800"/>
          </a:xfrm>
          <a:prstGeom prst="rect">
            <a:avLst/>
          </a:prstGeom>
          <a:solidFill>
            <a:srgbClr val="56504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6" name="Google Shape;16;p1" title="logo_lemur_negro.png">
            <a:hlinkClick r:id="rId15"/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14500" y="4663224"/>
            <a:ext cx="1166283" cy="39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1"/>
          <p:cNvCxnSpPr/>
          <p:nvPr/>
        </p:nvCxnSpPr>
        <p:spPr>
          <a:xfrm>
            <a:off x="171750" y="4607800"/>
            <a:ext cx="8800500" cy="1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692043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3C09CA"/>
          </a:solidFill>
          <a:latin typeface="+mj-lt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311704" y="744575"/>
            <a:ext cx="40167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"/>
              <a:t>Mecatrónica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08000"/>
              <a:buNone/>
            </a:pPr>
            <a:r>
              <a:rPr lang="es" sz="2500"/>
              <a:t>ME-4250</a:t>
            </a:r>
            <a:endParaRPr sz="250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s"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086904" y="2940116"/>
            <a:ext cx="24663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400" b="0" i="0" u="none" strike="noStrike" cap="none" dirty="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084" y="606431"/>
            <a:ext cx="3930616" cy="393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Que es Mecatrónica?</a:t>
            </a:r>
          </a:p>
          <a:p>
            <a:r>
              <a:rPr lang="es-CL" dirty="0"/>
              <a:t>Conceptos Básicos</a:t>
            </a:r>
          </a:p>
          <a:p>
            <a:r>
              <a:rPr lang="es-CL" dirty="0"/>
              <a:t>Microcontrolador</a:t>
            </a:r>
          </a:p>
          <a:p>
            <a:r>
              <a:rPr lang="es-CL" dirty="0"/>
              <a:t>Arquitectura de un microcontrolador</a:t>
            </a:r>
          </a:p>
          <a:p>
            <a:r>
              <a:rPr lang="es-CL" dirty="0"/>
              <a:t>ATMEGA328</a:t>
            </a:r>
          </a:p>
          <a:p>
            <a:r>
              <a:rPr lang="es-CL" dirty="0" err="1"/>
              <a:t>Arduino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07440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419" y="676583"/>
            <a:ext cx="4738254" cy="1020599"/>
          </a:xfrm>
        </p:spPr>
        <p:txBody>
          <a:bodyPr wrap="square" anchor="b">
            <a:normAutofit/>
          </a:bodyPr>
          <a:lstStyle/>
          <a:p>
            <a:r>
              <a:rPr lang="es-CL" dirty="0"/>
              <a:t>Mecatrónica? Que es 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type="body" idx="2"/>
          </p:nvPr>
        </p:nvSpPr>
        <p:spPr/>
        <p:txBody>
          <a:bodyPr wrap="square"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i="1" dirty="0"/>
              <a:t>A mechatronic system is not just a marriage of electrical and mechanical systems and is more than just a control system; it is a complete integration of all of them.</a:t>
            </a:r>
            <a:endParaRPr lang="es-CL" i="1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EBA660A-CEEB-CE6A-C054-E056298B74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s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59" y="1754886"/>
            <a:ext cx="2485208" cy="248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73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610" y="277080"/>
            <a:ext cx="5540399" cy="4709339"/>
          </a:xfrm>
        </p:spPr>
      </p:pic>
    </p:spTree>
    <p:extLst>
      <p:ext uri="{BB962C8B-B14F-4D97-AF65-F5344CB8AC3E}">
        <p14:creationId xmlns:p14="http://schemas.microsoft.com/office/powerpoint/2010/main" val="3371320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CL" dirty="0"/>
              <a:t>Microcontroladores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71B8EB6-A119-9835-397A-42DB270768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7428945"/>
              </p:ext>
            </p:extLst>
          </p:nvPr>
        </p:nvGraphicFramePr>
        <p:xfrm>
          <a:off x="311150" y="1152525"/>
          <a:ext cx="8521700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99182E4-2936-7DAD-E39D-E884D61C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6C0AEB4C-1C2C-4B44-BB64-30797415D254}" type="slidenum">
              <a:rPr lang="es-CL" smtClean="0"/>
              <a:pPr>
                <a:spcAft>
                  <a:spcPts val="600"/>
                </a:spcAft>
              </a:pPr>
              <a:t>5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1A202-9C1C-FDA8-1366-0DEB6B668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Conceptos básicos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00C163-102D-63A0-A4F4-23A4D2927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CPU		</a:t>
            </a:r>
            <a:r>
              <a:rPr lang="en-US" dirty="0">
                <a:sym typeface="Wingdings" panose="05000000000000000000" pitchFamily="2" charset="2"/>
              </a:rPr>
              <a:t> 	</a:t>
            </a:r>
            <a:r>
              <a:rPr lang="en-US" dirty="0"/>
              <a:t>Central Processing Unit </a:t>
            </a:r>
          </a:p>
          <a:p>
            <a:r>
              <a:rPr lang="en-US" dirty="0"/>
              <a:t>RAM		</a:t>
            </a:r>
            <a:r>
              <a:rPr lang="en-US" dirty="0">
                <a:sym typeface="Wingdings" panose="05000000000000000000" pitchFamily="2" charset="2"/>
              </a:rPr>
              <a:t> 	</a:t>
            </a:r>
            <a:r>
              <a:rPr lang="en-US" dirty="0"/>
              <a:t>Random Access Memory </a:t>
            </a:r>
          </a:p>
          <a:p>
            <a:r>
              <a:rPr lang="en-US" dirty="0"/>
              <a:t>ROM 	</a:t>
            </a:r>
            <a:r>
              <a:rPr lang="en-US" dirty="0">
                <a:sym typeface="Wingdings" panose="05000000000000000000" pitchFamily="2" charset="2"/>
              </a:rPr>
              <a:t> 	</a:t>
            </a:r>
            <a:r>
              <a:rPr lang="en-US" dirty="0"/>
              <a:t>Read-only Memory </a:t>
            </a:r>
          </a:p>
          <a:p>
            <a:r>
              <a:rPr lang="en-US" dirty="0"/>
              <a:t>EPROM 	</a:t>
            </a:r>
            <a:r>
              <a:rPr lang="en-US" dirty="0">
                <a:sym typeface="Wingdings" panose="05000000000000000000" pitchFamily="2" charset="2"/>
              </a:rPr>
              <a:t> 	</a:t>
            </a:r>
            <a:r>
              <a:rPr lang="en-US" dirty="0"/>
              <a:t>Erasable-programmable ROM</a:t>
            </a:r>
          </a:p>
          <a:p>
            <a:r>
              <a:rPr lang="en-US" dirty="0"/>
              <a:t>EEPROM 	</a:t>
            </a:r>
            <a:r>
              <a:rPr lang="en-US" dirty="0">
                <a:sym typeface="Wingdings" panose="05000000000000000000" pitchFamily="2" charset="2"/>
              </a:rPr>
              <a:t> 	</a:t>
            </a:r>
            <a:r>
              <a:rPr lang="en-US" dirty="0"/>
              <a:t>Electrical Erasable-programmable ROM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44588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D944A-3D83-0B9A-0226-EB84308B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031" y="463888"/>
            <a:ext cx="2460752" cy="1108928"/>
          </a:xfrm>
        </p:spPr>
        <p:txBody>
          <a:bodyPr anchor="b">
            <a:normAutofit/>
          </a:bodyPr>
          <a:lstStyle/>
          <a:p>
            <a:r>
              <a:rPr lang="es-CL" sz="1800"/>
              <a:t>Arquitectura típica de un microcontrolador</a:t>
            </a:r>
          </a:p>
        </p:txBody>
      </p:sp>
      <p:pic>
        <p:nvPicPr>
          <p:cNvPr id="9" name="Marcador de contenido 8" descr="Diagrama&#10;&#10;Descripción generada automáticamente">
            <a:extLst>
              <a:ext uri="{FF2B5EF4-FFF2-40B4-BE49-F238E27FC236}">
                <a16:creationId xmlns:a16="http://schemas.microsoft.com/office/drawing/2014/main" id="{F7A72C4B-5532-8D72-E427-799986A99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41" y="862055"/>
            <a:ext cx="4584287" cy="341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7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D814D-8375-319F-BA40-530CEE008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463889"/>
            <a:ext cx="2951559" cy="1043443"/>
          </a:xfrm>
        </p:spPr>
        <p:txBody>
          <a:bodyPr>
            <a:normAutofit/>
          </a:bodyPr>
          <a:lstStyle/>
          <a:p>
            <a:pPr algn="ctr"/>
            <a:r>
              <a:rPr lang="es-CL" dirty="0"/>
              <a:t>ATMega328p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85630" y="814388"/>
            <a:ext cx="2490192" cy="369280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L" sz="900" b="1" dirty="0">
                <a:solidFill>
                  <a:schemeClr val="bg2"/>
                </a:solidFill>
              </a:rPr>
              <a:t>Características Generales</a:t>
            </a:r>
          </a:p>
          <a:p>
            <a:pPr marL="0" indent="0">
              <a:lnSpc>
                <a:spcPct val="100000"/>
              </a:lnSpc>
              <a:buNone/>
            </a:pPr>
            <a:endParaRPr lang="es-CL" sz="900" b="1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Arquitectura</a:t>
            </a:r>
            <a:r>
              <a:rPr lang="es-CL" sz="900" dirty="0">
                <a:solidFill>
                  <a:schemeClr val="bg2"/>
                </a:solidFill>
              </a:rPr>
              <a:t>: AVR de 8 bits (RISC)</a:t>
            </a: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Frecuencia de operación</a:t>
            </a:r>
            <a:r>
              <a:rPr lang="es-CL" sz="900" dirty="0">
                <a:solidFill>
                  <a:schemeClr val="bg2"/>
                </a:solidFill>
              </a:rPr>
              <a:t>: Hasta </a:t>
            </a:r>
            <a:r>
              <a:rPr lang="es-CL" sz="900" b="1" dirty="0">
                <a:solidFill>
                  <a:schemeClr val="bg2"/>
                </a:solidFill>
              </a:rPr>
              <a:t>20 MHz</a:t>
            </a:r>
            <a:r>
              <a:rPr lang="es-CL" sz="900" dirty="0">
                <a:solidFill>
                  <a:schemeClr val="bg2"/>
                </a:solidFill>
              </a:rPr>
              <a:t> con cristal externo</a:t>
            </a: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Memoria Flash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32 KB</a:t>
            </a:r>
            <a:r>
              <a:rPr lang="es-CL" sz="900" dirty="0">
                <a:solidFill>
                  <a:schemeClr val="bg2"/>
                </a:solidFill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RAM (SRAM)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2 KB</a:t>
            </a:r>
            <a:endParaRPr lang="es-CL" sz="900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EEPROM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1 KB</a:t>
            </a:r>
            <a:endParaRPr lang="es-CL" sz="900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Voltaje de operación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1.8V - 5.5V</a:t>
            </a:r>
            <a:r>
              <a:rPr lang="es-CL" sz="900" dirty="0">
                <a:solidFill>
                  <a:schemeClr val="bg2"/>
                </a:solidFill>
              </a:rPr>
              <a:t> (según la versión)</a:t>
            </a:r>
          </a:p>
          <a:p>
            <a:pPr>
              <a:lnSpc>
                <a:spcPct val="100000"/>
              </a:lnSpc>
            </a:pPr>
            <a:endParaRPr lang="es-CL" sz="900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s-CL" sz="900" b="1" dirty="0">
                <a:solidFill>
                  <a:schemeClr val="bg2"/>
                </a:solidFill>
              </a:rPr>
              <a:t>Puertos y E/S</a:t>
            </a:r>
          </a:p>
          <a:p>
            <a:pPr marL="0" indent="0">
              <a:lnSpc>
                <a:spcPct val="100000"/>
              </a:lnSpc>
              <a:buNone/>
            </a:pPr>
            <a:endParaRPr lang="es-CL" sz="900" b="1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Número de pines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28 pines en PDIP</a:t>
            </a:r>
            <a:r>
              <a:rPr lang="es-CL" sz="900" dirty="0">
                <a:solidFill>
                  <a:schemeClr val="bg2"/>
                </a:solidFill>
              </a:rPr>
              <a:t>, </a:t>
            </a:r>
            <a:r>
              <a:rPr lang="es-CL" sz="900" b="1" dirty="0">
                <a:solidFill>
                  <a:schemeClr val="bg2"/>
                </a:solidFill>
              </a:rPr>
              <a:t>32 en TQFP/QFN</a:t>
            </a:r>
            <a:endParaRPr lang="es-CL" sz="900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Pines de E/S digitales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23</a:t>
            </a:r>
            <a:r>
              <a:rPr lang="es-CL" sz="900" dirty="0">
                <a:solidFill>
                  <a:schemeClr val="bg2"/>
                </a:solidFill>
              </a:rPr>
              <a:t> (configurables como entrada o salida)</a:t>
            </a: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Entradas analógicas</a:t>
            </a:r>
            <a:r>
              <a:rPr lang="es-CL" sz="900" dirty="0">
                <a:solidFill>
                  <a:schemeClr val="bg2"/>
                </a:solidFill>
              </a:rPr>
              <a:t>: </a:t>
            </a:r>
            <a:r>
              <a:rPr lang="es-CL" sz="900" b="1" dirty="0">
                <a:solidFill>
                  <a:schemeClr val="bg2"/>
                </a:solidFill>
              </a:rPr>
              <a:t>6 canales en la versión PDIP, 8 en TQFP/QFN</a:t>
            </a:r>
            <a:r>
              <a:rPr lang="es-CL" sz="900" dirty="0">
                <a:solidFill>
                  <a:schemeClr val="bg2"/>
                </a:solidFill>
              </a:rPr>
              <a:t> (10 bits de resolución)</a:t>
            </a:r>
          </a:p>
          <a:p>
            <a:pPr>
              <a:lnSpc>
                <a:spcPct val="100000"/>
              </a:lnSpc>
            </a:pPr>
            <a:r>
              <a:rPr lang="es-CL" sz="900" b="1" dirty="0">
                <a:solidFill>
                  <a:schemeClr val="bg2"/>
                </a:solidFill>
              </a:rPr>
              <a:t>PWM</a:t>
            </a:r>
            <a:r>
              <a:rPr lang="es-CL" sz="900" dirty="0">
                <a:solidFill>
                  <a:schemeClr val="bg2"/>
                </a:solidFill>
              </a:rPr>
              <a:t>: Hasta </a:t>
            </a:r>
            <a:r>
              <a:rPr lang="es-CL" sz="900" b="1" dirty="0">
                <a:solidFill>
                  <a:schemeClr val="bg2"/>
                </a:solidFill>
              </a:rPr>
              <a:t>6 pines</a:t>
            </a:r>
            <a:r>
              <a:rPr lang="es-CL" sz="900" dirty="0">
                <a:solidFill>
                  <a:schemeClr val="bg2"/>
                </a:solidFill>
              </a:rPr>
              <a:t> con salida PWM</a:t>
            </a:r>
          </a:p>
        </p:txBody>
      </p:sp>
      <p:pic>
        <p:nvPicPr>
          <p:cNvPr id="5" name="Marcador de contenido 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EFFAE137-FC0C-99DC-FB5F-DECA0DA389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2056"/>
          <a:stretch/>
        </p:blipFill>
        <p:spPr>
          <a:xfrm>
            <a:off x="713185" y="1873290"/>
            <a:ext cx="3251597" cy="2125745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Marcador de contenido 2"/>
          <p:cNvSpPr txBox="1">
            <a:spLocks/>
          </p:cNvSpPr>
          <p:nvPr/>
        </p:nvSpPr>
        <p:spPr>
          <a:xfrm>
            <a:off x="6575822" y="818285"/>
            <a:ext cx="2152053" cy="3692805"/>
          </a:xfrm>
          <a:prstGeom prst="rect">
            <a:avLst/>
          </a:prstGeom>
        </p:spPr>
        <p:txBody>
          <a:bodyPr vert="horz" lIns="68580" tIns="34290" rIns="68580" bIns="3429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Comunicaciones</a:t>
            </a:r>
          </a:p>
          <a:p>
            <a:pPr marL="0" indent="0" algn="just">
              <a:buNone/>
            </a:pPr>
            <a:endParaRPr lang="es-CL" sz="3600" b="1" dirty="0">
              <a:solidFill>
                <a:schemeClr val="bg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UART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1 (soporta comunicación serie, como en Arduino)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SPI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1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I²C (TWI)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1</a:t>
            </a:r>
          </a:p>
          <a:p>
            <a:pPr marL="0" indent="0" algn="just">
              <a:buNone/>
            </a:pPr>
            <a:r>
              <a:rPr lang="es-CL" sz="3600" b="1" dirty="0" err="1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Timers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y PWM</a:t>
            </a:r>
          </a:p>
          <a:p>
            <a:pPr marL="0" indent="0" algn="just">
              <a:buNone/>
            </a:pPr>
            <a:endParaRPr lang="es-CL" sz="3600" b="1" dirty="0">
              <a:solidFill>
                <a:schemeClr val="bg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 err="1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Timer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de 8 bits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2 (Timer0 y Timer2)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 err="1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Timer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 de 16 bits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1 (Timer1)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Canales de PWM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6 (controlados por los </a:t>
            </a:r>
            <a:r>
              <a:rPr lang="es-CL" sz="3600" dirty="0" err="1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timers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)</a:t>
            </a:r>
          </a:p>
          <a:p>
            <a:pPr marL="0" indent="0" algn="just">
              <a:buNone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Conversor A/D</a:t>
            </a:r>
          </a:p>
          <a:p>
            <a:pPr marL="0" indent="0" algn="just">
              <a:buNone/>
            </a:pPr>
            <a:endParaRPr lang="es-CL" sz="3600" b="1" dirty="0">
              <a:solidFill>
                <a:schemeClr val="bg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Resolución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10 bits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Canales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6 en DIP, 8 en TQFP/QFN</a:t>
            </a:r>
          </a:p>
          <a:p>
            <a:pPr marL="4572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Roboto Slab"/>
              <a:buChar char="●"/>
              <a:tabLst/>
              <a:defRPr/>
            </a:pP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Velocidad de conversión</a:t>
            </a:r>
            <a:r>
              <a:rPr lang="es-CL" sz="3600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: Hasta </a:t>
            </a:r>
            <a:r>
              <a:rPr lang="es-CL" sz="3600" b="1" dirty="0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15 </a:t>
            </a:r>
            <a:r>
              <a:rPr lang="es-CL" sz="3600" b="1" dirty="0" err="1">
                <a:solidFill>
                  <a:schemeClr val="bg2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kSPS</a:t>
            </a:r>
            <a:endParaRPr lang="es-CL" sz="3600" dirty="0">
              <a:solidFill>
                <a:schemeClr val="bg2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346666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6DA0BFBB-77B0-B9D2-B942-604AC3BFC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</p:spPr>
        <p:txBody>
          <a:bodyPr>
            <a:normAutofit/>
          </a:bodyPr>
          <a:lstStyle/>
          <a:p>
            <a:pPr algn="ctr"/>
            <a:r>
              <a:rPr lang="es-CL" dirty="0"/>
              <a:t>Diagrama ATMega328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BD4FDE-18BC-B602-BF81-7F336FFBF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br>
              <a:rPr lang="es-CL" dirty="0"/>
            </a:b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BED2E9-D32D-4ECC-1DD7-49394CAC7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40" y="1474787"/>
            <a:ext cx="3864769" cy="2771775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D99006DD-2AAF-48E4-37A9-A217A6B73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244743"/>
              </p:ext>
            </p:extLst>
          </p:nvPr>
        </p:nvGraphicFramePr>
        <p:xfrm>
          <a:off x="5023699" y="1678212"/>
          <a:ext cx="1446271" cy="266884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08397">
                  <a:extLst>
                    <a:ext uri="{9D8B030D-6E8A-4147-A177-3AD203B41FA5}">
                      <a16:colId xmlns:a16="http://schemas.microsoft.com/office/drawing/2014/main" val="2109897875"/>
                    </a:ext>
                  </a:extLst>
                </a:gridCol>
                <a:gridCol w="1237874">
                  <a:extLst>
                    <a:ext uri="{9D8B030D-6E8A-4147-A177-3AD203B41FA5}">
                      <a16:colId xmlns:a16="http://schemas.microsoft.com/office/drawing/2014/main" val="550381363"/>
                    </a:ext>
                  </a:extLst>
                </a:gridCol>
              </a:tblGrid>
              <a:tr h="377560">
                <a:tc>
                  <a:txBody>
                    <a:bodyPr/>
                    <a:lstStyle/>
                    <a:p>
                      <a:r>
                        <a:rPr lang="es-CL" sz="900" b="1" dirty="0">
                          <a:effectLst/>
                        </a:rPr>
                        <a:t>Pin</a:t>
                      </a:r>
                      <a:endParaRPr lang="es-CL" sz="900" b="1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b="1" dirty="0" err="1">
                          <a:effectLst/>
                        </a:rPr>
                        <a:t>Function</a:t>
                      </a:r>
                      <a:endParaRPr lang="es-CL" sz="900" b="1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2565753309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Reset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616511910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2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(RX)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478972675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3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(TX)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1587566111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4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39894571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5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(PWM)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3033478088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6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Digital Pin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4197622800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7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Positive </a:t>
                      </a:r>
                      <a:r>
                        <a:rPr lang="es-CL" sz="900" dirty="0" err="1">
                          <a:effectLst/>
                        </a:rPr>
                        <a:t>Voltage</a:t>
                      </a:r>
                      <a:r>
                        <a:rPr lang="es-CL" sz="900" dirty="0">
                          <a:effectLst/>
                        </a:rPr>
                        <a:t> (</a:t>
                      </a:r>
                      <a:r>
                        <a:rPr lang="es-CL" sz="900" dirty="0" err="1">
                          <a:effectLst/>
                        </a:rPr>
                        <a:t>Power</a:t>
                      </a:r>
                      <a:r>
                        <a:rPr lang="es-CL" sz="900" dirty="0">
                          <a:effectLst/>
                        </a:rPr>
                        <a:t>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2094865617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8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Ground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1645698187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9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Crystal Oscillator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274662465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10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Crystal Oscillator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836263042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11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Digital Pin (PWM)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1522183804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12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(PWM)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417896622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13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1631675480"/>
                  </a:ext>
                </a:extLst>
              </a:tr>
              <a:tr h="148500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14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2956786844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B4C406DA-A15E-E073-A02A-7A159E071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428438"/>
              </p:ext>
            </p:extLst>
          </p:nvPr>
        </p:nvGraphicFramePr>
        <p:xfrm>
          <a:off x="6469970" y="1678212"/>
          <a:ext cx="2030203" cy="266884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08397">
                  <a:extLst>
                    <a:ext uri="{9D8B030D-6E8A-4147-A177-3AD203B41FA5}">
                      <a16:colId xmlns:a16="http://schemas.microsoft.com/office/drawing/2014/main" val="2109897875"/>
                    </a:ext>
                  </a:extLst>
                </a:gridCol>
                <a:gridCol w="1821806">
                  <a:extLst>
                    <a:ext uri="{9D8B030D-6E8A-4147-A177-3AD203B41FA5}">
                      <a16:colId xmlns:a16="http://schemas.microsoft.com/office/drawing/2014/main" val="550381363"/>
                    </a:ext>
                  </a:extLst>
                </a:gridCol>
              </a:tblGrid>
              <a:tr h="387169">
                <a:tc>
                  <a:txBody>
                    <a:bodyPr/>
                    <a:lstStyle/>
                    <a:p>
                      <a:r>
                        <a:rPr lang="es-CL" sz="900" b="1" dirty="0">
                          <a:effectLst/>
                        </a:rPr>
                        <a:t>Pin</a:t>
                      </a:r>
                      <a:endParaRPr lang="es-CL" sz="900" b="1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tc>
                  <a:txBody>
                    <a:bodyPr/>
                    <a:lstStyle/>
                    <a:p>
                      <a:r>
                        <a:rPr lang="es-CL" sz="900" b="1" dirty="0" err="1">
                          <a:effectLst/>
                        </a:rPr>
                        <a:t>Function</a:t>
                      </a:r>
                      <a:endParaRPr lang="es-CL" sz="900" b="1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8353" marR="8353" marT="8353" marB="8353" anchor="ctr"/>
                </a:tc>
                <a:extLst>
                  <a:ext uri="{0D108BD9-81ED-4DB2-BD59-A6C34878D82A}">
                    <a16:rowId xmlns:a16="http://schemas.microsoft.com/office/drawing/2014/main" val="2565753309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15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(PWM)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616511910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16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(PWM)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478972675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17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(PWM)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1587566111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18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 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39894571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19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Digital Pin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3033478088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20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da-DK" sz="900" dirty="0">
                          <a:effectLst/>
                        </a:rPr>
                        <a:t>Positive voltage for ADC (power)</a:t>
                      </a:r>
                      <a:endParaRPr lang="da-DK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4197622800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21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>
                          <a:effectLst/>
                        </a:rPr>
                        <a:t>Reference </a:t>
                      </a:r>
                      <a:r>
                        <a:rPr lang="es-CL" sz="900" dirty="0" err="1">
                          <a:effectLst/>
                        </a:rPr>
                        <a:t>Voltage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2094865617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22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Ground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1645698187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23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Analog</a:t>
                      </a:r>
                      <a:r>
                        <a:rPr lang="es-CL" sz="900" dirty="0">
                          <a:effectLst/>
                        </a:rPr>
                        <a:t> Input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274662465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24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Analog</a:t>
                      </a:r>
                      <a:r>
                        <a:rPr lang="es-CL" sz="900" dirty="0">
                          <a:effectLst/>
                        </a:rPr>
                        <a:t> Input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836263042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25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Analog Input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1522183804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26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Analog</a:t>
                      </a:r>
                      <a:r>
                        <a:rPr lang="es-CL" sz="900" dirty="0">
                          <a:effectLst/>
                        </a:rPr>
                        <a:t> Input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417896622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27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Analog</a:t>
                      </a:r>
                      <a:r>
                        <a:rPr lang="es-CL" sz="900" dirty="0">
                          <a:effectLst/>
                        </a:rPr>
                        <a:t> Input 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1631675480"/>
                  </a:ext>
                </a:extLst>
              </a:tr>
              <a:tr h="162977">
                <a:tc>
                  <a:txBody>
                    <a:bodyPr/>
                    <a:lstStyle/>
                    <a:p>
                      <a:r>
                        <a:rPr lang="es-CL" sz="900">
                          <a:effectLst/>
                        </a:rPr>
                        <a:t>28</a:t>
                      </a:r>
                      <a:endParaRPr lang="es-CL" sz="90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tc>
                  <a:txBody>
                    <a:bodyPr/>
                    <a:lstStyle/>
                    <a:p>
                      <a:r>
                        <a:rPr lang="es-CL" sz="900" dirty="0" err="1">
                          <a:effectLst/>
                        </a:rPr>
                        <a:t>Analog</a:t>
                      </a:r>
                      <a:r>
                        <a:rPr lang="es-CL" sz="900" dirty="0">
                          <a:effectLst/>
                        </a:rPr>
                        <a:t> Input</a:t>
                      </a:r>
                      <a:endParaRPr lang="es-CL" sz="900" dirty="0">
                        <a:effectLst/>
                        <a:latin typeface="Roboto Slab" pitchFamily="2" charset="0"/>
                        <a:ea typeface="Roboto Slab" pitchFamily="2" charset="0"/>
                        <a:cs typeface="Roboto Slab" pitchFamily="2" charset="0"/>
                      </a:endParaRPr>
                    </a:p>
                  </a:txBody>
                  <a:tcPr marL="10886" marR="10886" marT="10886" marB="10886" anchor="ctr"/>
                </a:tc>
                <a:extLst>
                  <a:ext uri="{0D108BD9-81ED-4DB2-BD59-A6C34878D82A}">
                    <a16:rowId xmlns:a16="http://schemas.microsoft.com/office/drawing/2014/main" val="2956786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802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2B4BF-4C5E-6DDC-6069-F2B01812B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319" y="1219200"/>
            <a:ext cx="2801206" cy="893728"/>
          </a:xfrm>
        </p:spPr>
        <p:txBody>
          <a:bodyPr spcFirstLastPara="1" vert="horz" wrap="square" lIns="68580" tIns="34290" rIns="68580" bIns="34290" rtlCol="0" anchor="b" anchorCtr="0">
            <a:normAutofit/>
          </a:bodyPr>
          <a:lstStyle/>
          <a:p>
            <a:r>
              <a:rPr lang="en-US" sz="3600" dirty="0"/>
              <a:t>Arduino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887C53-93F7-2CF4-BD0F-7F259E5A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319" y="2701529"/>
            <a:ext cx="2801207" cy="1539540"/>
          </a:xfrm>
        </p:spPr>
        <p:txBody>
          <a:bodyPr spcFirstLastPara="1" vert="horz" wrap="square" lIns="68580" tIns="34290" rIns="68580" bIns="34290" rtlCol="0" anchor="t" anchorCtr="0">
            <a:normAutofit/>
          </a:bodyPr>
          <a:lstStyle/>
          <a:p>
            <a:pPr marL="0" indent="0">
              <a:buNone/>
            </a:pPr>
            <a:r>
              <a:rPr lang="en-US" sz="1500" cap="all" dirty="0" err="1">
                <a:solidFill>
                  <a:schemeClr val="tx1"/>
                </a:solidFill>
              </a:rPr>
              <a:t>Plataforma</a:t>
            </a:r>
            <a:r>
              <a:rPr lang="en-US" sz="1500" cap="all" dirty="0">
                <a:solidFill>
                  <a:schemeClr val="tx1"/>
                </a:solidFill>
              </a:rPr>
              <a:t> de </a:t>
            </a:r>
            <a:r>
              <a:rPr lang="en-US" sz="1500" cap="all" dirty="0" err="1">
                <a:solidFill>
                  <a:schemeClr val="tx1"/>
                </a:solidFill>
              </a:rPr>
              <a:t>electrónica</a:t>
            </a:r>
            <a:r>
              <a:rPr lang="en-US" sz="1500" cap="all" dirty="0">
                <a:solidFill>
                  <a:schemeClr val="tx1"/>
                </a:solidFill>
              </a:rPr>
              <a:t> «open-source» o de </a:t>
            </a:r>
            <a:r>
              <a:rPr lang="en-US" sz="1500" cap="all" dirty="0" err="1">
                <a:solidFill>
                  <a:schemeClr val="tx1"/>
                </a:solidFill>
              </a:rPr>
              <a:t>código</a:t>
            </a:r>
            <a:r>
              <a:rPr lang="en-US" sz="1500" cap="all" dirty="0">
                <a:solidFill>
                  <a:schemeClr val="tx1"/>
                </a:solidFill>
              </a:rPr>
              <a:t> </a:t>
            </a:r>
            <a:r>
              <a:rPr lang="en-US" sz="1500" cap="all" dirty="0" err="1">
                <a:solidFill>
                  <a:schemeClr val="tx1"/>
                </a:solidFill>
              </a:rPr>
              <a:t>abierto</a:t>
            </a:r>
            <a:endParaRPr lang="en-US" sz="1500" cap="all" dirty="0">
              <a:solidFill>
                <a:schemeClr val="tx1"/>
              </a:solidFill>
            </a:endParaRPr>
          </a:p>
        </p:txBody>
      </p:sp>
      <p:pic>
        <p:nvPicPr>
          <p:cNvPr id="6" name="Imagen 5" descr="Un circuito electrónico&#10;&#10;Descripción generada automáticamente con confianza baja">
            <a:extLst>
              <a:ext uri="{FF2B5EF4-FFF2-40B4-BE49-F238E27FC236}">
                <a16:creationId xmlns:a16="http://schemas.microsoft.com/office/drawing/2014/main" id="{E8836A63-DC3B-4C80-3470-722B7B428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8" b="10078"/>
          <a:stretch/>
        </p:blipFill>
        <p:spPr>
          <a:xfrm>
            <a:off x="4816048" y="1027656"/>
            <a:ext cx="3476687" cy="308257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F3C21C0-35DC-B0E0-E80F-33F979C3A088}"/>
              </a:ext>
            </a:extLst>
          </p:cNvPr>
          <p:cNvSpPr txBox="1"/>
          <p:nvPr/>
        </p:nvSpPr>
        <p:spPr>
          <a:xfrm>
            <a:off x="857250" y="4676210"/>
            <a:ext cx="74294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450"/>
              </a:spcAft>
            </a:pPr>
            <a:r>
              <a:rPr lang="es-CL" sz="1050" dirty="0"/>
              <a:t>https://www.arduino.cc/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AA6C6B86-0314-04B4-78FB-62C2AC569477}"/>
              </a:ext>
            </a:extLst>
          </p:cNvPr>
          <p:cNvSpPr txBox="1"/>
          <p:nvPr/>
        </p:nvSpPr>
        <p:spPr>
          <a:xfrm>
            <a:off x="1651490" y="4679963"/>
            <a:ext cx="457947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50" dirty="0"/>
              <a:t>https://create.arduino.cc</a:t>
            </a:r>
          </a:p>
        </p:txBody>
      </p:sp>
    </p:spTree>
    <p:extLst>
      <p:ext uri="{BB962C8B-B14F-4D97-AF65-F5344CB8AC3E}">
        <p14:creationId xmlns:p14="http://schemas.microsoft.com/office/powerpoint/2010/main" val="2231401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Marcador de contenido 4" descr="Imagen de la pantalla de un celular con letras&#10;&#10;Descripción generada automáticamente con confianza media">
            <a:extLst>
              <a:ext uri="{FF2B5EF4-FFF2-40B4-BE49-F238E27FC236}">
                <a16:creationId xmlns:a16="http://schemas.microsoft.com/office/drawing/2014/main" id="{199A9D5E-74D1-0DB7-4AE8-0C73DD422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663" y="482600"/>
            <a:ext cx="5322674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88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8E706-9F9A-306B-B8E2-646DE7E6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me">
            <a:hlinkClick r:id="" action="ppaction://media"/>
            <a:extLst>
              <a:ext uri="{FF2B5EF4-FFF2-40B4-BE49-F238E27FC236}">
                <a16:creationId xmlns:a16="http://schemas.microsoft.com/office/drawing/2014/main" id="{0B3AA72A-3A15-8EC0-BBD9-8EDA2C15D7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32455" y="200025"/>
            <a:ext cx="2668923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1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emur_v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Roboto">
      <a:majorFont>
        <a:latin typeface="Aptos Display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mur_v1" id="{BFE67A01-46B2-482E-925A-B8D5256721A7}" vid="{678E0A26-4488-4391-95BB-C54821BC4AA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Lemur_v1</Template>
  <TotalTime>20</TotalTime>
  <Words>477</Words>
  <Application>Microsoft Office PowerPoint</Application>
  <PresentationFormat>Presentación en pantalla (16:9)</PresentationFormat>
  <Paragraphs>124</Paragraphs>
  <Slides>12</Slides>
  <Notes>1</Notes>
  <HiddenSlides>0</HiddenSlides>
  <MMClips>1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Wingdings</vt:lpstr>
      <vt:lpstr>Roboto Slab</vt:lpstr>
      <vt:lpstr>Albert Sans</vt:lpstr>
      <vt:lpstr>Arial</vt:lpstr>
      <vt:lpstr>Bungee Shade</vt:lpstr>
      <vt:lpstr>Jura</vt:lpstr>
      <vt:lpstr>Lemur_v1</vt:lpstr>
      <vt:lpstr>Mecatrónica ME-4250</vt:lpstr>
      <vt:lpstr>Contenido</vt:lpstr>
      <vt:lpstr>Mecatrónica? Que es ?</vt:lpstr>
      <vt:lpstr>Presentación de PowerPoint</vt:lpstr>
      <vt:lpstr>Microcontroladores</vt:lpstr>
      <vt:lpstr>Conceptos básicos </vt:lpstr>
      <vt:lpstr>Arquitectura típica de un microcontrolador</vt:lpstr>
      <vt:lpstr>ATMega328p</vt:lpstr>
      <vt:lpstr>Diagrama ATMega328</vt:lpstr>
      <vt:lpstr>Arduino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Mecatrónica ME-4250</dc:title>
  <cp:lastModifiedBy>Harold Valenzuela Coloma (harold.valenzuela)</cp:lastModifiedBy>
  <cp:revision>4</cp:revision>
  <dcterms:modified xsi:type="dcterms:W3CDTF">2025-08-11T14:57:40Z</dcterms:modified>
</cp:coreProperties>
</file>