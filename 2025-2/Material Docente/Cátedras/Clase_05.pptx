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sldIdLst>
    <p:sldId id="272" r:id="rId2"/>
    <p:sldId id="276" r:id="rId3"/>
    <p:sldId id="264" r:id="rId4"/>
    <p:sldId id="283" r:id="rId5"/>
    <p:sldId id="284" r:id="rId6"/>
    <p:sldId id="257" r:id="rId7"/>
    <p:sldId id="281" r:id="rId8"/>
    <p:sldId id="285" r:id="rId9"/>
    <p:sldId id="287" r:id="rId10"/>
    <p:sldId id="288" r:id="rId11"/>
    <p:sldId id="289" r:id="rId12"/>
    <p:sldId id="290" r:id="rId13"/>
    <p:sldId id="291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18658-342A-4BFC-8DA0-AD3A0F790DD1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2926B-8E7D-4B03-86BA-F05DD17108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367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07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291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904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296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0713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005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4247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5998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121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7237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30-09-2025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56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3">
            <a:alphaModFix amt="63000"/>
          </a:blip>
          <a:stretch>
            <a:fillRect/>
          </a:stretch>
        </p:blipFill>
        <p:spPr>
          <a:xfrm>
            <a:off x="0" y="-62767"/>
            <a:ext cx="2015307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4">
            <a:alphaModFix amt="63000"/>
          </a:blip>
          <a:stretch>
            <a:fillRect/>
          </a:stretch>
        </p:blipFill>
        <p:spPr>
          <a:xfrm>
            <a:off x="11243117" y="-15"/>
            <a:ext cx="948900" cy="9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lvl="1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lvl="2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lvl="3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lvl="4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lvl="5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lvl="6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lvl="7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lvl="8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80562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5" r:id="rId8"/>
    <p:sldLayoutId id="2147483706" r:id="rId9"/>
    <p:sldLayoutId id="2147483707" r:id="rId10"/>
    <p:sldLayoutId id="2147483708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SNtifE0Z2Q" TargetMode="External"/><Relationship Id="rId2" Type="http://schemas.openxmlformats.org/officeDocument/2006/relationships/hyperlink" Target="https://www.youtube.com/watch?v=Pn-6bGORy0U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TjdGuBK9mI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4" y="992767"/>
            <a:ext cx="5571127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l">
              <a:buSzPct val="100000"/>
            </a:pPr>
            <a:r>
              <a:rPr lang="es" dirty="0"/>
              <a:t>Mecatrónica</a:t>
            </a:r>
            <a:endParaRPr dirty="0"/>
          </a:p>
          <a:p>
            <a:pPr algn="l">
              <a:buSzPct val="208000"/>
            </a:pPr>
            <a:r>
              <a:rPr lang="es" sz="3333" dirty="0"/>
              <a:t>ME-4250</a:t>
            </a:r>
            <a:endParaRPr sz="3333" dirty="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s"/>
              <a:pPr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52400" y="5887500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3412E-AD6B-8A27-3426-57A6631C5F4D}"/>
              </a:ext>
            </a:extLst>
          </p:cNvPr>
          <p:cNvSpPr txBox="1"/>
          <p:nvPr/>
        </p:nvSpPr>
        <p:spPr>
          <a:xfrm>
            <a:off x="415605" y="4393035"/>
            <a:ext cx="4557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Font typeface="Roboto Slab"/>
              <a:buNone/>
              <a:tabLst/>
              <a:defRPr/>
            </a:pPr>
            <a:r>
              <a:rPr kumimoji="0" lang="es-CL" sz="2400" b="0" i="0" u="none" strike="noStrike" kern="0" cap="none" spc="0" normalizeH="0" baseline="0" noProof="0" dirty="0">
                <a:ln>
                  <a:noFill/>
                </a:ln>
                <a:solidFill>
                  <a:srgbClr val="0B5394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Actuadores</a:t>
            </a:r>
          </a:p>
        </p:txBody>
      </p:sp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5EB46D70-E623-45CA-A82E-E86AA37EC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505" y="1889432"/>
            <a:ext cx="4826240" cy="39980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448ED-3EFF-D86F-AD40-2EAE2026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0B5394"/>
                </a:solidFill>
              </a:rPr>
              <a:t>Que veremos hoy 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E0101-D7BD-0696-4371-F0702AF07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Actuadores </a:t>
            </a:r>
            <a:r>
              <a:rPr lang="es-CL" dirty="0" err="1"/>
              <a:t>Electromecanicos</a:t>
            </a:r>
            <a:endParaRPr lang="es-CL" dirty="0"/>
          </a:p>
          <a:p>
            <a:r>
              <a:rPr lang="es-CL" dirty="0" smtClean="0"/>
              <a:t>Actuadores </a:t>
            </a:r>
            <a:r>
              <a:rPr lang="es-CL" dirty="0" err="1"/>
              <a:t>Electricos</a:t>
            </a:r>
            <a:endParaRPr lang="es-CL" dirty="0"/>
          </a:p>
          <a:p>
            <a:r>
              <a:rPr lang="es-CL" dirty="0" smtClean="0"/>
              <a:t>Actuadores </a:t>
            </a:r>
            <a:r>
              <a:rPr lang="es-CL" dirty="0" err="1"/>
              <a:t>Electromagneticos</a:t>
            </a:r>
            <a:endParaRPr lang="es-CL" dirty="0"/>
          </a:p>
          <a:p>
            <a:r>
              <a:rPr lang="es-CL" dirty="0"/>
              <a:t>Actuadores de materiales inteligentes</a:t>
            </a:r>
          </a:p>
          <a:p>
            <a:r>
              <a:rPr lang="es-CL" dirty="0"/>
              <a:t>Micro y nano actuadores</a:t>
            </a:r>
          </a:p>
        </p:txBody>
      </p:sp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59CEA-0579-3948-FABD-94FDE05F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Actuadores Electromecánicos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F2EB74-AEBE-8575-472B-CF13A0B7D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5585150" cy="4555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 dirty="0"/>
              <a:t>El actuador electromecánico más común es un motor que convierte la energía eléctrica en movimiento mecánico. El motor es el principal medio de convertir la energía eléctrica en energía mecánica</a:t>
            </a:r>
            <a:endParaRPr lang="es-CL" dirty="0"/>
          </a:p>
        </p:txBody>
      </p:sp>
      <p:pic>
        <p:nvPicPr>
          <p:cNvPr id="7" name="Imagen 6" descr="Imagen que contiene interior, tabla, hecho de madera, pequeño&#10;&#10;El contenido generado por IA puede ser incorrecto.">
            <a:extLst>
              <a:ext uri="{FF2B5EF4-FFF2-40B4-BE49-F238E27FC236}">
                <a16:creationId xmlns:a16="http://schemas.microsoft.com/office/drawing/2014/main" id="{18E80C7C-139E-F783-C800-C2E043F53B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8" r="5644"/>
          <a:stretch/>
        </p:blipFill>
        <p:spPr>
          <a:xfrm>
            <a:off x="6191250" y="1536633"/>
            <a:ext cx="5585150" cy="455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75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AAF5-595D-4B59-32A4-36289B9F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00591-E36B-9664-14BA-0C8362B7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4100" dirty="0">
                <a:solidFill>
                  <a:srgbClr val="0B5394"/>
                </a:solidFill>
              </a:rPr>
              <a:t>Motores Corriente Alterna</a:t>
            </a:r>
          </a:p>
        </p:txBody>
      </p:sp>
      <p:pic>
        <p:nvPicPr>
          <p:cNvPr id="7" name="Marcador de contenido 6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0DB3795A-070E-BB6F-2D64-C5E9D9542B5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491" y="1547467"/>
            <a:ext cx="3242118" cy="4352544"/>
          </a:xfrm>
          <a:noFill/>
        </p:spPr>
      </p:pic>
      <p:pic>
        <p:nvPicPr>
          <p:cNvPr id="8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0520BB86-F33B-30FB-6D7B-1B926B4D8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408" y="1547467"/>
            <a:ext cx="4618083" cy="4352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376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88E6-B45D-759A-1E8F-A4CFC895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0C1F5-7B99-A477-497C-516157D5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0B5394"/>
                </a:solidFill>
              </a:rPr>
              <a:t>Motores Corriente Alterna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DBE1E4C-02AD-1134-4670-952141403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356968"/>
            <a:ext cx="5166050" cy="521528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CL" dirty="0"/>
              <a:t>Motores DC</a:t>
            </a:r>
          </a:p>
          <a:p>
            <a:pPr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Tienen </a:t>
            </a:r>
            <a:r>
              <a:rPr lang="es-ES" b="1" dirty="0"/>
              <a:t>escobillas</a:t>
            </a:r>
            <a:r>
              <a:rPr lang="es-ES" dirty="0"/>
              <a:t> (</a:t>
            </a:r>
            <a:r>
              <a:rPr lang="es-ES" dirty="0" err="1"/>
              <a:t>brushes</a:t>
            </a:r>
            <a:r>
              <a:rPr lang="es-ES" dirty="0"/>
              <a:t>) y un </a:t>
            </a:r>
            <a:r>
              <a:rPr lang="es-ES" b="1" dirty="0"/>
              <a:t>conmutador</a:t>
            </a:r>
            <a:r>
              <a:rPr lang="es-ES" dirty="0"/>
              <a:t> que cambian la dirección de la corriente dentro del rotor para mantener el giro.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También existen los </a:t>
            </a:r>
            <a:r>
              <a:rPr lang="es-ES" b="1" dirty="0" err="1"/>
              <a:t>brushless</a:t>
            </a:r>
            <a:r>
              <a:rPr lang="es-ES" b="1" dirty="0"/>
              <a:t> DC (BLDC)</a:t>
            </a:r>
            <a:r>
              <a:rPr lang="es-ES" dirty="0"/>
              <a:t>, que usan electrónica para el cambio de polaridad y son más duraderos.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/>
              <a:t>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Fácil control de velocidad y dirección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Funcionan bien a bajo voltaje (perfecto para robótica y Arduino)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Arranque rápido y buena respuesta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/>
              <a:t>Desventajas: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Desgaste por fricción en motores con escobillas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Menor vida útil (en </a:t>
            </a:r>
            <a:r>
              <a:rPr lang="es-ES" dirty="0" err="1"/>
              <a:t>brushed</a:t>
            </a:r>
            <a:r>
              <a:rPr lang="es-E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Limitaciones de potencia</a:t>
            </a:r>
          </a:p>
          <a:p>
            <a:pPr marL="114300" indent="0">
              <a:buNone/>
            </a:pPr>
            <a:endParaRPr lang="es-ES" dirty="0"/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D29E2F16-101D-FCF8-41DF-D1B8B24DA55A}"/>
              </a:ext>
            </a:extLst>
          </p:cNvPr>
          <p:cNvSpPr txBox="1">
            <a:spLocks/>
          </p:cNvSpPr>
          <p:nvPr/>
        </p:nvSpPr>
        <p:spPr>
          <a:xfrm>
            <a:off x="5825800" y="1356967"/>
            <a:ext cx="5166050" cy="521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marR="0" lvl="1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marR="0" lvl="2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marR="0" lvl="3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marR="0" lvl="4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marR="0" lvl="5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marR="0" lvl="6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marR="0" lvl="7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marR="0" lvl="8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>
              <a:buNone/>
            </a:pPr>
            <a:r>
              <a:rPr lang="es-CL" dirty="0"/>
              <a:t>Motores AC</a:t>
            </a:r>
            <a:endParaRPr lang="es-ES" b="1" dirty="0"/>
          </a:p>
          <a:p>
            <a:pPr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Usan el campo magnético alterno de la corriente AC para generar rotación.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Tipos más comunes: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Motores síncronos</a:t>
            </a:r>
            <a:r>
              <a:rPr lang="es-ES" dirty="0"/>
              <a:t>: giran a la misma velocidad que la frecuencia de la 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Motores asíncronos (inducción)</a:t>
            </a:r>
            <a:r>
              <a:rPr lang="es-ES" dirty="0"/>
              <a:t>: el rotor gira un poco más lento que el campo magnético del estator.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/>
              <a:t>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Robustos y duraderos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Menor mantenimiento (no tienen escobillas)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Alta eficiencia en cargas constantes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Más económicos en potencias medias y altas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/>
              <a:t>Desventajas: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Más difíciles de controlar</a:t>
            </a:r>
            <a:r>
              <a:rPr lang="es-ES" dirty="0"/>
              <a:t> (necesitan variadores de frecuencia para ajustar velocidad)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No tan buenos para arranques rápidos o cambios bruscos</a:t>
            </a:r>
          </a:p>
          <a:p>
            <a:pPr marL="114300" indent="0">
              <a:buFont typeface="Roboto Slab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8724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Actuadores </a:t>
            </a:r>
            <a:r>
              <a:rPr lang="es-CL" dirty="0" err="1">
                <a:solidFill>
                  <a:srgbClr val="0B5394"/>
                </a:solidFill>
              </a:rPr>
              <a:t>Electricos</a:t>
            </a:r>
            <a:endParaRPr lang="es-CL" dirty="0">
              <a:solidFill>
                <a:srgbClr val="0B5394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5600" y="1547467"/>
            <a:ext cx="5489900" cy="4352544"/>
          </a:xfrm>
        </p:spPr>
        <p:txBody>
          <a:bodyPr anchor="t">
            <a:normAutofit/>
          </a:bodyPr>
          <a:lstStyle/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s-ES"/>
              <a:t>En electrónica, un </a:t>
            </a:r>
            <a:r>
              <a:rPr lang="es-ES" b="1"/>
              <a:t>actuador eléctrico</a:t>
            </a:r>
            <a:r>
              <a:rPr lang="es-ES"/>
              <a:t> es cualquier componente que </a:t>
            </a:r>
            <a:r>
              <a:rPr lang="es-ES" b="1"/>
              <a:t>actúa sobre una señal o sistema eléctrico</a:t>
            </a:r>
            <a:r>
              <a:rPr lang="es-ES"/>
              <a:t> para producir un cambio, pero sin moverse físicamente. Se usan en sistemas de control y automatización para cambiar estados, conducir corriente, abrir/cerrar circuitos, etc.</a:t>
            </a:r>
            <a:endParaRPr lang="en-US" b="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648D58E-C101-1914-3518-7C17120D640F}"/>
              </a:ext>
            </a:extLst>
          </p:cNvPr>
          <p:cNvSpPr txBox="1">
            <a:spLocks/>
          </p:cNvSpPr>
          <p:nvPr/>
        </p:nvSpPr>
        <p:spPr>
          <a:xfrm>
            <a:off x="529900" y="3814123"/>
            <a:ext cx="4457700" cy="227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marR="0" lvl="1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marR="0" lvl="2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marR="0" lvl="3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marR="0" lvl="4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marR="0" lvl="5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marR="0" lvl="6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marR="0" lvl="7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marR="0" lvl="8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marL="114300" indent="0" algn="l">
              <a:spcAft>
                <a:spcPts val="600"/>
              </a:spcAft>
              <a:buClr>
                <a:srgbClr val="000000"/>
              </a:buClr>
              <a:buNone/>
            </a:pPr>
            <a:endParaRPr lang="en-US" dirty="0">
              <a:solidFill>
                <a:schemeClr val="dk1"/>
              </a:solidFill>
            </a:endParaRP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  <a:buChar char="●"/>
            </a:pPr>
            <a:r>
              <a:rPr lang="en-US" dirty="0">
                <a:solidFill>
                  <a:schemeClr val="dk1"/>
                </a:solidFill>
              </a:rPr>
              <a:t>MOSFET.</a:t>
            </a: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  <a:buChar char="●"/>
            </a:pPr>
            <a:r>
              <a:rPr lang="en-US" dirty="0" err="1">
                <a:solidFill>
                  <a:schemeClr val="dk1"/>
                </a:solidFill>
              </a:rPr>
              <a:t>Transistores</a:t>
            </a:r>
            <a:r>
              <a:rPr lang="en-US" dirty="0">
                <a:solidFill>
                  <a:schemeClr val="dk1"/>
                </a:solidFill>
              </a:rPr>
              <a:t> (BJT, IGBT,JFET).</a:t>
            </a: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  <a:buChar char="●"/>
            </a:pPr>
            <a:r>
              <a:rPr lang="en-US" dirty="0" err="1">
                <a:solidFill>
                  <a:schemeClr val="dk1"/>
                </a:solidFill>
              </a:rPr>
              <a:t>Reles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estado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solido</a:t>
            </a:r>
            <a:r>
              <a:rPr lang="en-US" dirty="0">
                <a:solidFill>
                  <a:schemeClr val="dk1"/>
                </a:solidFill>
              </a:rPr>
              <a:t>.</a:t>
            </a: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  <a:buChar char="●"/>
            </a:pPr>
            <a:r>
              <a:rPr lang="en-US" dirty="0" err="1">
                <a:solidFill>
                  <a:schemeClr val="dk1"/>
                </a:solidFill>
              </a:rPr>
              <a:t>Diodos</a:t>
            </a:r>
            <a:r>
              <a:rPr lang="en-US" dirty="0">
                <a:solidFill>
                  <a:schemeClr val="dk1"/>
                </a:solidFill>
              </a:rPr>
              <a:t> y </a:t>
            </a:r>
            <a:r>
              <a:rPr lang="en-US" dirty="0" err="1">
                <a:solidFill>
                  <a:schemeClr val="dk1"/>
                </a:solidFill>
              </a:rPr>
              <a:t>tiristores</a:t>
            </a:r>
            <a:endParaRPr lang="en-US" dirty="0">
              <a:solidFill>
                <a:schemeClr val="dk1"/>
              </a:solidFill>
            </a:endParaRP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  <a:buChar char="●"/>
            </a:pP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9B1EA25-7184-1B15-470C-9FB21A887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2" y="2207344"/>
            <a:ext cx="5004608" cy="30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0CD063B-90DB-EEEB-BA8C-DEED2E4B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Actuadores Eléctricos</a:t>
            </a:r>
          </a:p>
        </p:txBody>
      </p:sp>
      <p:pic>
        <p:nvPicPr>
          <p:cNvPr id="8" name="Imagen 7" descr="Gráfic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4364A6C-659F-5D0D-4B7B-7C70B4A90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5703" r="66904" b="8403"/>
          <a:stretch/>
        </p:blipFill>
        <p:spPr>
          <a:xfrm>
            <a:off x="1447800" y="1691193"/>
            <a:ext cx="4210050" cy="4250910"/>
          </a:xfrm>
          <a:prstGeom prst="rect">
            <a:avLst/>
          </a:prstGeom>
        </p:spPr>
      </p:pic>
      <p:pic>
        <p:nvPicPr>
          <p:cNvPr id="9" name="Imagen 8" descr="Gráfico, nombre de la empresa&#10;&#10;El contenido generado por IA puede ser incorrecto.">
            <a:extLst>
              <a:ext uri="{FF2B5EF4-FFF2-40B4-BE49-F238E27FC236}">
                <a16:creationId xmlns:a16="http://schemas.microsoft.com/office/drawing/2014/main" id="{AEDB0F6E-4F78-539D-79FF-1C8826E21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05" t="45703" b="8403"/>
          <a:stretch/>
        </p:blipFill>
        <p:spPr>
          <a:xfrm>
            <a:off x="6534152" y="1691193"/>
            <a:ext cx="4210050" cy="425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37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F9D04-BDC3-6FF2-234C-DBCFF108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BC024-15A7-CDF0-77E3-979B86144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Actuadores </a:t>
            </a:r>
            <a:r>
              <a:rPr lang="es-CL" dirty="0" err="1">
                <a:solidFill>
                  <a:srgbClr val="0B5394"/>
                </a:solidFill>
              </a:rPr>
              <a:t>Electromagneticos</a:t>
            </a:r>
            <a:r>
              <a:rPr lang="es-CL" dirty="0">
                <a:solidFill>
                  <a:srgbClr val="0B5394"/>
                </a:solidFill>
              </a:rPr>
              <a:t>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034F120-D013-507E-13C1-F55C72C26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5585150" cy="4555200"/>
          </a:xfrm>
        </p:spPr>
        <p:txBody>
          <a:bodyPr wrap="square" anchor="t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>Es un dispositivo que convierte energía eléctrica en energía mecánica mediante un campo magnético. La idea básica es que una corriente que circula por un conductor genera un campo magnético, y ese campo puede usarse para mover algo.</a:t>
            </a:r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  <a:p>
            <a:pPr>
              <a:spcAft>
                <a:spcPts val="600"/>
              </a:spcAft>
            </a:pPr>
            <a:r>
              <a:rPr lang="es-ES" b="1" dirty="0"/>
              <a:t>Solenoides</a:t>
            </a:r>
          </a:p>
          <a:p>
            <a:pPr>
              <a:spcAft>
                <a:spcPts val="600"/>
              </a:spcAft>
            </a:pPr>
            <a:r>
              <a:rPr lang="es-ES" b="1" dirty="0" err="1"/>
              <a:t>Reles</a:t>
            </a:r>
            <a:r>
              <a:rPr lang="es-ES" b="1" dirty="0"/>
              <a:t> electromecánicos</a:t>
            </a:r>
          </a:p>
          <a:p>
            <a:pPr>
              <a:spcAft>
                <a:spcPts val="600"/>
              </a:spcAft>
            </a:pPr>
            <a:r>
              <a:rPr lang="es-ES" b="1" dirty="0"/>
              <a:t>Motores eléctricos </a:t>
            </a:r>
          </a:p>
          <a:p>
            <a:pPr>
              <a:spcAft>
                <a:spcPts val="600"/>
              </a:spcAft>
            </a:pPr>
            <a:r>
              <a:rPr lang="es-ES" b="1" dirty="0"/>
              <a:t>Actuadores lineales electromagnéticos</a:t>
            </a:r>
          </a:p>
          <a:p>
            <a:pPr>
              <a:spcAft>
                <a:spcPts val="600"/>
              </a:spcAft>
            </a:pPr>
            <a:r>
              <a:rPr lang="es-ES" b="1" dirty="0"/>
              <a:t>Vibradores </a:t>
            </a:r>
            <a:r>
              <a:rPr lang="es-ES" b="1" dirty="0" err="1"/>
              <a:t>electromegnéticos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D6BE38-20DB-CD12-26D6-A4A8AE237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2225544"/>
            <a:ext cx="5585150" cy="31773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3047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FA31B-0E39-9571-51A1-7C78B159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4F2B9-689B-5116-5161-E2FD79B29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t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Actuadores con materiales inteligentes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B6CABF6-21BA-4DC1-11E4-6FEF80B9E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</p:spPr>
        <p:txBody>
          <a:bodyPr wrap="square" anchor="t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>Son actuadores hechos de materiales que reaccionan activamente a estímulos físicos, químicos o eléctricos, produciendo un cambio mecánico útil (como un movimiento o deformación).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296C8E9-CE8B-C8E4-45FB-FD28386BB05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</p:spPr>
        <p:txBody>
          <a:bodyPr/>
          <a:lstStyle/>
          <a:p>
            <a:pPr marL="186262" indent="0">
              <a:buNone/>
            </a:pPr>
            <a:endParaRPr lang="en-US" dirty="0"/>
          </a:p>
          <a:p>
            <a:r>
              <a:rPr lang="en-US" dirty="0"/>
              <a:t>SMA</a:t>
            </a:r>
          </a:p>
          <a:p>
            <a:r>
              <a:rPr lang="en-US" dirty="0" err="1"/>
              <a:t>Piezoelectricos</a:t>
            </a:r>
            <a:endParaRPr lang="en-US" dirty="0"/>
          </a:p>
          <a:p>
            <a:r>
              <a:rPr lang="es-ES" sz="1800" b="0" i="0" u="none" strike="noStrike" baseline="0" dirty="0" err="1">
                <a:solidFill>
                  <a:srgbClr val="000000"/>
                </a:solidFill>
              </a:rPr>
              <a:t>magnetoestrictivos</a:t>
            </a:r>
            <a:r>
              <a:rPr lang="es-ES" sz="1800" b="0" i="0" u="none" strike="noStrike" baseline="0" dirty="0">
                <a:solidFill>
                  <a:srgbClr val="000000"/>
                </a:solidFill>
              </a:rPr>
              <a:t>, </a:t>
            </a:r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</a:rPr>
              <a:t>fluidos </a:t>
            </a:r>
            <a:r>
              <a:rPr lang="es-ES" sz="1800" b="0" i="0" u="none" strike="noStrike" baseline="0" dirty="0" err="1">
                <a:solidFill>
                  <a:srgbClr val="000000"/>
                </a:solidFill>
              </a:rPr>
              <a:t>electrorreológicos</a:t>
            </a:r>
            <a:endParaRPr lang="es-E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</a:rPr>
              <a:t>polímeros de intercambio iónico.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316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6D1F6-9842-9590-C515-BDFCD501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24175-A00E-3ADF-945F-FEB776E39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SMA (</a:t>
            </a:r>
            <a:r>
              <a:rPr lang="es-CL" dirty="0" err="1">
                <a:solidFill>
                  <a:srgbClr val="0B5394"/>
                </a:solidFill>
              </a:rPr>
              <a:t>shape</a:t>
            </a:r>
            <a:r>
              <a:rPr lang="es-CL" dirty="0">
                <a:solidFill>
                  <a:srgbClr val="0B5394"/>
                </a:solidFill>
              </a:rPr>
              <a:t> </a:t>
            </a:r>
            <a:r>
              <a:rPr lang="es-CL" dirty="0" err="1">
                <a:solidFill>
                  <a:srgbClr val="0B5394"/>
                </a:solidFill>
              </a:rPr>
              <a:t>memory</a:t>
            </a:r>
            <a:r>
              <a:rPr lang="es-CL" dirty="0">
                <a:solidFill>
                  <a:srgbClr val="0B5394"/>
                </a:solidFill>
              </a:rPr>
              <a:t> </a:t>
            </a:r>
            <a:r>
              <a:rPr lang="es-CL" dirty="0" err="1">
                <a:solidFill>
                  <a:srgbClr val="0B5394"/>
                </a:solidFill>
              </a:rPr>
              <a:t>alloy</a:t>
            </a:r>
            <a:r>
              <a:rPr lang="es-CL" dirty="0">
                <a:solidFill>
                  <a:srgbClr val="0B5394"/>
                </a:solidFill>
              </a:rPr>
              <a:t>)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63DAFB61-9577-4684-0F31-0DAB6F586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5585150" cy="4555200"/>
          </a:xfrm>
        </p:spPr>
        <p:txBody>
          <a:bodyPr wrap="square" anchor="t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s-ES" b="1" dirty="0"/>
              <a:t>Cómo funcionan</a:t>
            </a:r>
            <a:r>
              <a:rPr lang="es-ES" dirty="0"/>
              <a:t>: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/>
            </a:r>
            <a:br>
              <a:rPr lang="es-ES" dirty="0"/>
            </a:br>
            <a:r>
              <a:rPr lang="es-ES" dirty="0"/>
              <a:t>Al calentarse (por corriente o temperatura), recuperan una forma previamente "memorizada".</a:t>
            </a:r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>Los SMA son aleaciones de níquel y titanio, que experimentan una transformación de fase cuando se someten a un campo térmico.</a:t>
            </a:r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B64FD0-CA66-7FA5-EEF6-5061FDE6BEFA}"/>
              </a:ext>
            </a:extLst>
          </p:cNvPr>
          <p:cNvSpPr txBox="1"/>
          <p:nvPr/>
        </p:nvSpPr>
        <p:spPr>
          <a:xfrm>
            <a:off x="7162800" y="6264633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>
                <a:hlinkClick r:id="rId2"/>
              </a:rPr>
              <a:t>SMA</a:t>
            </a:r>
            <a:r>
              <a:rPr lang="es-CL" dirty="0" smtClean="0"/>
              <a:t>  </a:t>
            </a:r>
            <a:r>
              <a:rPr lang="es-CL" dirty="0" smtClean="0">
                <a:hlinkClick r:id="rId3"/>
              </a:rPr>
              <a:t>nitinol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894E4B5-6162-052F-1EB6-AC97D98A1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709737"/>
            <a:ext cx="25146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28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E9660-66BB-BB4B-E523-50B742BD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4A845-086B-9970-2CAD-A1BF6E37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 err="1">
                <a:solidFill>
                  <a:srgbClr val="0B5394"/>
                </a:solidFill>
              </a:rPr>
              <a:t>Piezoelectricos</a:t>
            </a:r>
            <a:endParaRPr lang="es-CL" dirty="0">
              <a:solidFill>
                <a:srgbClr val="0B5394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6EB9327C-76C6-F31D-F7E2-084DF2E26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5585150" cy="4555200"/>
          </a:xfrm>
        </p:spPr>
        <p:txBody>
          <a:bodyPr wrap="square" anchor="t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s-ES" b="1" dirty="0"/>
              <a:t>Cómo funcionan</a:t>
            </a:r>
            <a:r>
              <a:rPr lang="es-ES" dirty="0"/>
              <a:t>: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/>
            </a:r>
            <a:br>
              <a:rPr lang="es-ES" dirty="0"/>
            </a:br>
            <a:r>
              <a:rPr lang="es-ES" dirty="0"/>
              <a:t>Se deforman al aplicarles un voltaje (efecto piezoeléctrico inverso).</a:t>
            </a:r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>Los actuadores piezoeléctricos son esencialmente </a:t>
            </a:r>
            <a:r>
              <a:rPr lang="es-ES" dirty="0" err="1"/>
              <a:t>piezocristales</a:t>
            </a:r>
            <a:r>
              <a:rPr lang="es-ES" dirty="0"/>
              <a:t> con películas conductoras en la parte superior e inferior.</a:t>
            </a:r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C893E9-1723-6F4F-193B-EAA5CB9A0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656" y="1356967"/>
            <a:ext cx="4460488" cy="447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ABBE-D51B-24AB-6709-C1F389CB9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73742-B9DC-9468-4252-E30AFC998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43850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Polímeros Electroactivos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6B7E455-CE49-0038-C64C-45B5CC2B4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4385000" cy="4555200"/>
          </a:xfrm>
        </p:spPr>
        <p:txBody>
          <a:bodyPr wrap="square" anchor="t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>Son materiales poliméricos que cambian de forma o tamaño cuando se les aplica un campo eléctrico. Se les llama a veces “músculos artificiales” porque pueden imitar el movimiento de tejido biológico.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E26E147-1D38-7FA2-FAB3-DAD05BECF55D}"/>
              </a:ext>
            </a:extLst>
          </p:cNvPr>
          <p:cNvSpPr txBox="1">
            <a:spLocks/>
          </p:cNvSpPr>
          <p:nvPr/>
        </p:nvSpPr>
        <p:spPr>
          <a:xfrm>
            <a:off x="6096000" y="593367"/>
            <a:ext cx="5524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s-CL" dirty="0">
                <a:solidFill>
                  <a:srgbClr val="0B5394"/>
                </a:solidFill>
              </a:rPr>
              <a:t>Materiales </a:t>
            </a:r>
            <a:r>
              <a:rPr lang="es-CL" dirty="0" err="1">
                <a:solidFill>
                  <a:srgbClr val="0B5394"/>
                </a:solidFill>
              </a:rPr>
              <a:t>Magnetoestrictivos</a:t>
            </a:r>
            <a:endParaRPr lang="es-CL" dirty="0">
              <a:solidFill>
                <a:srgbClr val="0B5394"/>
              </a:solidFill>
            </a:endParaRP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154358BB-53A5-A444-9868-00F7E3C568A6}"/>
              </a:ext>
            </a:extLst>
          </p:cNvPr>
          <p:cNvSpPr txBox="1">
            <a:spLocks/>
          </p:cNvSpPr>
          <p:nvPr/>
        </p:nvSpPr>
        <p:spPr>
          <a:xfrm>
            <a:off x="6096000" y="1536633"/>
            <a:ext cx="4385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marR="0" lvl="1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marR="0" lvl="2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marR="0" lvl="3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marR="0" lvl="4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marR="0" lvl="5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marR="0" lvl="6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marR="0" lvl="7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marR="0" lvl="8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marL="114300" indent="0">
              <a:spcAft>
                <a:spcPts val="600"/>
              </a:spcAft>
              <a:buFont typeface="Roboto Slab"/>
              <a:buNone/>
            </a:pPr>
            <a:r>
              <a:rPr lang="es-ES" dirty="0"/>
              <a:t>Son materiales que cambian su forma al estar sometidos a un campo magnético. Es el efecto </a:t>
            </a:r>
            <a:r>
              <a:rPr lang="es-ES" dirty="0" err="1"/>
              <a:t>magnetoestrictivo</a:t>
            </a:r>
            <a:r>
              <a:rPr lang="es-ES" dirty="0"/>
              <a:t>: cuando los dominios magnéticos internos del material se alinean, la estructura se deforma.</a:t>
            </a:r>
          </a:p>
          <a:p>
            <a:pPr marL="114300" indent="0">
              <a:spcAft>
                <a:spcPts val="600"/>
              </a:spcAft>
              <a:buFont typeface="Roboto Slab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7887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ABBE-D51B-24AB-6709-C1F389CB9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73742-B9DC-9468-4252-E30AFC998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4385000" cy="763600"/>
          </a:xfrm>
        </p:spPr>
        <p:txBody>
          <a:bodyPr wrap="square" anchor="ctr">
            <a:normAutofit/>
          </a:bodyPr>
          <a:lstStyle/>
          <a:p>
            <a:r>
              <a:rPr lang="es-CL" dirty="0" smtClean="0">
                <a:solidFill>
                  <a:srgbClr val="0B5394"/>
                </a:solidFill>
              </a:rPr>
              <a:t>Micro - nano actuadores</a:t>
            </a:r>
            <a:endParaRPr lang="es-CL" dirty="0">
              <a:solidFill>
                <a:srgbClr val="0B5394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6B7E455-CE49-0038-C64C-45B5CC2B4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4385000" cy="4555200"/>
          </a:xfrm>
        </p:spPr>
        <p:txBody>
          <a:bodyPr wrap="square" anchor="t">
            <a:normAutofit/>
          </a:bodyPr>
          <a:lstStyle/>
          <a:p>
            <a:pPr marL="114300" indent="0">
              <a:buNone/>
            </a:pPr>
            <a:r>
              <a:rPr lang="en-US" b="1" dirty="0">
                <a:hlinkClick r:id="rId2"/>
              </a:rPr>
              <a:t>March of the microscopic robots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75947449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botica" id="{647D301C-52C8-4CB2-BB7A-ED930B029529}" vid="{7BBA8B0D-E075-4FF6-8C72-3370B3451D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7021</TotalTime>
  <Words>515</Words>
  <Application>Microsoft Office PowerPoint</Application>
  <PresentationFormat>Panorámica</PresentationFormat>
  <Paragraphs>86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Bungee Shade</vt:lpstr>
      <vt:lpstr>Roboto Slab</vt:lpstr>
      <vt:lpstr>robotica</vt:lpstr>
      <vt:lpstr>Mecatrónica ME-4250</vt:lpstr>
      <vt:lpstr>Que veremos hoy ?</vt:lpstr>
      <vt:lpstr>Actuadores Electromecánicos</vt:lpstr>
      <vt:lpstr>Motores Corriente Alterna</vt:lpstr>
      <vt:lpstr>Motores Corriente Alterna</vt:lpstr>
      <vt:lpstr>Actuadores Electricos</vt:lpstr>
      <vt:lpstr>Actuadores Eléctricos</vt:lpstr>
      <vt:lpstr>Actuadores Electromagneticos </vt:lpstr>
      <vt:lpstr>Actuadores con materiales inteligentes </vt:lpstr>
      <vt:lpstr>SMA (shape memory alloy)</vt:lpstr>
      <vt:lpstr>Piezoelectricos</vt:lpstr>
      <vt:lpstr>Polímeros Electroactivos </vt:lpstr>
      <vt:lpstr>Micro - nano actuadores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UsuarioSala</cp:lastModifiedBy>
  <cp:revision>20</cp:revision>
  <dcterms:created xsi:type="dcterms:W3CDTF">2022-08-03T00:34:22Z</dcterms:created>
  <dcterms:modified xsi:type="dcterms:W3CDTF">2025-09-30T17:35:45Z</dcterms:modified>
</cp:coreProperties>
</file>