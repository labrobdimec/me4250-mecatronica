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72" r:id="rId2"/>
    <p:sldId id="276" r:id="rId3"/>
    <p:sldId id="292" r:id="rId4"/>
    <p:sldId id="257" r:id="rId5"/>
    <p:sldId id="277" r:id="rId6"/>
    <p:sldId id="284" r:id="rId7"/>
    <p:sldId id="278" r:id="rId8"/>
    <p:sldId id="281" r:id="rId9"/>
    <p:sldId id="282" r:id="rId10"/>
    <p:sldId id="286" r:id="rId11"/>
    <p:sldId id="279" r:id="rId12"/>
    <p:sldId id="287" r:id="rId13"/>
    <p:sldId id="291" r:id="rId14"/>
    <p:sldId id="289" r:id="rId15"/>
    <p:sldId id="290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73" d="100"/>
          <a:sy n="73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E7BC79-C7FA-40E5-BAC9-89A9645CFF98}" type="datetimeFigureOut">
              <a:rPr lang="es-ES" smtClean="0"/>
              <a:t>06/10/2025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CFA739-237D-4AA3-96DE-7810E026D91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32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5200"/>
              <a:buNone/>
              <a:defRPr sz="6933">
                <a:solidFill>
                  <a:srgbClr val="0B539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None/>
              <a:defRPr sz="3733">
                <a:solidFill>
                  <a:srgbClr val="1C458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09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641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just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just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just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1695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08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140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644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8597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s-ES"/>
              <a:t>Haga clic para modificar el estilo de subtítulo del patrón</a:t>
            </a: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0657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026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1815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942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3C5E-5B1B-4E1D-8601-D9FEB2C67DEB}" type="datetimeFigureOut">
              <a:rPr lang="es-CL" smtClean="0"/>
              <a:t>06-10-2025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3922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Slab"/>
              <a:buNone/>
              <a:defRPr sz="2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"/>
              <a:buChar char="●"/>
              <a:defRPr sz="1800"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lvl="1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lvl="2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lvl="3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lvl="4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lvl="5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lvl="6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●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lvl="7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○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lvl="8" indent="-31750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"/>
              <a:buChar char="■"/>
              <a:defRPr>
                <a:solidFill>
                  <a:schemeClr val="dk2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>
          <a:blip r:embed="rId14">
            <a:alphaModFix amt="63000"/>
          </a:blip>
          <a:stretch>
            <a:fillRect/>
          </a:stretch>
        </p:blipFill>
        <p:spPr>
          <a:xfrm>
            <a:off x="0" y="-62767"/>
            <a:ext cx="2015307" cy="7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>
          <a:blip r:embed="rId15">
            <a:alphaModFix amt="63000"/>
          </a:blip>
          <a:stretch>
            <a:fillRect/>
          </a:stretch>
        </p:blipFill>
        <p:spPr>
          <a:xfrm>
            <a:off x="11243117" y="-15"/>
            <a:ext cx="948900" cy="9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1pPr>
            <a:lvl2pPr lvl="1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2pPr>
            <a:lvl3pPr lvl="2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3pPr>
            <a:lvl4pPr lvl="3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4pPr>
            <a:lvl5pPr lvl="4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5pPr>
            <a:lvl6pPr lvl="5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6pPr>
            <a:lvl7pPr lvl="6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7pPr>
            <a:lvl8pPr lvl="7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8pPr>
            <a:lvl9pPr lvl="8" algn="r">
              <a:buNone/>
              <a:defRPr sz="2667">
                <a:solidFill>
                  <a:schemeClr val="dk2"/>
                </a:solidFill>
                <a:latin typeface="Bungee Shade"/>
                <a:ea typeface="Bungee Shade"/>
                <a:cs typeface="Bungee Shade"/>
                <a:sym typeface="Bungee Shade"/>
              </a:defRPr>
            </a:lvl9pPr>
          </a:lstStyle>
          <a:p>
            <a:fld id="{6C0AEB4C-1C2C-4B44-BB64-30797415D25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771725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>
            <a:spLocks noGrp="1"/>
          </p:cNvSpPr>
          <p:nvPr>
            <p:ph type="ctrTitle"/>
          </p:nvPr>
        </p:nvSpPr>
        <p:spPr>
          <a:xfrm>
            <a:off x="415604" y="992767"/>
            <a:ext cx="5571127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algn="l">
              <a:buSzPct val="100000"/>
            </a:pPr>
            <a:r>
              <a:rPr lang="es" dirty="0"/>
              <a:t>Mecatrónica</a:t>
            </a:r>
            <a:endParaRPr dirty="0"/>
          </a:p>
          <a:p>
            <a:pPr algn="l">
              <a:buSzPct val="208000"/>
            </a:pPr>
            <a:r>
              <a:rPr lang="es" sz="3333" dirty="0"/>
              <a:t>ME-4250</a:t>
            </a:r>
            <a:endParaRPr sz="3333" dirty="0"/>
          </a:p>
        </p:txBody>
      </p:sp>
      <p:sp>
        <p:nvSpPr>
          <p:cNvPr id="58" name="Google Shape;58;p1"/>
          <p:cNvSpPr txBox="1">
            <a:spLocks noGrp="1"/>
          </p:cNvSpPr>
          <p:nvPr>
            <p:ph type="sldNum" idx="12"/>
          </p:nvPr>
        </p:nvSpPr>
        <p:spPr>
          <a:xfrm>
            <a:off x="11351745" y="6271501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s"/>
              <a:pPr/>
              <a:t>1</a:t>
            </a:fld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1152400" y="5887500"/>
            <a:ext cx="3288400" cy="9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s" sz="1867">
                <a:latin typeface="Roboto Slab"/>
                <a:ea typeface="Roboto Slab"/>
                <a:cs typeface="Roboto Slab"/>
                <a:sym typeface="Roboto Slab"/>
              </a:rPr>
              <a:t>Harold Valenzuela Coloma</a:t>
            </a:r>
            <a:endParaRPr sz="1867"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6E3412E-AD6B-8A27-3426-57A6631C5F4D}"/>
              </a:ext>
            </a:extLst>
          </p:cNvPr>
          <p:cNvSpPr txBox="1"/>
          <p:nvPr/>
        </p:nvSpPr>
        <p:spPr>
          <a:xfrm>
            <a:off x="415605" y="4393035"/>
            <a:ext cx="4557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2800"/>
              <a:buFont typeface="Roboto Slab"/>
              <a:buNone/>
              <a:tabLst/>
              <a:defRPr/>
            </a:pPr>
            <a:r>
              <a:rPr kumimoji="0" lang="es-CL" sz="2400" b="0" i="0" u="none" strike="noStrike" kern="0" cap="none" spc="0" normalizeH="0" baseline="0" noProof="0" dirty="0">
                <a:ln>
                  <a:noFill/>
                </a:ln>
                <a:solidFill>
                  <a:srgbClr val="0B5394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Sensores</a:t>
            </a:r>
          </a:p>
        </p:txBody>
      </p:sp>
      <p:pic>
        <p:nvPicPr>
          <p:cNvPr id="4" name="Imagen 3" descr="Icono&#10;&#10;El contenido generado por IA puede ser incorrecto.">
            <a:extLst>
              <a:ext uri="{FF2B5EF4-FFF2-40B4-BE49-F238E27FC236}">
                <a16:creationId xmlns:a16="http://schemas.microsoft.com/office/drawing/2014/main" id="{33DC4825-5F4F-D2FC-4D44-A939DB6A0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264" y="992767"/>
            <a:ext cx="4877481" cy="48774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A448ED-3EFF-D86F-AD40-2EAE2026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867" y="593367"/>
            <a:ext cx="10864800" cy="763600"/>
          </a:xfrm>
        </p:spPr>
        <p:txBody>
          <a:bodyPr wrap="square" anchor="t">
            <a:normAutofit/>
          </a:bodyPr>
          <a:lstStyle/>
          <a:p>
            <a:r>
              <a:rPr lang="es-CL"/>
              <a:t>Contenido 	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AE0101-D7BD-0696-4371-F0702AF07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s-CL" dirty="0"/>
              <a:t>Introducción 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Que es un sensor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Tipos de Sensores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Sensores de distancia </a:t>
            </a:r>
            <a:endParaRPr lang="es-CL"/>
          </a:p>
          <a:p>
            <a:pPr>
              <a:spcAft>
                <a:spcPts val="600"/>
              </a:spcAft>
            </a:pPr>
            <a:r>
              <a:rPr lang="es-CL" dirty="0"/>
              <a:t>Sensores de movimiento</a:t>
            </a:r>
            <a:endParaRPr lang="es-CL"/>
          </a:p>
          <a:p>
            <a:pPr>
              <a:spcAft>
                <a:spcPts val="600"/>
              </a:spcAft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0570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 descr="Imagen digital de un coche&#10;&#10;Descripción generada automáticamente con confianza media">
            <a:extLst>
              <a:ext uri="{FF2B5EF4-FFF2-40B4-BE49-F238E27FC236}">
                <a16:creationId xmlns:a16="http://schemas.microsoft.com/office/drawing/2014/main" id="{4C6FA513-7543-DEE3-4021-012941139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11" y="1087487"/>
            <a:ext cx="8325378" cy="4683026"/>
          </a:xfrm>
        </p:spPr>
      </p:pic>
    </p:spTree>
    <p:extLst>
      <p:ext uri="{BB962C8B-B14F-4D97-AF65-F5344CB8AC3E}">
        <p14:creationId xmlns:p14="http://schemas.microsoft.com/office/powerpoint/2010/main" val="3943132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EDC3-9249-D8D6-567B-14912446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519" y="618518"/>
            <a:ext cx="3084891" cy="935645"/>
          </a:xfrm>
        </p:spPr>
        <p:txBody>
          <a:bodyPr>
            <a:normAutofit/>
          </a:bodyPr>
          <a:lstStyle/>
          <a:p>
            <a:r>
              <a:rPr lang="es-CL" sz="3200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7D9EED-C7FB-7BD6-D053-17EC864A7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265" y="1801814"/>
            <a:ext cx="4545397" cy="46386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sz="1800" dirty="0"/>
              <a:t>Medición de fuerza, presión, temperatura, sonido, flujo, movimiento, etc.</a:t>
            </a:r>
          </a:p>
          <a:p>
            <a:pPr marL="0" indent="0">
              <a:buNone/>
            </a:pPr>
            <a:r>
              <a:rPr lang="es-CL" sz="1800" dirty="0"/>
              <a:t>Campo de visión y alcance; Precisión; Repetibilidad; Capacidad de respuesta; consumo de energía; confiabilidad del hardware; tamaño; fiabilidad de la interpretación</a:t>
            </a:r>
          </a:p>
          <a:p>
            <a:pPr marL="0" indent="0">
              <a:buNone/>
            </a:pPr>
            <a:r>
              <a:rPr lang="es-CL" sz="1800" dirty="0"/>
              <a:t>Sensores </a:t>
            </a:r>
            <a:r>
              <a:rPr lang="es-CL" sz="1800" dirty="0">
                <a:sym typeface="Wingdings" panose="05000000000000000000" pitchFamily="2" charset="2"/>
              </a:rPr>
              <a:t> Transductores </a:t>
            </a:r>
          </a:p>
          <a:p>
            <a:pPr marL="0" indent="0">
              <a:buNone/>
            </a:pPr>
            <a:r>
              <a:rPr lang="es-CL" sz="1800" dirty="0">
                <a:sym typeface="Wingdings" panose="05000000000000000000" pitchFamily="2" charset="2"/>
              </a:rPr>
              <a:t>Convierte una cantidad física en una cantidad eléctrica.</a:t>
            </a:r>
            <a:endParaRPr lang="es-CL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97818E-21EA-1FBD-E5DB-62C20F5CB4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" t="1" r="648" b="62"/>
          <a:stretch/>
        </p:blipFill>
        <p:spPr>
          <a:xfrm>
            <a:off x="-5597" y="10"/>
            <a:ext cx="682352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27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2CB721-2BBF-00E5-5D99-962C72BC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s-CL" sz="4000" dirty="0"/>
              <a:t>Sensores</a:t>
            </a:r>
          </a:p>
        </p:txBody>
      </p:sp>
      <p:sp>
        <p:nvSpPr>
          <p:cNvPr id="76" name="Marcador de contenido 2">
            <a:extLst>
              <a:ext uri="{FF2B5EF4-FFF2-40B4-BE49-F238E27FC236}">
                <a16:creationId xmlns:a16="http://schemas.microsoft.com/office/drawing/2014/main" id="{58D6D600-C911-E1B6-9DCE-03185B11D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s-CL" sz="1800" dirty="0"/>
              <a:t>Un sensor es un dispositivo que responde a un cambio al  fenómeno físico.</a:t>
            </a:r>
          </a:p>
          <a:p>
            <a:r>
              <a:rPr lang="es-CL" sz="1800" dirty="0"/>
              <a:t>Un transductor es un dispositivo que convierte una forma de energía en otra forma de energía.</a:t>
            </a:r>
          </a:p>
          <a:p>
            <a:pPr marL="0" indent="0">
              <a:buNone/>
            </a:pP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12429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6CBAF-6540-5516-A851-BCA00C43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697" y="618518"/>
            <a:ext cx="6050713" cy="1478570"/>
          </a:xfrm>
        </p:spPr>
        <p:txBody>
          <a:bodyPr>
            <a:normAutofit/>
          </a:bodyPr>
          <a:lstStyle/>
          <a:p>
            <a:r>
              <a:rPr lang="es-CL" dirty="0"/>
              <a:t>Tipos de sensores 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572B103-AD5F-922A-C2FA-4B731AF73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8958" y="2249487"/>
            <a:ext cx="6078453" cy="35417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2200" dirty="0"/>
              <a:t>Lineal y rotatorio 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Distancia y de proximidad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Aceleración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Fuerza y torque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Flujo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Temperatura</a:t>
            </a:r>
          </a:p>
          <a:p>
            <a:pPr>
              <a:lnSpc>
                <a:spcPct val="110000"/>
              </a:lnSpc>
            </a:pPr>
            <a:r>
              <a:rPr lang="es-CL" sz="2200" dirty="0"/>
              <a:t>Detección de luz 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3BD1EBA-781C-79EF-8C48-0E2DA5B65D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84" r="48194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24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interruptor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Devuelve un bit de información: toca o no toca.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Utilizado comúnmente en la robótica como un interruptor de limite.</a:t>
            </a:r>
          </a:p>
        </p:txBody>
      </p:sp>
      <p:pic>
        <p:nvPicPr>
          <p:cNvPr id="12" name="Imagen 11" descr="Imagen que contiene circuito&#10;&#10;Descripción generada automáticamente">
            <a:extLst>
              <a:ext uri="{FF2B5EF4-FFF2-40B4-BE49-F238E27FC236}">
                <a16:creationId xmlns:a16="http://schemas.microsoft.com/office/drawing/2014/main" id="{1C7D879D-CAE4-A70F-3962-CF3265859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7" y="1836950"/>
            <a:ext cx="3178638" cy="317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2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 inductivos </a:t>
            </a:r>
            <a:r>
              <a:rPr lang="es-CL" dirty="0" err="1"/>
              <a:t>lvdt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Sensor sin rozamiento, ya que al ser inductivo, la variación es por campo magnético.</a:t>
            </a:r>
            <a:endParaRPr lang="es-CL" dirty="0"/>
          </a:p>
          <a:p>
            <a:pPr marL="0" indent="0">
              <a:buNone/>
            </a:pPr>
            <a:r>
              <a:rPr lang="es-ES" dirty="0"/>
              <a:t>Insensibles a los cambios de temperatura y proporcionan altos rendimientos sin amplificación intermedia. </a:t>
            </a:r>
          </a:p>
          <a:p>
            <a:pPr marL="0" indent="0">
              <a:buNone/>
            </a:pPr>
            <a:r>
              <a:rPr lang="es-ES" dirty="0"/>
              <a:t>La masa apreciable del núcleo es una desventaja en el área de las mediciones dinámicas.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1DD587-6EF7-FE0C-F2E8-64C604CA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67" y="3425254"/>
            <a:ext cx="3761052" cy="2164432"/>
          </a:xfrm>
          <a:prstGeom prst="rect">
            <a:avLst/>
          </a:prstGeom>
        </p:spPr>
      </p:pic>
      <p:pic>
        <p:nvPicPr>
          <p:cNvPr id="8" name="Imagen 7" descr="Imagen que contiene interior, tabla, pequeño, vídeo&#10;&#10;Descripción generada automáticamente">
            <a:extLst>
              <a:ext uri="{FF2B5EF4-FFF2-40B4-BE49-F238E27FC236}">
                <a16:creationId xmlns:a16="http://schemas.microsoft.com/office/drawing/2014/main" id="{740F52C3-3529-AFC7-CC9F-27F777EC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327" y="1013910"/>
            <a:ext cx="3297932" cy="220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75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desplazamiento - Codificador óptico digital</a:t>
            </a:r>
          </a:p>
        </p:txBody>
      </p:sp>
      <p:pic>
        <p:nvPicPr>
          <p:cNvPr id="7" name="Marcador de contenido 6" descr="Diagrama&#10;&#10;Descripción generada automáticamente">
            <a:extLst>
              <a:ext uri="{FF2B5EF4-FFF2-40B4-BE49-F238E27FC236}">
                <a16:creationId xmlns:a16="http://schemas.microsoft.com/office/drawing/2014/main" id="{028A1EEF-0E7B-C681-1839-1B2F97ABC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8" t="92" r="10530" b="-92"/>
          <a:stretch/>
        </p:blipFill>
        <p:spPr>
          <a:xfrm>
            <a:off x="992187" y="1136323"/>
            <a:ext cx="3466211" cy="4577862"/>
          </a:xfrm>
        </p:spPr>
      </p:pic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F42ED724-D1D2-7389-C569-BB1FB4A2C84F}"/>
              </a:ext>
            </a:extLst>
          </p:cNvPr>
          <p:cNvSpPr txBox="1">
            <a:spLocks/>
          </p:cNvSpPr>
          <p:nvPr/>
        </p:nvSpPr>
        <p:spPr>
          <a:xfrm>
            <a:off x="5128643" y="2249487"/>
            <a:ext cx="6188402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CL" dirty="0"/>
              <a:t>Convierte el movimiento en una secuencia de pulsos digitales.</a:t>
            </a:r>
          </a:p>
        </p:txBody>
      </p:sp>
    </p:spTree>
    <p:extLst>
      <p:ext uri="{BB962C8B-B14F-4D97-AF65-F5344CB8AC3E}">
        <p14:creationId xmlns:p14="http://schemas.microsoft.com/office/powerpoint/2010/main" val="3813863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</a:t>
            </a:r>
            <a:r>
              <a:rPr lang="es-CL" dirty="0" err="1"/>
              <a:t>ultrasonico</a:t>
            </a:r>
            <a:endParaRPr lang="es-CL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Mide distancia mediante el uso de ondas 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Objetos transparentes pueden ser detectados</a:t>
            </a:r>
          </a:p>
          <a:p>
            <a:pPr marL="0" indent="0">
              <a:buNone/>
            </a:pPr>
            <a:r>
              <a:rPr lang="es-CL" dirty="0"/>
              <a:t>No se ven afectados por suciedad o por </a:t>
            </a:r>
            <a:r>
              <a:rPr lang="es-CL" dirty="0" err="1"/>
              <a:t>acumulacion</a:t>
            </a:r>
            <a:r>
              <a:rPr lang="es-CL" dirty="0"/>
              <a:t> de polvo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Imagen 6" descr="Dibujo de un micrófono&#10;&#10;Descripción generada automáticamente con confianza baja">
            <a:extLst>
              <a:ext uri="{FF2B5EF4-FFF2-40B4-BE49-F238E27FC236}">
                <a16:creationId xmlns:a16="http://schemas.microsoft.com/office/drawing/2014/main" id="{EC0C121A-52AF-3ACC-B9CA-C739A9C058F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96" t="14391" r="7917" b="14494"/>
          <a:stretch/>
        </p:blipFill>
        <p:spPr>
          <a:xfrm>
            <a:off x="1702239" y="1260432"/>
            <a:ext cx="2025597" cy="1673311"/>
          </a:xfrm>
          <a:prstGeom prst="rect">
            <a:avLst/>
          </a:prstGeom>
        </p:spPr>
      </p:pic>
      <p:pic>
        <p:nvPicPr>
          <p:cNvPr id="9" name="Imagen 8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AF07C8A4-98B7-EACB-6725-4FD169A93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616" y="3876931"/>
            <a:ext cx="3178638" cy="14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F247D-5BBE-C80F-0235-774F18A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distancia - potenciómetro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56A065D-1ADD-354A-CCF0-A373F6823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L" dirty="0"/>
              <a:t>Dispositivo de resistencia variable lineal o angular.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El cambio de resistencia se relaciona con el desplazamiento a través de su variación de voltaje.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0C5468-E663-1F97-F905-54597E7651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24" t="17996" r="15432" b="18995"/>
          <a:stretch/>
        </p:blipFill>
        <p:spPr>
          <a:xfrm>
            <a:off x="1793960" y="1368953"/>
            <a:ext cx="1862667" cy="1761067"/>
          </a:xfrm>
          <a:prstGeom prst="rect">
            <a:avLst/>
          </a:prstGeom>
        </p:spPr>
      </p:pic>
      <p:pic>
        <p:nvPicPr>
          <p:cNvPr id="6" name="Imagen 5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D7BBC1F1-0A06-AA75-D9DD-EE440ABC3F2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69"/>
          <a:stretch/>
        </p:blipFill>
        <p:spPr>
          <a:xfrm>
            <a:off x="2725293" y="3425254"/>
            <a:ext cx="1520949" cy="1966772"/>
          </a:xfrm>
          <a:prstGeom prst="rect">
            <a:avLst/>
          </a:prstGeom>
        </p:spPr>
      </p:pic>
      <p:pic>
        <p:nvPicPr>
          <p:cNvPr id="12" name="Imagen 11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8D267D86-EBA4-1BEE-1BBE-72888F01C7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23"/>
          <a:stretch/>
        </p:blipFill>
        <p:spPr>
          <a:xfrm>
            <a:off x="984457" y="3425254"/>
            <a:ext cx="1807596" cy="196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069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movimiento – efecto </a:t>
            </a:r>
            <a:r>
              <a:rPr lang="es-CL" dirty="0" err="1"/>
              <a:t>doppler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Si una fuente de ondas y el receptor correspondiente se mueven entre sí, la frecuencia observada por el receptor será mayor o menor que la frecuencia de la fuente real.</a:t>
            </a:r>
            <a:endParaRPr lang="es-CL" dirty="0"/>
          </a:p>
        </p:txBody>
      </p:sp>
      <p:pic>
        <p:nvPicPr>
          <p:cNvPr id="5" name="Imagen 4" descr="Imagen que contiene electrónica, circuito&#10;&#10;Descripción generada automáticamente">
            <a:extLst>
              <a:ext uri="{FF2B5EF4-FFF2-40B4-BE49-F238E27FC236}">
                <a16:creationId xmlns:a16="http://schemas.microsoft.com/office/drawing/2014/main" id="{C31421C4-8E4D-CC36-E53D-61C46E5182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834993"/>
            <a:ext cx="3178638" cy="282898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7097A1-2DD0-ABF7-6A19-7CF9472BD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468" y="3577082"/>
            <a:ext cx="25336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3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FDA65-298D-BB39-7B6A-A79B270D9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de masa elástica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CD1B7D-2A13-3B3D-0D0D-FB6CA7CC1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Segunda ley de newton </a:t>
            </a:r>
          </a:p>
          <a:p>
            <a:r>
              <a:rPr lang="es-ES" dirty="0"/>
              <a:t>Cuando el objeto acelera, la masa ejerce una fuerza, que el sensor traduce en una salida de voltaje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98EB26-49C6-5AAF-2C16-AC8FBC6C2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2438965"/>
            <a:ext cx="3178638" cy="197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74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57834-5DCE-B751-62FD-37E8577DA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- </a:t>
            </a:r>
            <a:r>
              <a:rPr lang="es-CL" dirty="0" err="1"/>
              <a:t>piezoelectrico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02A68-3CFC-EE4B-84E9-26D410A19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CL" dirty="0"/>
              <a:t>Utiliza el fenómeno piezoeléctrico para medir la aceleración</a:t>
            </a:r>
          </a:p>
          <a:p>
            <a:r>
              <a:rPr lang="es-ES" dirty="0"/>
              <a:t>Un elemento piezoeléctrico genera voltaje cuando es deformado.</a:t>
            </a:r>
            <a:endParaRPr lang="es-CL" dirty="0"/>
          </a:p>
        </p:txBody>
      </p:sp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86AADCE3-60AE-4C75-295D-C362ABBFC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974" y="2336679"/>
            <a:ext cx="3178638" cy="217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17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20644-B40F-6E4A-C317-EE2B956A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8643" y="618518"/>
            <a:ext cx="6188402" cy="1478570"/>
          </a:xfrm>
        </p:spPr>
        <p:txBody>
          <a:bodyPr>
            <a:normAutofit/>
          </a:bodyPr>
          <a:lstStyle/>
          <a:p>
            <a:r>
              <a:rPr lang="es-CL" dirty="0"/>
              <a:t>Sensor de aceleración capacitancia variable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793EA0-6924-0901-947D-779C750B6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8643" y="2249487"/>
            <a:ext cx="6188402" cy="3541714"/>
          </a:xfrm>
        </p:spPr>
        <p:txBody>
          <a:bodyPr>
            <a:normAutofit/>
          </a:bodyPr>
          <a:lstStyle/>
          <a:p>
            <a:r>
              <a:rPr lang="es-ES" dirty="0"/>
              <a:t>Par de placas paralelas cuya capacitancia varía cuando una placa se mueve hacia la otra por alguna fuerza externa.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775931-9AC2-4642-23F5-7CD51BEBC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617" y="1397878"/>
            <a:ext cx="3178638" cy="405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527885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botica" id="{647D301C-52C8-4CB2-BB7A-ED930B029529}" vid="{7BBA8B0D-E075-4FF6-8C72-3370B3451D1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robotica</Template>
  <TotalTime>8674</TotalTime>
  <Words>399</Words>
  <Application>Microsoft Office PowerPoint</Application>
  <PresentationFormat>Panorámica</PresentationFormat>
  <Paragraphs>56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Aptos</vt:lpstr>
      <vt:lpstr>Arial</vt:lpstr>
      <vt:lpstr>Bungee Shade</vt:lpstr>
      <vt:lpstr>Roboto Slab</vt:lpstr>
      <vt:lpstr>Wingdings</vt:lpstr>
      <vt:lpstr>robotica</vt:lpstr>
      <vt:lpstr>Mecatrónica ME-4250</vt:lpstr>
      <vt:lpstr>Contenido  </vt:lpstr>
      <vt:lpstr>Presentación de PowerPoint</vt:lpstr>
      <vt:lpstr>Introducción</vt:lpstr>
      <vt:lpstr>Sensores</vt:lpstr>
      <vt:lpstr>Tipos de sensores </vt:lpstr>
      <vt:lpstr>Sensor de desplazamiento - interruptor</vt:lpstr>
      <vt:lpstr>Sensor de desplazamiento  inductivos lvdt</vt:lpstr>
      <vt:lpstr>Sensor de desplazamiento - Codificador óptico digital</vt:lpstr>
      <vt:lpstr>Sensor de distancia - ultrasonico</vt:lpstr>
      <vt:lpstr>Sensor de distancia - potenciómetro</vt:lpstr>
      <vt:lpstr>Sensor de movimiento – efecto doppler</vt:lpstr>
      <vt:lpstr>Sensor de aceleración de masa elástica</vt:lpstr>
      <vt:lpstr>Sensor de aceleración - piezoelectrico</vt:lpstr>
      <vt:lpstr>Sensor de aceleración capacitancia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Harold Valenzuela Coloma (harold.valenzuela)</dc:creator>
  <cp:lastModifiedBy>SalaSeminario520</cp:lastModifiedBy>
  <cp:revision>22</cp:revision>
  <dcterms:created xsi:type="dcterms:W3CDTF">2022-08-03T00:34:22Z</dcterms:created>
  <dcterms:modified xsi:type="dcterms:W3CDTF">2025-10-06T15:05:50Z</dcterms:modified>
</cp:coreProperties>
</file>