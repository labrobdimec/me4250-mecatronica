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2"/>
  </p:notesMasterIdLst>
  <p:sldIdLst>
    <p:sldId id="272" r:id="rId2"/>
    <p:sldId id="276" r:id="rId3"/>
    <p:sldId id="257" r:id="rId4"/>
    <p:sldId id="284" r:id="rId5"/>
    <p:sldId id="278" r:id="rId6"/>
    <p:sldId id="285" r:id="rId7"/>
    <p:sldId id="286" r:id="rId8"/>
    <p:sldId id="288" r:id="rId9"/>
    <p:sldId id="289" r:id="rId10"/>
    <p:sldId id="290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F47D38-4EE9-4114-891F-631DE508D3E8}" type="datetimeFigureOut">
              <a:rPr lang="es-ES" smtClean="0"/>
              <a:t>12/05/2025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3A6229-B1E3-44CA-AFF0-D7DFB94E81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4966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75365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911867" y="593367"/>
            <a:ext cx="1086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just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just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just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just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just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just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just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just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just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5073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32764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09819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36148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9453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5970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33134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84407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19032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53C5E-5B1B-4E1D-8601-D9FEB2C67DEB}" type="datetimeFigureOut">
              <a:rPr lang="es-CL" smtClean="0"/>
              <a:t>12-05-2025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372064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200"/>
              <a:buNone/>
              <a:defRPr sz="6933">
                <a:solidFill>
                  <a:srgbClr val="0B539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800"/>
              <a:buNone/>
              <a:defRPr sz="3733">
                <a:solidFill>
                  <a:srgbClr val="1C4587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08477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lab"/>
              <a:buChar char="●"/>
              <a:defRPr sz="180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L="914400" lvl="1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L="1371600" lvl="2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L="1828800" lvl="3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L="2286000" lvl="4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L="2743200" lvl="5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L="3200400" lvl="6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L="3657600" lvl="7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L="4114800" lvl="8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>
          <a:blip r:embed="rId14">
            <a:alphaModFix amt="63000"/>
          </a:blip>
          <a:stretch>
            <a:fillRect/>
          </a:stretch>
        </p:blipFill>
        <p:spPr>
          <a:xfrm>
            <a:off x="0" y="-62767"/>
            <a:ext cx="2015307" cy="7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>
          <a:blip r:embed="rId15">
            <a:alphaModFix amt="63000"/>
          </a:blip>
          <a:stretch>
            <a:fillRect/>
          </a:stretch>
        </p:blipFill>
        <p:spPr>
          <a:xfrm>
            <a:off x="11243117" y="-15"/>
            <a:ext cx="948900" cy="94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1pPr>
            <a:lvl2pPr lvl="1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2pPr>
            <a:lvl3pPr lvl="2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3pPr>
            <a:lvl4pPr lvl="3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4pPr>
            <a:lvl5pPr lvl="4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5pPr>
            <a:lvl6pPr lvl="5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6pPr>
            <a:lvl7pPr lvl="6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7pPr>
            <a:lvl8pPr lvl="7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8pPr>
            <a:lvl9pPr lvl="8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265613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>
            <a:spLocks noGrp="1"/>
          </p:cNvSpPr>
          <p:nvPr>
            <p:ph type="ctrTitle"/>
          </p:nvPr>
        </p:nvSpPr>
        <p:spPr>
          <a:xfrm>
            <a:off x="415604" y="992767"/>
            <a:ext cx="5571127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 algn="l">
              <a:buSzPct val="100000"/>
            </a:pPr>
            <a:r>
              <a:rPr lang="es" dirty="0"/>
              <a:t>Mecatrónica</a:t>
            </a:r>
            <a:endParaRPr dirty="0"/>
          </a:p>
          <a:p>
            <a:pPr algn="l">
              <a:buSzPct val="208000"/>
            </a:pPr>
            <a:r>
              <a:rPr lang="es" sz="3333" dirty="0"/>
              <a:t>ME-4250</a:t>
            </a:r>
            <a:endParaRPr sz="3333" dirty="0"/>
          </a:p>
        </p:txBody>
      </p:sp>
      <p:sp>
        <p:nvSpPr>
          <p:cNvPr id="58" name="Google Shape;58;p1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fld id="{00000000-1234-1234-1234-123412341234}" type="slidenum">
              <a:rPr lang="es"/>
              <a:pPr/>
              <a:t>1</a:t>
            </a:fld>
            <a:endParaRPr/>
          </a:p>
        </p:txBody>
      </p:sp>
      <p:sp>
        <p:nvSpPr>
          <p:cNvPr id="59" name="Google Shape;59;p1"/>
          <p:cNvSpPr txBox="1"/>
          <p:nvPr/>
        </p:nvSpPr>
        <p:spPr>
          <a:xfrm>
            <a:off x="1152400" y="5887500"/>
            <a:ext cx="3288400" cy="9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r>
              <a:rPr lang="es" sz="1867">
                <a:latin typeface="Roboto Slab"/>
                <a:ea typeface="Roboto Slab"/>
                <a:cs typeface="Roboto Slab"/>
                <a:sym typeface="Roboto Slab"/>
              </a:rPr>
              <a:t>Harold Valenzuela Coloma</a:t>
            </a:r>
            <a:endParaRPr sz="1867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6E3412E-AD6B-8A27-3426-57A6631C5F4D}"/>
              </a:ext>
            </a:extLst>
          </p:cNvPr>
          <p:cNvSpPr txBox="1"/>
          <p:nvPr/>
        </p:nvSpPr>
        <p:spPr>
          <a:xfrm>
            <a:off x="415605" y="4393035"/>
            <a:ext cx="45574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800"/>
              <a:buFont typeface="Roboto Slab"/>
              <a:buNone/>
              <a:tabLst/>
              <a:defRPr/>
            </a:pPr>
            <a:r>
              <a:rPr kumimoji="0" lang="es-CL" sz="2400" b="0" i="0" u="none" strike="noStrike" kern="0" cap="none" spc="0" normalizeH="0" baseline="0" noProof="0" dirty="0">
                <a:ln>
                  <a:noFill/>
                </a:ln>
                <a:solidFill>
                  <a:srgbClr val="0B5394"/>
                </a:solidFill>
                <a:effectLst/>
                <a:uLnTx/>
                <a:uFillTx/>
                <a:latin typeface="Roboto Slab"/>
                <a:ea typeface="Roboto Slab"/>
                <a:cs typeface="Roboto Slab"/>
                <a:sym typeface="Roboto Slab"/>
              </a:rPr>
              <a:t>Sensores</a:t>
            </a:r>
          </a:p>
        </p:txBody>
      </p:sp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33DC4825-5F4F-D2FC-4D44-A939DB6A0D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264" y="992767"/>
            <a:ext cx="4877481" cy="48774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A448ED-3EFF-D86F-AD40-2EAE20262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015" y="1093787"/>
            <a:ext cx="3059969" cy="4697413"/>
          </a:xfrm>
        </p:spPr>
        <p:txBody>
          <a:bodyPr>
            <a:normAutofit/>
          </a:bodyPr>
          <a:lstStyle/>
          <a:p>
            <a:r>
              <a:rPr lang="es-CL"/>
              <a:t>Contenido 	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AE0101-D7BD-0696-4371-F0702AF07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5467" y="1093788"/>
            <a:ext cx="5831944" cy="4697413"/>
          </a:xfrm>
        </p:spPr>
        <p:txBody>
          <a:bodyPr>
            <a:normAutofit/>
          </a:bodyPr>
          <a:lstStyle/>
          <a:p>
            <a:r>
              <a:rPr lang="es-CL" dirty="0"/>
              <a:t>Introducción </a:t>
            </a:r>
          </a:p>
          <a:p>
            <a:r>
              <a:rPr lang="es-CL" dirty="0"/>
              <a:t>Tipos de Sensores</a:t>
            </a:r>
          </a:p>
          <a:p>
            <a:r>
              <a:rPr lang="es-CL" dirty="0"/>
              <a:t>Sensores de proximidad </a:t>
            </a:r>
          </a:p>
          <a:p>
            <a:r>
              <a:rPr lang="es-CL" dirty="0"/>
              <a:t>Sensores de movimiento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960570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AEDC3-9249-D8D6-567B-14912446C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2519" y="618518"/>
            <a:ext cx="3084891" cy="935645"/>
          </a:xfrm>
        </p:spPr>
        <p:txBody>
          <a:bodyPr>
            <a:normAutofit/>
          </a:bodyPr>
          <a:lstStyle/>
          <a:p>
            <a:r>
              <a:rPr lang="es-CL" sz="3200" dirty="0"/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7D9EED-C7FB-7BD6-D053-17EC864A7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2265" y="1801814"/>
            <a:ext cx="4545397" cy="46386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1800" dirty="0"/>
              <a:t>Medición de fuerza, presión, temperatura, sonido, flujo, movimiento, etc.</a:t>
            </a:r>
          </a:p>
          <a:p>
            <a:pPr marL="0" indent="0">
              <a:buNone/>
            </a:pPr>
            <a:r>
              <a:rPr lang="es-CL" sz="1800" dirty="0"/>
              <a:t>Campo de visión y alcance; Precisión; Repetibilidad; Capacidad de respuesta; consumo de energía; confiabilidad del hardware; tamaño; fiabilidad de la interpretación</a:t>
            </a:r>
          </a:p>
          <a:p>
            <a:pPr marL="0" indent="0">
              <a:buNone/>
            </a:pPr>
            <a:r>
              <a:rPr lang="es-CL" sz="1800" dirty="0"/>
              <a:t>Sensores </a:t>
            </a:r>
            <a:r>
              <a:rPr lang="es-CL" sz="1800" dirty="0">
                <a:sym typeface="Wingdings" panose="05000000000000000000" pitchFamily="2" charset="2"/>
              </a:rPr>
              <a:t> Transductores </a:t>
            </a:r>
          </a:p>
          <a:p>
            <a:pPr marL="0" indent="0">
              <a:buNone/>
            </a:pPr>
            <a:r>
              <a:rPr lang="es-CL" sz="1800" dirty="0">
                <a:sym typeface="Wingdings" panose="05000000000000000000" pitchFamily="2" charset="2"/>
              </a:rPr>
              <a:t>Convierte una cantidad física en una cantidad eléctrica.</a:t>
            </a:r>
            <a:endParaRPr lang="es-CL" sz="18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997818E-21EA-1FBD-E5DB-62C20F5CB4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2" t="1" r="648" b="62"/>
          <a:stretch/>
        </p:blipFill>
        <p:spPr>
          <a:xfrm>
            <a:off x="-5597" y="10"/>
            <a:ext cx="682352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627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06CBAF-6540-5516-A851-BCA00C431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697" y="618518"/>
            <a:ext cx="6050713" cy="1478570"/>
          </a:xfrm>
        </p:spPr>
        <p:txBody>
          <a:bodyPr>
            <a:normAutofit/>
          </a:bodyPr>
          <a:lstStyle/>
          <a:p>
            <a:r>
              <a:rPr lang="es-CL" dirty="0"/>
              <a:t>Tipos de sensores 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E572B103-AD5F-922A-C2FA-4B731AF73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958" y="2249487"/>
            <a:ext cx="6078453" cy="354171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s-CL" sz="2200" dirty="0"/>
              <a:t>Lineal y rotatorio </a:t>
            </a:r>
          </a:p>
          <a:p>
            <a:pPr>
              <a:lnSpc>
                <a:spcPct val="110000"/>
              </a:lnSpc>
            </a:pPr>
            <a:r>
              <a:rPr lang="es-CL" sz="2200" dirty="0"/>
              <a:t>Distancia y de proximidad</a:t>
            </a:r>
          </a:p>
          <a:p>
            <a:pPr>
              <a:lnSpc>
                <a:spcPct val="110000"/>
              </a:lnSpc>
            </a:pPr>
            <a:r>
              <a:rPr lang="es-CL" sz="2200" dirty="0"/>
              <a:t>Aceleración</a:t>
            </a:r>
          </a:p>
          <a:p>
            <a:pPr>
              <a:lnSpc>
                <a:spcPct val="110000"/>
              </a:lnSpc>
            </a:pPr>
            <a:r>
              <a:rPr lang="es-CL" sz="2200" dirty="0"/>
              <a:t>Fuerza y presión</a:t>
            </a:r>
          </a:p>
          <a:p>
            <a:pPr>
              <a:lnSpc>
                <a:spcPct val="110000"/>
              </a:lnSpc>
            </a:pPr>
            <a:r>
              <a:rPr lang="es-CL" sz="2200" dirty="0"/>
              <a:t>Flujo</a:t>
            </a:r>
          </a:p>
          <a:p>
            <a:pPr>
              <a:lnSpc>
                <a:spcPct val="110000"/>
              </a:lnSpc>
            </a:pPr>
            <a:r>
              <a:rPr lang="es-CL" sz="2200" dirty="0"/>
              <a:t>Temperatura</a:t>
            </a:r>
          </a:p>
          <a:p>
            <a:pPr>
              <a:lnSpc>
                <a:spcPct val="110000"/>
              </a:lnSpc>
            </a:pPr>
            <a:r>
              <a:rPr lang="es-CL" sz="2200" dirty="0"/>
              <a:t>Detección de luz 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3BD1EBA-781C-79EF-8C48-0E2DA5B65D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784" r="48194"/>
          <a:stretch/>
        </p:blipFill>
        <p:spPr>
          <a:xfrm>
            <a:off x="-5597" y="10"/>
            <a:ext cx="463558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24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F247D-5BBE-C80F-0235-774F18A3D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s-CL"/>
              <a:t>Sensor de proximidad inductivo </a:t>
            </a:r>
            <a:endParaRPr lang="es-CL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56A065D-1ADD-354A-CCF0-A373F6823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/>
          </a:bodyPr>
          <a:lstStyle/>
          <a:p>
            <a:r>
              <a:rPr lang="es-CL" dirty="0"/>
              <a:t>Detecta presencia de metales ferrosos y no ferrosos.</a:t>
            </a:r>
          </a:p>
          <a:p>
            <a:r>
              <a:rPr lang="es-CL" dirty="0"/>
              <a:t>Produce un campo </a:t>
            </a:r>
            <a:r>
              <a:rPr lang="es-CL" dirty="0" err="1"/>
              <a:t>magnetico</a:t>
            </a:r>
            <a:endParaRPr lang="es-CL" dirty="0"/>
          </a:p>
          <a:p>
            <a:r>
              <a:rPr lang="es-ES" dirty="0"/>
              <a:t>Cuando un objeto se acerca al campo magnético, fluye una corriente de inducción en el objeto.</a:t>
            </a:r>
          </a:p>
          <a:p>
            <a:r>
              <a:rPr lang="es-ES" dirty="0"/>
              <a:t>Si el objeto se acerca lo suficiente, aumentara el flujo de corriente de inducción, provocando que la carga en el circuito de oscilación crezca. </a:t>
            </a:r>
          </a:p>
          <a:p>
            <a:endParaRPr lang="es-ES" dirty="0"/>
          </a:p>
          <a:p>
            <a:endParaRPr lang="es-CL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EC60870-1789-C3DC-466F-71CA8160C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974" y="1023026"/>
            <a:ext cx="3178638" cy="2452921"/>
          </a:xfrm>
          <a:prstGeom prst="rect">
            <a:avLst/>
          </a:prstGeom>
        </p:spPr>
      </p:pic>
      <p:pic>
        <p:nvPicPr>
          <p:cNvPr id="5" name="Imagen 4" descr="Cable de color negro&#10;&#10;Descripción generada automáticamente con confianza baja">
            <a:extLst>
              <a:ext uri="{FF2B5EF4-FFF2-40B4-BE49-F238E27FC236}">
                <a16:creationId xmlns:a16="http://schemas.microsoft.com/office/drawing/2014/main" id="{9375BFDE-10E8-6146-0503-7CA7213E99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443" y="3619501"/>
            <a:ext cx="217170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123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A904B2-5BCF-16F3-880A-C31B2427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s-CL" dirty="0"/>
              <a:t>Sensor de proximidad Capacitivos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905A07E-B315-6A66-E8C5-83F598C3B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/>
          </a:bodyPr>
          <a:lstStyle/>
          <a:p>
            <a:r>
              <a:rPr lang="en-US" dirty="0" err="1"/>
              <a:t>Detecta</a:t>
            </a:r>
            <a:r>
              <a:rPr lang="en-US" dirty="0"/>
              <a:t> </a:t>
            </a:r>
            <a:r>
              <a:rPr lang="en-US" dirty="0" err="1"/>
              <a:t>objetos</a:t>
            </a:r>
            <a:r>
              <a:rPr lang="en-US" dirty="0"/>
              <a:t> </a:t>
            </a:r>
            <a:r>
              <a:rPr lang="en-US" dirty="0" err="1"/>
              <a:t>metalicos</a:t>
            </a:r>
            <a:r>
              <a:rPr lang="en-US" dirty="0"/>
              <a:t> y no </a:t>
            </a:r>
            <a:r>
              <a:rPr lang="en-US" dirty="0" err="1"/>
              <a:t>metalicos</a:t>
            </a:r>
            <a:endParaRPr lang="en-US" dirty="0"/>
          </a:p>
          <a:p>
            <a:r>
              <a:rPr lang="en-US" dirty="0"/>
              <a:t>Produce un campo </a:t>
            </a:r>
            <a:r>
              <a:rPr lang="en-US" dirty="0" err="1"/>
              <a:t>electroestatico</a:t>
            </a:r>
            <a:r>
              <a:rPr lang="en-US" dirty="0"/>
              <a:t> </a:t>
            </a:r>
          </a:p>
          <a:p>
            <a:r>
              <a:rPr lang="es-ES" dirty="0"/>
              <a:t>Cuando un objeto se acerca al campo </a:t>
            </a:r>
            <a:r>
              <a:rPr lang="es-ES" dirty="0" err="1"/>
              <a:t>electroestatico</a:t>
            </a:r>
            <a:r>
              <a:rPr lang="es-ES" dirty="0"/>
              <a:t>, cambia la capacitancia del circuito oscilador.</a:t>
            </a:r>
          </a:p>
          <a:p>
            <a:r>
              <a:rPr lang="es-ES" dirty="0"/>
              <a:t>Si se acerca lo suficiente, el circuito disparador detecta un aumento en la amplitud del circuito oscilador, cambiando el estado del sensor.</a:t>
            </a:r>
            <a:endParaRPr lang="es-CL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Marcador de contenido 4" descr="Mano de una persona&#10;&#10;Descripción generada automáticamente con confianza baja">
            <a:extLst>
              <a:ext uri="{FF2B5EF4-FFF2-40B4-BE49-F238E27FC236}">
                <a16:creationId xmlns:a16="http://schemas.microsoft.com/office/drawing/2014/main" id="{EFCC1160-36BA-198A-D0D3-9FADC3D160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617" y="1836950"/>
            <a:ext cx="3178638" cy="317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832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4853E-2A45-A906-A998-07C23E1E5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957" y="618518"/>
            <a:ext cx="4747088" cy="1478570"/>
          </a:xfrm>
        </p:spPr>
        <p:txBody>
          <a:bodyPr>
            <a:normAutofit fontScale="90000"/>
          </a:bodyPr>
          <a:lstStyle/>
          <a:p>
            <a:r>
              <a:rPr lang="es-CL" sz="3300"/>
              <a:t>Sensores de proximidad </a:t>
            </a:r>
            <a:r>
              <a:rPr lang="es-CL" sz="3300" err="1"/>
              <a:t>fotoelectricos</a:t>
            </a:r>
            <a:endParaRPr lang="es-CL" sz="330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9B598F2-F607-74B6-98DD-B3676CFC9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9957" y="2249487"/>
            <a:ext cx="4747087" cy="3541714"/>
          </a:xfrm>
        </p:spPr>
        <p:txBody>
          <a:bodyPr>
            <a:normAutofit/>
          </a:bodyPr>
          <a:lstStyle/>
          <a:p>
            <a:r>
              <a:rPr lang="en-US" dirty="0" err="1"/>
              <a:t>Conformado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un </a:t>
            </a:r>
            <a:r>
              <a:rPr lang="en-US" dirty="0" err="1"/>
              <a:t>diodo</a:t>
            </a:r>
            <a:r>
              <a:rPr lang="en-US" dirty="0"/>
              <a:t> </a:t>
            </a:r>
            <a:r>
              <a:rPr lang="en-US" dirty="0" err="1"/>
              <a:t>emisor</a:t>
            </a:r>
            <a:r>
              <a:rPr lang="en-US" dirty="0"/>
              <a:t> de luz </a:t>
            </a:r>
            <a:r>
              <a:rPr lang="en-US" dirty="0" err="1"/>
              <a:t>infrarroja</a:t>
            </a:r>
            <a:r>
              <a:rPr lang="en-US" dirty="0"/>
              <a:t> y un </a:t>
            </a:r>
            <a:r>
              <a:rPr lang="es-ES" dirty="0"/>
              <a:t>interruptor sensible a la luz</a:t>
            </a:r>
          </a:p>
          <a:p>
            <a:endParaRPr lang="es-ES" dirty="0"/>
          </a:p>
          <a:p>
            <a:r>
              <a:rPr lang="es-ES" dirty="0"/>
              <a:t>Reflector difuso, Retrorreflector, haz pasante, foco fijo. </a:t>
            </a:r>
            <a:endParaRPr lang="en-US" dirty="0"/>
          </a:p>
        </p:txBody>
      </p:sp>
      <p:pic>
        <p:nvPicPr>
          <p:cNvPr id="4" name="Marcador de contenido 3" descr="Un circuito electrónico&#10;&#10;Descripción generada automáticamente con confianza baja">
            <a:extLst>
              <a:ext uri="{FF2B5EF4-FFF2-40B4-BE49-F238E27FC236}">
                <a16:creationId xmlns:a16="http://schemas.microsoft.com/office/drawing/2014/main" id="{27B3ADD8-3160-5593-3389-BC9D858744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062" t="12403" r="5934" b="18837"/>
          <a:stretch/>
        </p:blipFill>
        <p:spPr>
          <a:xfrm>
            <a:off x="2365279" y="1255384"/>
            <a:ext cx="2130063" cy="1683407"/>
          </a:xfrm>
          <a:prstGeom prst="rect">
            <a:avLst/>
          </a:prstGeom>
        </p:spPr>
      </p:pic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0398EA70-ABDF-9C78-EA8E-DA47022C53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4283"/>
          <a:stretch/>
        </p:blipFill>
        <p:spPr>
          <a:xfrm>
            <a:off x="798950" y="3607470"/>
            <a:ext cx="5286376" cy="174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19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84E05B-6DA3-82B4-B65D-CD94A6F7A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s-CL" dirty="0" err="1"/>
              <a:t>Strain</a:t>
            </a:r>
            <a:r>
              <a:rPr lang="es-CL" dirty="0"/>
              <a:t> gauge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BB1D29A-5C84-B6B6-0CDA-B3A10441B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/>
          </a:bodyPr>
          <a:lstStyle/>
          <a:p>
            <a:r>
              <a:rPr lang="es-CL" dirty="0"/>
              <a:t>Variación de la resistencia del conductor al ser sometido a deformación.</a:t>
            </a:r>
          </a:p>
          <a:p>
            <a:r>
              <a:rPr lang="es-CL" dirty="0"/>
              <a:t>Pequeños, ligeros, buena sensibilidad, estabilidad, repetibilidad, bajo costo.</a:t>
            </a:r>
          </a:p>
          <a:p>
            <a:r>
              <a:rPr lang="es-ES" dirty="0"/>
              <a:t>La relación entre la variación de la deformación y la resistencia es casi lineal</a:t>
            </a:r>
            <a:endParaRPr lang="es-CL" dirty="0"/>
          </a:p>
        </p:txBody>
      </p:sp>
      <p:pic>
        <p:nvPicPr>
          <p:cNvPr id="5" name="Marcador de contenido 4" descr="Imagen que contiene tabla&#10;&#10;Descripción generada automáticamente">
            <a:extLst>
              <a:ext uri="{FF2B5EF4-FFF2-40B4-BE49-F238E27FC236}">
                <a16:creationId xmlns:a16="http://schemas.microsoft.com/office/drawing/2014/main" id="{56EE1601-1DE2-9646-F3AC-B6DC68C53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083" y="1137622"/>
            <a:ext cx="3163705" cy="2206352"/>
          </a:xfrm>
          <a:prstGeom prst="rect">
            <a:avLst/>
          </a:prstGeom>
        </p:spPr>
      </p:pic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3CA7570B-B2A4-D256-678B-C98B86691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16" y="3802546"/>
            <a:ext cx="3178638" cy="161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118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2B2898-0D64-9D13-E7B1-35521E030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s-CL" dirty="0"/>
              <a:t>Sensor de temperatura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AC4CF700-DF26-F735-6D5C-3C999996C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/>
          </a:bodyPr>
          <a:lstStyle/>
          <a:p>
            <a:r>
              <a:rPr lang="es-CL" dirty="0"/>
              <a:t>Conformados por un termistor, el cual varia su resistencia al cambiar la temperatura del medio.</a:t>
            </a:r>
          </a:p>
        </p:txBody>
      </p:sp>
      <p:pic>
        <p:nvPicPr>
          <p:cNvPr id="7" name="Marcador de contenido 6" descr="Imagen que contiene electrónica, circuito&#10;&#10;Descripción generada automáticamente">
            <a:extLst>
              <a:ext uri="{FF2B5EF4-FFF2-40B4-BE49-F238E27FC236}">
                <a16:creationId xmlns:a16="http://schemas.microsoft.com/office/drawing/2014/main" id="{DA20DE06-785E-F8A8-39D4-7FABC85B1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760" y="1137622"/>
            <a:ext cx="2206352" cy="2206352"/>
          </a:xfrm>
          <a:prstGeom prst="rect">
            <a:avLst/>
          </a:prstGeom>
        </p:spPr>
      </p:pic>
      <p:pic>
        <p:nvPicPr>
          <p:cNvPr id="9" name="Marcador de contenido 8" descr="Imagen que contiene electrónica, circuito&#10;&#10;Descripción generada automáticamente">
            <a:extLst>
              <a:ext uri="{FF2B5EF4-FFF2-40B4-BE49-F238E27FC236}">
                <a16:creationId xmlns:a16="http://schemas.microsoft.com/office/drawing/2014/main" id="{823EECAE-04C5-5A34-B15F-8F0792D344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758" y="3508565"/>
            <a:ext cx="2206353" cy="220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201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25DA81-0011-6073-0753-7C63B8841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957" y="618518"/>
            <a:ext cx="4747088" cy="1478570"/>
          </a:xfrm>
        </p:spPr>
        <p:txBody>
          <a:bodyPr>
            <a:normAutofit/>
          </a:bodyPr>
          <a:lstStyle/>
          <a:p>
            <a:r>
              <a:rPr lang="es-CL" sz="3300"/>
              <a:t>Sensor de temperatura Termocupla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DD232C5B-79AC-3B2B-70D9-6A301888C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9957" y="2249487"/>
            <a:ext cx="4747087" cy="3541714"/>
          </a:xfrm>
        </p:spPr>
        <p:txBody>
          <a:bodyPr>
            <a:normAutofit/>
          </a:bodyPr>
          <a:lstStyle/>
          <a:p>
            <a:r>
              <a:rPr lang="es-ES" dirty="0"/>
              <a:t>Una termocupla determina la temperatura midiendo la pequeña fuerza electromotriz; </a:t>
            </a:r>
          </a:p>
          <a:p>
            <a:r>
              <a:rPr lang="es-ES" dirty="0"/>
              <a:t>Efecto Seebeck. </a:t>
            </a:r>
          </a:p>
          <a:p>
            <a:r>
              <a:rPr lang="es-CL" dirty="0"/>
              <a:t>Tipo K </a:t>
            </a:r>
            <a:r>
              <a:rPr lang="es-ES" dirty="0" err="1"/>
              <a:t>Chromel</a:t>
            </a:r>
            <a:r>
              <a:rPr lang="es-ES" dirty="0"/>
              <a:t> - </a:t>
            </a:r>
            <a:r>
              <a:rPr lang="es-ES" dirty="0" err="1"/>
              <a:t>Alumel</a:t>
            </a:r>
            <a:endParaRPr lang="en-US" dirty="0"/>
          </a:p>
        </p:txBody>
      </p:sp>
      <p:pic>
        <p:nvPicPr>
          <p:cNvPr id="5" name="Marcador de contenido 4" descr="Imagen que contiene bicicleta, tabla&#10;&#10;Descripción generada automáticamente">
            <a:extLst>
              <a:ext uri="{FF2B5EF4-FFF2-40B4-BE49-F238E27FC236}">
                <a16:creationId xmlns:a16="http://schemas.microsoft.com/office/drawing/2014/main" id="{C7D15DDC-59DE-D45F-B217-AB0FF75C66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988" y="1617360"/>
            <a:ext cx="4635583" cy="3627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648814"/>
      </p:ext>
    </p:extLst>
  </p:cSld>
  <p:clrMapOvr>
    <a:masterClrMapping/>
  </p:clrMapOvr>
</p:sld>
</file>

<file path=ppt/theme/theme1.xml><?xml version="1.0" encoding="utf-8"?>
<a:theme xmlns:a="http://schemas.openxmlformats.org/drawingml/2006/main" name="robotica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botica" id="{647D301C-52C8-4CB2-BB7A-ED930B029529}" vid="{7BBA8B0D-E075-4FF6-8C72-3370B3451D1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robotica</Template>
  <TotalTime>9195</TotalTime>
  <Words>327</Words>
  <Application>Microsoft Office PowerPoint</Application>
  <PresentationFormat>Panorámica</PresentationFormat>
  <Paragraphs>47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Aptos</vt:lpstr>
      <vt:lpstr>Arial</vt:lpstr>
      <vt:lpstr>Bungee Shade</vt:lpstr>
      <vt:lpstr>Roboto Slab</vt:lpstr>
      <vt:lpstr>Wingdings</vt:lpstr>
      <vt:lpstr>robotica</vt:lpstr>
      <vt:lpstr>Mecatrónica ME-4250</vt:lpstr>
      <vt:lpstr>Contenido  </vt:lpstr>
      <vt:lpstr>Introducción</vt:lpstr>
      <vt:lpstr>Tipos de sensores </vt:lpstr>
      <vt:lpstr>Sensor de proximidad inductivo </vt:lpstr>
      <vt:lpstr>Sensor de proximidad Capacitivos</vt:lpstr>
      <vt:lpstr>Sensores de proximidad fotoelectricos</vt:lpstr>
      <vt:lpstr>Strain gauge</vt:lpstr>
      <vt:lpstr>Sensor de temperatura</vt:lpstr>
      <vt:lpstr>Sensor de temperatura Termocupla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Harold Valenzuela Coloma (harold.valenzuela)</dc:creator>
  <cp:lastModifiedBy>Harold Valenzuela Coloma (harold.valenzuela)</cp:lastModifiedBy>
  <cp:revision>23</cp:revision>
  <dcterms:created xsi:type="dcterms:W3CDTF">2022-08-03T00:34:22Z</dcterms:created>
  <dcterms:modified xsi:type="dcterms:W3CDTF">2025-05-12T06:17:17Z</dcterms:modified>
</cp:coreProperties>
</file>